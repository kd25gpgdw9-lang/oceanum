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e2044f3-c9e7-399f-2a7d-ed7c542fd788}">
          <p14:sldIdLst>
            <p14:sldId id="256"/>
            <p14:sldId id="257"/>
            <p14:sldId id="258"/>
            <p14:sldId id="259"/>
          </p14:sldIdLst>
        </p14:section>
        <p14:section name="a) Três características" id="{323d699f-218d-6a3e-3d59-227966f8b706}">
          <p14:sldIdLst>
            <p14:sldId id="260"/>
          </p14:sldIdLst>
        </p14:section>
        <p14:section name="b) Sistema aberto" id="{2be7e253-4d0c-a66c-394d-7fef231464fc}">
          <p14:sldIdLst>
            <p14:sldId id="261"/>
          </p14:sldIdLst>
        </p14:section>
        <p14:section name="c) Forças do ambiente externo" id="{1ea13dce-0591-aea4-f9a5-d8e861cce0bf}">
          <p14:sldIdLst>
            <p14:sldId id="262"/>
            <p14:sldId id="263"/>
          </p14:sldIdLst>
        </p14:section>
        <p14:section name="d) Complexidade do ambiente" id="{abc1756c-a283-c1d1-23a7-d99c937d408a}">
          <p14:sldIdLst>
            <p14:sldId id="264"/>
          </p14:sldIdLst>
        </p14:section>
        <p14:section name="e) Cultura organizacional" id="{6ae6b844-7f1b-33b0-9dd1-0e90176e9c2d}">
          <p14:sldIdLst>
            <p14:sldId id="265"/>
            <p14:sldId id="266"/>
          </p14:sldIdLst>
        </p14:section>
        <p14:section name="f) Os gestores" id="{c7dc5de0-cfcf-fc0b-5270-a0aa34fae65f}">
          <p14:sldIdLst>
            <p14:sldId id="267"/>
            <p14:sldId id="268"/>
          </p14:sldIdLst>
        </p14:section>
        <p14:section name="g) Diversidade, globalização e tecnologia" id="{5dd0c0ea-2a39-cff7-d96a-94ce637c6ca9}">
          <p14:sldIdLst>
            <p14:sldId id="269"/>
          </p14:sldIdLst>
        </p14:section>
        <p14:section name="Fecho" id="{03f07859-0dcd-8f60-6981-852c7742d32f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membro1"/>
          <p:cNvSpPr/>
          <p:nvPr/>
        </p:nvSpPr>
        <p:spPr>
          <a:xfrm>
            <a:off x="9906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8" name="A1|rise|membro1"/>
          <p:cNvSpPr txBox="1"/>
          <p:nvPr/>
        </p:nvSpPr>
        <p:spPr>
          <a:xfrm>
            <a:off x="9906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9" name="A1|rise|membro1"/>
          <p:cNvSpPr txBox="1"/>
          <p:nvPr/>
        </p:nvSpPr>
        <p:spPr>
          <a:xfrm>
            <a:off x="9906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14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9906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137142</a:t>
            </a:r>
            <a:endParaRPr lang="en-US" sz="1100" dirty="0"/>
          </a:p>
        </p:txBody>
      </p:sp>
      <p:sp>
        <p:nvSpPr>
          <p:cNvPr id="11" name="A2|rise|membro2"/>
          <p:cNvSpPr/>
          <p:nvPr/>
        </p:nvSpPr>
        <p:spPr>
          <a:xfrm>
            <a:off x="29591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membro2"/>
          <p:cNvSpPr/>
          <p:nvPr/>
        </p:nvSpPr>
        <p:spPr>
          <a:xfrm>
            <a:off x="31369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3" name="A2|rise|membro2"/>
          <p:cNvSpPr txBox="1"/>
          <p:nvPr/>
        </p:nvSpPr>
        <p:spPr>
          <a:xfrm>
            <a:off x="31369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4" name="A2|rise|membro2"/>
          <p:cNvSpPr txBox="1"/>
          <p:nvPr/>
        </p:nvSpPr>
        <p:spPr>
          <a:xfrm>
            <a:off x="31369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14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31369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16" name="A3|rise|membro3"/>
          <p:cNvSpPr/>
          <p:nvPr/>
        </p:nvSpPr>
        <p:spPr>
          <a:xfrm>
            <a:off x="51054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membro3"/>
          <p:cNvSpPr/>
          <p:nvPr/>
        </p:nvSpPr>
        <p:spPr>
          <a:xfrm>
            <a:off x="52832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18" name="A3|rise|membro3"/>
          <p:cNvSpPr txBox="1"/>
          <p:nvPr/>
        </p:nvSpPr>
        <p:spPr>
          <a:xfrm>
            <a:off x="52832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9" name="A3|rise|membro3"/>
          <p:cNvSpPr txBox="1"/>
          <p:nvPr/>
        </p:nvSpPr>
        <p:spPr>
          <a:xfrm>
            <a:off x="52832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0" name="A3|rise|membro3"/>
          <p:cNvSpPr txBox="1"/>
          <p:nvPr/>
        </p:nvSpPr>
        <p:spPr>
          <a:xfrm>
            <a:off x="52832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1" name="A4|rise|membro4"/>
          <p:cNvSpPr/>
          <p:nvPr/>
        </p:nvSpPr>
        <p:spPr>
          <a:xfrm>
            <a:off x="72517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membro4"/>
          <p:cNvSpPr/>
          <p:nvPr/>
        </p:nvSpPr>
        <p:spPr>
          <a:xfrm>
            <a:off x="74295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3" name="A4|rise|membro4"/>
          <p:cNvSpPr txBox="1"/>
          <p:nvPr/>
        </p:nvSpPr>
        <p:spPr>
          <a:xfrm>
            <a:off x="74295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4" name="A4|rise|membro4"/>
          <p:cNvSpPr txBox="1"/>
          <p:nvPr/>
        </p:nvSpPr>
        <p:spPr>
          <a:xfrm>
            <a:off x="74295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25" name="A4|rise|membro4"/>
          <p:cNvSpPr txBox="1"/>
          <p:nvPr/>
        </p:nvSpPr>
        <p:spPr>
          <a:xfrm>
            <a:off x="74295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26" name="A5|rise|membro5"/>
          <p:cNvSpPr/>
          <p:nvPr/>
        </p:nvSpPr>
        <p:spPr>
          <a:xfrm>
            <a:off x="9398000" y="1498600"/>
            <a:ext cx="1981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membro5"/>
          <p:cNvSpPr/>
          <p:nvPr/>
        </p:nvSpPr>
        <p:spPr>
          <a:xfrm>
            <a:off x="9575800" y="1676400"/>
            <a:ext cx="762000" cy="762000"/>
          </a:xfrm>
          <a:prstGeom prst="ellipse">
            <a:avLst/>
          </a:prstGeom>
          <a:solidFill>
            <a:srgbClr val="2A4C93"/>
          </a:solidFill>
          <a:ln w="15875">
            <a:solidFill>
              <a:srgbClr val="F5822A"/>
            </a:solidFill>
            <a:prstDash val="solid"/>
          </a:ln>
        </p:spPr>
      </p:sp>
      <p:sp>
        <p:nvSpPr>
          <p:cNvPr id="28" name="A5|rise|membro5"/>
          <p:cNvSpPr txBox="1"/>
          <p:nvPr/>
        </p:nvSpPr>
        <p:spPr>
          <a:xfrm>
            <a:off x="9575800" y="1676400"/>
            <a:ext cx="76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29" name="A5|rise|membro5"/>
          <p:cNvSpPr txBox="1"/>
          <p:nvPr/>
        </p:nvSpPr>
        <p:spPr>
          <a:xfrm>
            <a:off x="9575800" y="2590800"/>
            <a:ext cx="1625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completo]</a:t>
            </a:r>
            <a:endParaRPr lang="en-US" sz="1400" dirty="0"/>
          </a:p>
        </p:txBody>
      </p:sp>
      <p:sp>
        <p:nvSpPr>
          <p:cNvPr id="30" name="A5|rise|membro5"/>
          <p:cNvSpPr txBox="1"/>
          <p:nvPr/>
        </p:nvSpPr>
        <p:spPr>
          <a:xfrm>
            <a:off x="9575800" y="2959100"/>
            <a:ext cx="162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[______]</a:t>
            </a:r>
            <a:endParaRPr lang="en-US" sz="1100" dirty="0"/>
          </a:p>
        </p:txBody>
      </p:sp>
      <p:sp>
        <p:nvSpPr>
          <p:cNvPr id="31" name="A6|rise|escolha"/>
          <p:cNvSpPr/>
          <p:nvPr/>
        </p:nvSpPr>
        <p:spPr>
          <a:xfrm>
            <a:off x="812800" y="3632200"/>
            <a:ext cx="10566400" cy="1079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escolha"/>
          <p:cNvSpPr txBox="1"/>
          <p:nvPr/>
        </p:nvSpPr>
        <p:spPr>
          <a:xfrm>
            <a:off x="990600" y="3784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33" name="A6|rise|escolha"/>
          <p:cNvSpPr txBox="1"/>
          <p:nvPr/>
        </p:nvSpPr>
        <p:spPr>
          <a:xfrm>
            <a:off x="990600" y="40640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400" dirty="0"/>
          </a:p>
        </p:txBody>
      </p:sp>
      <p:sp>
        <p:nvSpPr>
          <p:cNvPr id="34" name="A7|rise|divisao"/>
          <p:cNvSpPr/>
          <p:nvPr/>
        </p:nvSpPr>
        <p:spPr>
          <a:xfrm>
            <a:off x="812800" y="4864100"/>
            <a:ext cx="10566400" cy="88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5" name="A7|rise|divisao"/>
          <p:cNvSpPr txBox="1"/>
          <p:nvPr/>
        </p:nvSpPr>
        <p:spPr>
          <a:xfrm>
            <a:off x="990600" y="50038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APRESENTA O QUÊ</a:t>
            </a:r>
            <a:endParaRPr lang="en-US" sz="1100" dirty="0"/>
          </a:p>
        </p:txBody>
      </p:sp>
      <p:sp>
        <p:nvSpPr>
          <p:cNvPr id="36" name="A7|rise|divisao"/>
          <p:cNvSpPr txBox="1"/>
          <p:nvPr/>
        </p:nvSpPr>
        <p:spPr>
          <a:xfrm>
            <a:off x="990600" y="5270500"/>
            <a:ext cx="1016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[0–a: ______ · b–c: ______ · d–e: ______ · f: ______ · g e conclusões: ______]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Cardoso, gerente operacional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Objetivos, pessoas, estrutura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processo, outputs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3114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9083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e de tarefa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986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Mudança × complexidade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 e como se aprende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Níveis, funções, papéis, competências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7973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4958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92700"/>
            <a:ext cx="21717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globalização, tecnologia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683000"/>
            <a:ext cx="2527300" cy="2006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03/10/2026 · 1 hora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[Modelo de linguagem de grande escala]. https://claude.ai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presencial realizada pelo Grupo 8, 3 de outubro [comunicação pessoal].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(Anthropic)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dos slides, correção ortográfica e revisão do contexto do guião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2026-10-05T13:29:26Z</dcterms:created>
  <dcterms:modified xsi:type="dcterms:W3CDTF">2026-10-05T13:29:26Z</dcterms:modified>
</cp:coreProperties>
</file>