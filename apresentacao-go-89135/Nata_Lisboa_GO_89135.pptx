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a9ff6cf-8816-500d-da9d-583bd3b6385b}">
          <p14:sldIdLst>
            <p14:sldId id="256"/>
            <p14:sldId id="257"/>
            <p14:sldId id="258"/>
            <p14:sldId id="259"/>
          </p14:sldIdLst>
        </p14:section>
        <p14:section name="a) Três características" id="{a5078467-f4c4-f4ec-ce69-345838e9d180}">
          <p14:sldIdLst>
            <p14:sldId id="260"/>
          </p14:sldIdLst>
        </p14:section>
        <p14:section name="b) Sistema aberto" id="{3ebab959-5a19-06c9-1f00-28b7e0762423}">
          <p14:sldIdLst>
            <p14:sldId id="261"/>
          </p14:sldIdLst>
        </p14:section>
        <p14:section name="c) Forças do ambiente externo" id="{b67d3494-103a-1a25-8628-120bc8db4a13}">
          <p14:sldIdLst>
            <p14:sldId id="262"/>
            <p14:sldId id="263"/>
          </p14:sldIdLst>
        </p14:section>
        <p14:section name="d) Complexidade do ambiente" id="{6b479d62-95e8-517f-189a-80e876ba443b}">
          <p14:sldIdLst>
            <p14:sldId id="264"/>
          </p14:sldIdLst>
        </p14:section>
        <p14:section name="e) Cultura organizacional" id="{e9ad8e87-29ba-3f62-f626-002fe597db10}">
          <p14:sldIdLst>
            <p14:sldId id="265"/>
            <p14:sldId id="266"/>
          </p14:sldIdLst>
        </p14:section>
        <p14:section name="f) Os gestores" id="{1c8c64e0-aadf-d371-c500-c7577fe40883}">
          <p14:sldIdLst>
            <p14:sldId id="267"/>
            <p14:sldId id="268"/>
          </p14:sldIdLst>
        </p14:section>
        <p14:section name="g) Diversidade, globalização e tecnologia" id="{df5b9314-8ee6-ab1b-d98a-67dc2d86b00c}">
          <p14:sldIdLst>
            <p14:sldId id="269"/>
          </p14:sldIdLst>
        </p14:section>
        <p14:section name="Fecho" id="{bf595503-7759-3c14-3dc1-f7bbc9ebe9bf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(≈15 s)
A apresentação segue as alíneas a) a g) do enunciado. Em cada tema: primeiro a teoria em geral, depois como se verifica na Nata Lisboa e, por fim, um exemplo ou citação da entrevista (caixas creme, que aparecem ao 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a) 3 CARACTERÍSTICAS COMUNS (≈1 min)
EM GERAL: qualquer organização é uma entidade com (1) um objetivo distinto, (2) pessoas e (3) uma estrutura deliberada (Robbins &amp; Coulter, Tópico 1).
NA NATA LISBOA: preencher cada caixa tracejada.
Clique: citação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b) SISTEMA ABERTO (≈1 min)
EM GERAL: a abordagem sistémica (Teoria Geral dos Sistemas; Katz &amp; Kahn) vê a organização como um sistema aberto que depende do ambiente: inputs → processo de transformação → outputs, com feedback que permite corrigir.
NA NATA LISBOA: substituir os exemplos [Ex.: …] pelos dados confirmados na entrevista.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AMBIENTE EXTERNO — EM GERAL (≈45 s)
O ambiente externo são as forças e instituições fora da organização que a podem afetar.
• Ambiente de tarefa (específico): impacto direto e imediato — clientes, fornecedores, concorrentes e grupos de pressão.
• Ambiente geral (contextual): impacto indireto — condições económicas, político-legais, socioculturais, demográficas, tecnológicas e globais.
Confirmar a lista de forças com o PDF do Tópico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FORÇAS NA NATA LISBOA (≈1 min)
Para cada força, indicar o que a afeta em concreto. Os textos [Ex.: …] são sugestões a confirmar com a entrevista — substituir ou apagar.
Destacar as 2 ou 3 forças com mais impacto.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d) 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COMO SE APRENDE A CULTURA (≈45 s)
EM GERAL: os colaboradores aprendem a cultura através de histórias, rituais, símbolos materiais e linguagem (Robbins &amp; Coulter). A integração (socialização) dos novos colaboradores é o momento em que isto é mais visível.
Cultura forte: os valores centrais são intensamente partilhados; tem mais influência no comportamento.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NÍVEIS DE GESTÃO (≈45 s)
EM GERAL: numa estrutura tradicional (piramidal) há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na entrevista se gere outros gestores ou diretamente a equipa).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FUNÇÕES, PAPÉIS E COMPETÊNCIAS (≈1 min 15 s)
EM GERAL:
• Funções (Fayol): planear, organizar, liderar e controlar.
• Papéis (Mintzberg): interpessoais, informacionais e decisionais — 10 papéis no total.
• Competências (Katz): técnicas (mais importantes na primeira linha), humanas (importantes em todos os níveis) e conceptuais (mais importantes no topo).
NA NATA LISBOA: ligar cada coluna a exemplos concretos do trabalho da Mônica Cardoso.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g) DIVERSIDADE, GLOBALIZAÇÃO E TECNOLOGIA (≈1 min)
EM GERAL:
• Diversidade: diferenças superficiais e profundas entre pessoas; gerir bem traz criatividade e melhor resposta a clientes diferentes.
• Globalização: atitudes etnocêntrica (o nosso modo é o melhor), policêntrica (os locais sabem melhor) e geocêntrica (o melhor de cada lado).
• Tecnologia: novas ferramentas mudam o trabalho e exigem novas competências.
NA NATA LISBOA: práticas concretas e desafios referidos pela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4.xml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[Curso · __]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[__]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[Nome]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membro1"/>
          <p:cNvSpPr/>
          <p:nvPr/>
        </p:nvSpPr>
        <p:spPr>
          <a:xfrm>
            <a:off x="9906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8" name="A1|rise|membro1"/>
          <p:cNvSpPr txBox="1"/>
          <p:nvPr/>
        </p:nvSpPr>
        <p:spPr>
          <a:xfrm>
            <a:off x="9906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9" name="A1|rise|membro1"/>
          <p:cNvSpPr txBox="1"/>
          <p:nvPr/>
        </p:nvSpPr>
        <p:spPr>
          <a:xfrm>
            <a:off x="9906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9906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11" name="A2|rise|membro2"/>
          <p:cNvSpPr/>
          <p:nvPr/>
        </p:nvSpPr>
        <p:spPr>
          <a:xfrm>
            <a:off x="29591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membro2"/>
          <p:cNvSpPr/>
          <p:nvPr/>
        </p:nvSpPr>
        <p:spPr>
          <a:xfrm>
            <a:off x="31369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3" name="A2|rise|membro2"/>
          <p:cNvSpPr txBox="1"/>
          <p:nvPr/>
        </p:nvSpPr>
        <p:spPr>
          <a:xfrm>
            <a:off x="31369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4" name="A2|rise|membro2"/>
          <p:cNvSpPr txBox="1"/>
          <p:nvPr/>
        </p:nvSpPr>
        <p:spPr>
          <a:xfrm>
            <a:off x="31369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31369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16" name="A3|rise|membro3"/>
          <p:cNvSpPr/>
          <p:nvPr/>
        </p:nvSpPr>
        <p:spPr>
          <a:xfrm>
            <a:off x="51054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membro3"/>
          <p:cNvSpPr/>
          <p:nvPr/>
        </p:nvSpPr>
        <p:spPr>
          <a:xfrm>
            <a:off x="52832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8" name="A3|rise|membro3"/>
          <p:cNvSpPr txBox="1"/>
          <p:nvPr/>
        </p:nvSpPr>
        <p:spPr>
          <a:xfrm>
            <a:off x="52832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9" name="A3|rise|membro3"/>
          <p:cNvSpPr txBox="1"/>
          <p:nvPr/>
        </p:nvSpPr>
        <p:spPr>
          <a:xfrm>
            <a:off x="52832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0" name="A3|rise|membro3"/>
          <p:cNvSpPr txBox="1"/>
          <p:nvPr/>
        </p:nvSpPr>
        <p:spPr>
          <a:xfrm>
            <a:off x="52832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1" name="A4|rise|membro4"/>
          <p:cNvSpPr/>
          <p:nvPr/>
        </p:nvSpPr>
        <p:spPr>
          <a:xfrm>
            <a:off x="72517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membro4"/>
          <p:cNvSpPr/>
          <p:nvPr/>
        </p:nvSpPr>
        <p:spPr>
          <a:xfrm>
            <a:off x="74295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3" name="A4|rise|membro4"/>
          <p:cNvSpPr txBox="1"/>
          <p:nvPr/>
        </p:nvSpPr>
        <p:spPr>
          <a:xfrm>
            <a:off x="74295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4" name="A4|rise|membro4"/>
          <p:cNvSpPr txBox="1"/>
          <p:nvPr/>
        </p:nvSpPr>
        <p:spPr>
          <a:xfrm>
            <a:off x="74295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5" name="A4|rise|membro4"/>
          <p:cNvSpPr txBox="1"/>
          <p:nvPr/>
        </p:nvSpPr>
        <p:spPr>
          <a:xfrm>
            <a:off x="74295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6" name="A5|rise|membro5"/>
          <p:cNvSpPr/>
          <p:nvPr/>
        </p:nvSpPr>
        <p:spPr>
          <a:xfrm>
            <a:off x="93980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membro5"/>
          <p:cNvSpPr/>
          <p:nvPr/>
        </p:nvSpPr>
        <p:spPr>
          <a:xfrm>
            <a:off x="95758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8" name="A5|rise|membro5"/>
          <p:cNvSpPr txBox="1"/>
          <p:nvPr/>
        </p:nvSpPr>
        <p:spPr>
          <a:xfrm>
            <a:off x="95758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9" name="A5|rise|membro5"/>
          <p:cNvSpPr txBox="1"/>
          <p:nvPr/>
        </p:nvSpPr>
        <p:spPr>
          <a:xfrm>
            <a:off x="95758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30" name="A5|rise|membro5"/>
          <p:cNvSpPr txBox="1"/>
          <p:nvPr/>
        </p:nvSpPr>
        <p:spPr>
          <a:xfrm>
            <a:off x="95758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31" name="A6|rise|escolha"/>
          <p:cNvSpPr/>
          <p:nvPr/>
        </p:nvSpPr>
        <p:spPr>
          <a:xfrm>
            <a:off x="812800" y="3632200"/>
            <a:ext cx="10566400" cy="1079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escolha"/>
          <p:cNvSpPr txBox="1"/>
          <p:nvPr/>
        </p:nvSpPr>
        <p:spPr>
          <a:xfrm>
            <a:off x="990600" y="3784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33" name="A6|rise|escolha"/>
          <p:cNvSpPr txBox="1"/>
          <p:nvPr/>
        </p:nvSpPr>
        <p:spPr>
          <a:xfrm>
            <a:off x="990600" y="4064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[Ligação do grupo à Nata Lisboa e como conseguimos acesso à Mônica Cardoso, gerente operacional.]</a:t>
            </a:r>
            <a:endParaRPr lang="en-US" sz="1400" dirty="0"/>
          </a:p>
        </p:txBody>
      </p:sp>
      <p:sp>
        <p:nvSpPr>
          <p:cNvPr id="34" name="A7|rise|divisao"/>
          <p:cNvSpPr/>
          <p:nvPr/>
        </p:nvSpPr>
        <p:spPr>
          <a:xfrm>
            <a:off x="812800" y="4864100"/>
            <a:ext cx="10566400" cy="88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5" name="A7|rise|divisao"/>
          <p:cNvSpPr txBox="1"/>
          <p:nvPr/>
        </p:nvSpPr>
        <p:spPr>
          <a:xfrm>
            <a:off x="990600" y="50038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QUEM APRESENTA O QUÊ</a:t>
            </a:r>
            <a:endParaRPr lang="en-US" sz="1100" dirty="0"/>
          </a:p>
        </p:txBody>
      </p:sp>
      <p:sp>
        <p:nvSpPr>
          <p:cNvPr id="36" name="A7|rise|divisao"/>
          <p:cNvSpPr txBox="1"/>
          <p:nvPr/>
        </p:nvSpPr>
        <p:spPr>
          <a:xfrm>
            <a:off x="990600" y="5270500"/>
            <a:ext cx="1016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[0–a: ______ · b–c: ______ · d–e: ______ · f: ______ · g e conclusões: ______]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CLIQUE NUM TEMA PARA SALTAR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A1|rise|item0"/>
          <p:cNvSpPr txBox="1"/>
          <p:nvPr/>
        </p:nvSpPr>
        <p:spPr>
          <a:xfrm>
            <a:off x="9906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600" dirty="0"/>
          </a:p>
        </p:txBody>
      </p:sp>
      <p:sp>
        <p:nvSpPr>
          <p:cNvPr id="9" name="A1|rise|item0"/>
          <p:cNvSpPr txBox="1"/>
          <p:nvPr/>
        </p:nvSpPr>
        <p:spPr>
          <a:xfrm>
            <a:off x="9906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Cardoso, gerente operacional  →</a:t>
            </a:r>
            <a:endParaRPr lang="en-US" sz="120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36703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40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36703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 comuns</a:t>
            </a:r>
            <a:endParaRPr lang="en-US" sz="16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36703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Objetivos, pessoas, estrutura  →</a:t>
            </a:r>
            <a:endParaRPr lang="en-US" sz="120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63500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40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63500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6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63500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Inputs, processo, outputs  →</a:t>
            </a:r>
            <a:endParaRPr lang="en-US" sz="120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0297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40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90297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do ambiente externo</a:t>
            </a:r>
            <a:endParaRPr lang="en-US" sz="16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90297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geral e de tarefa  →</a:t>
            </a:r>
            <a:endParaRPr lang="en-US" sz="120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9906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40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9906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do ambiente</a:t>
            </a:r>
            <a:endParaRPr lang="en-US" sz="16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9906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Mudança × complexidade  →</a:t>
            </a:r>
            <a:endParaRPr lang="en-US" sz="120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36703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40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36703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6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36703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 e como se aprende  →</a:t>
            </a:r>
            <a:endParaRPr lang="en-US" sz="120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63500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40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63500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6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63500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Níveis, funções, papéis, competências  →</a:t>
            </a:r>
            <a:endParaRPr lang="en-US" sz="120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90297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40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90297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6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90297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globalização, tecnologia  →</a:t>
            </a:r>
            <a:endParaRPr lang="en-US" sz="120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[dd/mm · __ min]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[Presencial / online]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EXCERTO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[sim / não]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IDENTIFICAÇÃO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Robbins &amp; Coulter, todas as organizações — qualquer que seja o setor ou a dimensão — partilham três características.</a:t>
            </a:r>
            <a:endParaRPr lang="en-US" sz="1300" dirty="0"/>
          </a:p>
        </p:txBody>
      </p:sp>
      <p:sp>
        <p:nvSpPr>
          <p:cNvPr id="7" name="A2|rise|car1"/>
          <p:cNvSpPr/>
          <p:nvPr/>
        </p:nvSpPr>
        <p:spPr>
          <a:xfrm>
            <a:off x="8128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car1"/>
          <p:cNvSpPr txBox="1"/>
          <p:nvPr/>
        </p:nvSpPr>
        <p:spPr>
          <a:xfrm>
            <a:off x="9906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A2|rise|car1"/>
          <p:cNvSpPr txBox="1"/>
          <p:nvPr/>
        </p:nvSpPr>
        <p:spPr>
          <a:xfrm>
            <a:off x="9906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800" dirty="0"/>
          </a:p>
        </p:txBody>
      </p:sp>
      <p:sp>
        <p:nvSpPr>
          <p:cNvPr id="10" name="A2|rise|car1"/>
          <p:cNvSpPr txBox="1"/>
          <p:nvPr/>
        </p:nvSpPr>
        <p:spPr>
          <a:xfrm>
            <a:off x="9906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organização existe para alcançar algo: a sua razão de ser, expressa na missão e em metas concretas.</a:t>
            </a:r>
            <a:endParaRPr lang="en-US" sz="1300" dirty="0"/>
          </a:p>
        </p:txBody>
      </p:sp>
      <p:sp>
        <p:nvSpPr>
          <p:cNvPr id="11" name="A2|rise|car1"/>
          <p:cNvSpPr/>
          <p:nvPr/>
        </p:nvSpPr>
        <p:spPr>
          <a:xfrm>
            <a:off x="9398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car1"/>
          <p:cNvSpPr txBox="1"/>
          <p:nvPr/>
        </p:nvSpPr>
        <p:spPr>
          <a:xfrm>
            <a:off x="10668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car1"/>
          <p:cNvSpPr txBox="1"/>
          <p:nvPr/>
        </p:nvSpPr>
        <p:spPr>
          <a:xfrm>
            <a:off x="10668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[Missão / objetivo principal da Nata Lisboa]</a:t>
            </a:r>
            <a:endParaRPr lang="en-US" sz="1250" dirty="0"/>
          </a:p>
        </p:txBody>
      </p:sp>
      <p:sp>
        <p:nvSpPr>
          <p:cNvPr id="14" name="A3|rise|car2"/>
          <p:cNvSpPr/>
          <p:nvPr/>
        </p:nvSpPr>
        <p:spPr>
          <a:xfrm>
            <a:off x="43307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3|rise|car2"/>
          <p:cNvSpPr txBox="1"/>
          <p:nvPr/>
        </p:nvSpPr>
        <p:spPr>
          <a:xfrm>
            <a:off x="45085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A3|rise|car2"/>
          <p:cNvSpPr txBox="1"/>
          <p:nvPr/>
        </p:nvSpPr>
        <p:spPr>
          <a:xfrm>
            <a:off x="45085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800" dirty="0"/>
          </a:p>
        </p:txBody>
      </p:sp>
      <p:sp>
        <p:nvSpPr>
          <p:cNvPr id="17" name="A3|rise|car2"/>
          <p:cNvSpPr txBox="1"/>
          <p:nvPr/>
        </p:nvSpPr>
        <p:spPr>
          <a:xfrm>
            <a:off x="45085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não se cumprem sozinhos: são as pessoas que tomam decisões e realizam o trabalho.</a:t>
            </a:r>
            <a:endParaRPr lang="en-US" sz="1300" dirty="0"/>
          </a:p>
        </p:txBody>
      </p:sp>
      <p:sp>
        <p:nvSpPr>
          <p:cNvPr id="18" name="A3|rise|car2"/>
          <p:cNvSpPr/>
          <p:nvPr/>
        </p:nvSpPr>
        <p:spPr>
          <a:xfrm>
            <a:off x="44577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9" name="A3|rise|car2"/>
          <p:cNvSpPr txBox="1"/>
          <p:nvPr/>
        </p:nvSpPr>
        <p:spPr>
          <a:xfrm>
            <a:off x="45847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0" name="A3|rise|car2"/>
          <p:cNvSpPr txBox="1"/>
          <p:nvPr/>
        </p:nvSpPr>
        <p:spPr>
          <a:xfrm>
            <a:off x="45847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[N.º aproximado de colaboradores e principais funções]</a:t>
            </a:r>
            <a:endParaRPr lang="en-US" sz="1250" dirty="0"/>
          </a:p>
        </p:txBody>
      </p:sp>
      <p:sp>
        <p:nvSpPr>
          <p:cNvPr id="21" name="A4|rise|car3"/>
          <p:cNvSpPr/>
          <p:nvPr/>
        </p:nvSpPr>
        <p:spPr>
          <a:xfrm>
            <a:off x="78486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car3"/>
          <p:cNvSpPr txBox="1"/>
          <p:nvPr/>
        </p:nvSpPr>
        <p:spPr>
          <a:xfrm>
            <a:off x="80264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A4|rise|car3"/>
          <p:cNvSpPr txBox="1"/>
          <p:nvPr/>
        </p:nvSpPr>
        <p:spPr>
          <a:xfrm>
            <a:off x="80264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800" dirty="0"/>
          </a:p>
        </p:txBody>
      </p:sp>
      <p:sp>
        <p:nvSpPr>
          <p:cNvPr id="24" name="A4|rise|car3"/>
          <p:cNvSpPr txBox="1"/>
          <p:nvPr/>
        </p:nvSpPr>
        <p:spPr>
          <a:xfrm>
            <a:off x="80264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 e relações de autoridade definem quem faz o quê e como o trabalho se coordena.</a:t>
            </a:r>
            <a:endParaRPr lang="en-US" sz="1300" dirty="0"/>
          </a:p>
        </p:txBody>
      </p:sp>
      <p:sp>
        <p:nvSpPr>
          <p:cNvPr id="25" name="A4|rise|car3"/>
          <p:cNvSpPr/>
          <p:nvPr/>
        </p:nvSpPr>
        <p:spPr>
          <a:xfrm>
            <a:off x="79756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6" name="A4|rise|car3"/>
          <p:cNvSpPr txBox="1"/>
          <p:nvPr/>
        </p:nvSpPr>
        <p:spPr>
          <a:xfrm>
            <a:off x="81026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7" name="A4|rise|car3"/>
          <p:cNvSpPr txBox="1"/>
          <p:nvPr/>
        </p:nvSpPr>
        <p:spPr>
          <a:xfrm>
            <a:off x="81026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está organizada: lojas, equipas, hierarquia]</a:t>
            </a:r>
            <a:endParaRPr lang="en-US" sz="125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784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que mostra uma destas características na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organização troca continuamente recursos e informação com o ambiente: recebe entradas, transforma-as e devolve saídas — e ajusta-se com base no feedback.</a:t>
            </a:r>
            <a:endParaRPr lang="en-US" sz="1300" dirty="0"/>
          </a:p>
        </p:txBody>
      </p:sp>
      <p:sp>
        <p:nvSpPr>
          <p:cNvPr id="7" name="A2|rise|bloco0"/>
          <p:cNvSpPr/>
          <p:nvPr/>
        </p:nvSpPr>
        <p:spPr>
          <a:xfrm>
            <a:off x="8128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bloco0"/>
          <p:cNvSpPr txBox="1"/>
          <p:nvPr/>
        </p:nvSpPr>
        <p:spPr>
          <a:xfrm>
            <a:off x="9906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1100" dirty="0"/>
          </a:p>
        </p:txBody>
      </p:sp>
      <p:sp>
        <p:nvSpPr>
          <p:cNvPr id="9" name="A2|rise|bloco0"/>
          <p:cNvSpPr txBox="1"/>
          <p:nvPr/>
        </p:nvSpPr>
        <p:spPr>
          <a:xfrm>
            <a:off x="9906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2000" dirty="0"/>
          </a:p>
        </p:txBody>
      </p:sp>
      <p:sp>
        <p:nvSpPr>
          <p:cNvPr id="10" name="A2|rise|bloco0"/>
          <p:cNvSpPr txBox="1"/>
          <p:nvPr/>
        </p:nvSpPr>
        <p:spPr>
          <a:xfrm>
            <a:off x="9906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 e tecnologia.</a:t>
            </a:r>
            <a:endParaRPr lang="en-US" sz="1200" dirty="0"/>
          </a:p>
        </p:txBody>
      </p:sp>
      <p:sp>
        <p:nvSpPr>
          <p:cNvPr id="11" name="A2|rise|bloco0"/>
          <p:cNvSpPr/>
          <p:nvPr/>
        </p:nvSpPr>
        <p:spPr>
          <a:xfrm>
            <a:off x="9398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bloco0"/>
          <p:cNvSpPr txBox="1"/>
          <p:nvPr/>
        </p:nvSpPr>
        <p:spPr>
          <a:xfrm>
            <a:off x="10668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bloco0"/>
          <p:cNvSpPr txBox="1"/>
          <p:nvPr/>
        </p:nvSpPr>
        <p:spPr>
          <a:xfrm>
            <a:off x="10668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farinha, ovos, leite, açúcar, colaboradores, fornos]</a:t>
            </a:r>
            <a:endParaRPr lang="en-US" sz="1250" dirty="0"/>
          </a:p>
        </p:txBody>
      </p:sp>
      <p:sp>
        <p:nvSpPr>
          <p:cNvPr id="14" name="A3|wipeL|seta0"/>
          <p:cNvSpPr/>
          <p:nvPr/>
        </p:nvSpPr>
        <p:spPr>
          <a:xfrm>
            <a:off x="41402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5" name="A4|rise|bloco1"/>
          <p:cNvSpPr/>
          <p:nvPr/>
        </p:nvSpPr>
        <p:spPr>
          <a:xfrm>
            <a:off x="4470400" y="1879600"/>
            <a:ext cx="3251200" cy="26035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bloco1"/>
          <p:cNvSpPr txBox="1"/>
          <p:nvPr/>
        </p:nvSpPr>
        <p:spPr>
          <a:xfrm>
            <a:off x="46482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1100" dirty="0"/>
          </a:p>
        </p:txBody>
      </p:sp>
      <p:sp>
        <p:nvSpPr>
          <p:cNvPr id="17" name="A4|rise|bloco1"/>
          <p:cNvSpPr txBox="1"/>
          <p:nvPr/>
        </p:nvSpPr>
        <p:spPr>
          <a:xfrm>
            <a:off x="46482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2000" dirty="0"/>
          </a:p>
        </p:txBody>
      </p:sp>
      <p:sp>
        <p:nvSpPr>
          <p:cNvPr id="18" name="A4|rise|bloco1"/>
          <p:cNvSpPr txBox="1"/>
          <p:nvPr/>
        </p:nvSpPr>
        <p:spPr>
          <a:xfrm>
            <a:off x="46482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que transformam as entradas: produção, operações, trabalho das equipas e gestão.</a:t>
            </a:r>
            <a:endParaRPr lang="en-US" sz="1200" dirty="0"/>
          </a:p>
        </p:txBody>
      </p:sp>
      <p:sp>
        <p:nvSpPr>
          <p:cNvPr id="19" name="A4|rise|bloco1"/>
          <p:cNvSpPr/>
          <p:nvPr/>
        </p:nvSpPr>
        <p:spPr>
          <a:xfrm>
            <a:off x="45974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4|rise|bloco1"/>
          <p:cNvSpPr txBox="1"/>
          <p:nvPr/>
        </p:nvSpPr>
        <p:spPr>
          <a:xfrm>
            <a:off x="47244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4|rise|bloco1"/>
          <p:cNvSpPr txBox="1"/>
          <p:nvPr/>
        </p:nvSpPr>
        <p:spPr>
          <a:xfrm>
            <a:off x="47244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produção dos pastéis, atendimento, gestão da loja]</a:t>
            </a:r>
            <a:endParaRPr lang="en-US" sz="1250" dirty="0"/>
          </a:p>
        </p:txBody>
      </p:sp>
      <p:sp>
        <p:nvSpPr>
          <p:cNvPr id="22" name="A5|wipeL|seta1"/>
          <p:cNvSpPr/>
          <p:nvPr/>
        </p:nvSpPr>
        <p:spPr>
          <a:xfrm>
            <a:off x="77978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6|rise|bloco2"/>
          <p:cNvSpPr/>
          <p:nvPr/>
        </p:nvSpPr>
        <p:spPr>
          <a:xfrm>
            <a:off x="81280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6|rise|bloco2"/>
          <p:cNvSpPr txBox="1"/>
          <p:nvPr/>
        </p:nvSpPr>
        <p:spPr>
          <a:xfrm>
            <a:off x="83058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1100" dirty="0"/>
          </a:p>
        </p:txBody>
      </p:sp>
      <p:sp>
        <p:nvSpPr>
          <p:cNvPr id="25" name="A6|rise|bloco2"/>
          <p:cNvSpPr txBox="1"/>
          <p:nvPr/>
        </p:nvSpPr>
        <p:spPr>
          <a:xfrm>
            <a:off x="83058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2000" dirty="0"/>
          </a:p>
        </p:txBody>
      </p:sp>
      <p:sp>
        <p:nvSpPr>
          <p:cNvPr id="26" name="A6|rise|bloco2"/>
          <p:cNvSpPr txBox="1"/>
          <p:nvPr/>
        </p:nvSpPr>
        <p:spPr>
          <a:xfrm>
            <a:off x="83058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devolve ao ambiente: produtos e serviços, resultados financeiros, emprego e impacto social.</a:t>
            </a:r>
            <a:endParaRPr lang="en-US" sz="1200" dirty="0"/>
          </a:p>
        </p:txBody>
      </p:sp>
      <p:sp>
        <p:nvSpPr>
          <p:cNvPr id="27" name="A6|rise|bloco2"/>
          <p:cNvSpPr/>
          <p:nvPr/>
        </p:nvSpPr>
        <p:spPr>
          <a:xfrm>
            <a:off x="82550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bloco2"/>
          <p:cNvSpPr txBox="1"/>
          <p:nvPr/>
        </p:nvSpPr>
        <p:spPr>
          <a:xfrm>
            <a:off x="83820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6|rise|bloco2"/>
          <p:cNvSpPr txBox="1"/>
          <p:nvPr/>
        </p:nvSpPr>
        <p:spPr>
          <a:xfrm>
            <a:off x="83820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pastéis de nata, cafés, experiência do cliente, lucro]</a:t>
            </a:r>
            <a:endParaRPr lang="en-US" sz="1250" dirty="0"/>
          </a:p>
        </p:txBody>
      </p:sp>
      <p:sp>
        <p:nvSpPr>
          <p:cNvPr id="30" name="A7|fade|feedback"/>
          <p:cNvSpPr txBox="1"/>
          <p:nvPr/>
        </p:nvSpPr>
        <p:spPr>
          <a:xfrm>
            <a:off x="812800" y="4597400"/>
            <a:ext cx="10566400" cy="4699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FEEDBACK  </a:t>
            </a:r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reações do ambiente (clientes, vendas, avaliações) voltam a entrar no sistema e permitem ajustar.  </a:t>
            </a:r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Nata Lisboa recebe retorno e se ajusta]</a:t>
            </a:r>
            <a:endParaRPr lang="en-US" sz="12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5194300"/>
            <a:ext cx="10566400" cy="6604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o funcionamento da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EM GERAL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zoom|geral"/>
          <p:cNvSpPr/>
          <p:nvPr/>
        </p:nvSpPr>
        <p:spPr>
          <a:xfrm>
            <a:off x="889000" y="1587500"/>
            <a:ext cx="4064000" cy="4064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6F8DC7"/>
            </a:solidFill>
            <a:prstDash val="dash"/>
          </a:ln>
        </p:spPr>
      </p:sp>
      <p:sp>
        <p:nvSpPr>
          <p:cNvPr id="7" name="A1|zoom|geral"/>
          <p:cNvSpPr txBox="1"/>
          <p:nvPr/>
        </p:nvSpPr>
        <p:spPr>
          <a:xfrm>
            <a:off x="1968500" y="1841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</a:t>
            </a:r>
            <a:endParaRPr lang="en-US" sz="1100" dirty="0"/>
          </a:p>
        </p:txBody>
      </p:sp>
      <p:sp>
        <p:nvSpPr>
          <p:cNvPr id="8" name="A2|zoom|tarefa"/>
          <p:cNvSpPr/>
          <p:nvPr/>
        </p:nvSpPr>
        <p:spPr>
          <a:xfrm>
            <a:off x="1714500" y="2413000"/>
            <a:ext cx="2413000" cy="2413000"/>
          </a:xfrm>
          <a:prstGeom prst="ellipse">
            <a:avLst/>
          </a:prstGeom>
          <a:solidFill>
            <a:srgbClr val="F5822A">
              <a:alpha val="1000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9" name="A2|zoom|tarefa"/>
          <p:cNvSpPr txBox="1"/>
          <p:nvPr/>
        </p:nvSpPr>
        <p:spPr>
          <a:xfrm>
            <a:off x="1968500" y="26289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</a:t>
            </a:r>
            <a:endParaRPr lang="en-US" sz="1000" dirty="0"/>
          </a:p>
        </p:txBody>
      </p:sp>
      <p:sp>
        <p:nvSpPr>
          <p:cNvPr id="10" name="A3|zoom|org"/>
          <p:cNvSpPr/>
          <p:nvPr/>
        </p:nvSpPr>
        <p:spPr>
          <a:xfrm>
            <a:off x="2349500" y="3048000"/>
            <a:ext cx="1143000" cy="11430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11" name="A3|zoom|org"/>
          <p:cNvSpPr txBox="1"/>
          <p:nvPr/>
        </p:nvSpPr>
        <p:spPr>
          <a:xfrm>
            <a:off x="2349500" y="3048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1400" dirty="0"/>
          </a:p>
        </p:txBody>
      </p:sp>
      <p:sp>
        <p:nvSpPr>
          <p:cNvPr id="12" name="A4|rise|cardTarefa"/>
          <p:cNvSpPr/>
          <p:nvPr/>
        </p:nvSpPr>
        <p:spPr>
          <a:xfrm>
            <a:off x="5334000" y="1587500"/>
            <a:ext cx="604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4|rise|cardTarefa"/>
          <p:cNvSpPr txBox="1"/>
          <p:nvPr/>
        </p:nvSpPr>
        <p:spPr>
          <a:xfrm>
            <a:off x="5511800" y="17399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 (ESPECÍFICO) · IMPACTO DIRETO</a:t>
            </a:r>
            <a:endParaRPr lang="en-US" sz="1100" dirty="0"/>
          </a:p>
        </p:txBody>
      </p:sp>
      <p:sp>
        <p:nvSpPr>
          <p:cNvPr id="14" name="A4|rise|cardTarefa"/>
          <p:cNvSpPr txBox="1"/>
          <p:nvPr/>
        </p:nvSpPr>
        <p:spPr>
          <a:xfrm>
            <a:off x="5511800" y="20193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com que a organização interage diretamente e que afetam, de imediato, o cumprimento dos seus objetivos.</a:t>
            </a:r>
            <a:endParaRPr lang="en-US" sz="1300" dirty="0"/>
          </a:p>
        </p:txBody>
      </p:sp>
      <p:sp>
        <p:nvSpPr>
          <p:cNvPr id="15" name="A4|rise|cardTarefa"/>
          <p:cNvSpPr txBox="1"/>
          <p:nvPr/>
        </p:nvSpPr>
        <p:spPr>
          <a:xfrm>
            <a:off x="5511800" y="2984500"/>
            <a:ext cx="8953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6" name="A4|rise|cardTarefa"/>
          <p:cNvSpPr txBox="1"/>
          <p:nvPr/>
        </p:nvSpPr>
        <p:spPr>
          <a:xfrm>
            <a:off x="649605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7" name="A4|rise|cardTarefa"/>
          <p:cNvSpPr txBox="1"/>
          <p:nvPr/>
        </p:nvSpPr>
        <p:spPr>
          <a:xfrm>
            <a:off x="779780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8" name="A4|rise|cardTarefa"/>
          <p:cNvSpPr txBox="1"/>
          <p:nvPr/>
        </p:nvSpPr>
        <p:spPr>
          <a:xfrm>
            <a:off x="9099550" y="2984500"/>
            <a:ext cx="161290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9" name="A5|rise|cardGeral"/>
          <p:cNvSpPr/>
          <p:nvPr/>
        </p:nvSpPr>
        <p:spPr>
          <a:xfrm>
            <a:off x="5334000" y="3670300"/>
            <a:ext cx="6045200" cy="19812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cardGeral"/>
          <p:cNvSpPr txBox="1"/>
          <p:nvPr/>
        </p:nvSpPr>
        <p:spPr>
          <a:xfrm>
            <a:off x="5511800" y="38227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 (CONTEXTUAL) · IMPACTO INDIRETO</a:t>
            </a:r>
            <a:endParaRPr lang="en-US" sz="1100" dirty="0"/>
          </a:p>
        </p:txBody>
      </p:sp>
      <p:sp>
        <p:nvSpPr>
          <p:cNvPr id="21" name="A5|rise|cardGeral"/>
          <p:cNvSpPr txBox="1"/>
          <p:nvPr/>
        </p:nvSpPr>
        <p:spPr>
          <a:xfrm>
            <a:off x="5511800" y="41021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amplas, fora do controlo da organização, que afetam todas as organizações do setor.</a:t>
            </a:r>
            <a:endParaRPr lang="en-US" sz="1300" dirty="0"/>
          </a:p>
        </p:txBody>
      </p:sp>
      <p:sp>
        <p:nvSpPr>
          <p:cNvPr id="22" name="A5|rise|cardGeral"/>
          <p:cNvSpPr txBox="1"/>
          <p:nvPr/>
        </p:nvSpPr>
        <p:spPr>
          <a:xfrm>
            <a:off x="5511800" y="4724400"/>
            <a:ext cx="10541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3" name="A5|rise|cardGeral"/>
          <p:cNvSpPr txBox="1"/>
          <p:nvPr/>
        </p:nvSpPr>
        <p:spPr>
          <a:xfrm>
            <a:off x="6654800" y="4724400"/>
            <a:ext cx="14541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4" name="A5|rise|cardGeral"/>
          <p:cNvSpPr txBox="1"/>
          <p:nvPr/>
        </p:nvSpPr>
        <p:spPr>
          <a:xfrm>
            <a:off x="8197850" y="4724400"/>
            <a:ext cx="13716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5" name="A5|rise|cardGeral"/>
          <p:cNvSpPr txBox="1"/>
          <p:nvPr/>
        </p:nvSpPr>
        <p:spPr>
          <a:xfrm>
            <a:off x="551180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26" name="A5|rise|cardGeral"/>
          <p:cNvSpPr txBox="1"/>
          <p:nvPr/>
        </p:nvSpPr>
        <p:spPr>
          <a:xfrm>
            <a:off x="681355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27" name="A5|rise|cardGeral"/>
          <p:cNvSpPr txBox="1"/>
          <p:nvPr/>
        </p:nvSpPr>
        <p:spPr>
          <a:xfrm>
            <a:off x="8115300" y="5118100"/>
            <a:ext cx="8128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NA NATA LISBOA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589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DE TAREFA · IMPACTO DIRETO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são: turistas, residentes, empresas…?]</a:t>
            </a:r>
            <a:endParaRPr lang="en-US" sz="1250" dirty="0"/>
          </a:p>
        </p:txBody>
      </p:sp>
      <p:sp>
        <p:nvSpPr>
          <p:cNvPr id="10" name="A3|rise|tarefa1"/>
          <p:cNvSpPr/>
          <p:nvPr/>
        </p:nvSpPr>
        <p:spPr>
          <a:xfrm>
            <a:off x="3479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3|rise|tarefa1"/>
          <p:cNvSpPr txBox="1"/>
          <p:nvPr/>
        </p:nvSpPr>
        <p:spPr>
          <a:xfrm>
            <a:off x="3619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2" name="A3|rise|tarefa1"/>
          <p:cNvSpPr txBox="1"/>
          <p:nvPr/>
        </p:nvSpPr>
        <p:spPr>
          <a:xfrm>
            <a:off x="3619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[Principais: matérias-primas, embalagens, café…]</a:t>
            </a:r>
            <a:endParaRPr lang="en-US" sz="1250" dirty="0"/>
          </a:p>
        </p:txBody>
      </p:sp>
      <p:sp>
        <p:nvSpPr>
          <p:cNvPr id="13" name="A4|rise|tarefa2"/>
          <p:cNvSpPr/>
          <p:nvPr/>
        </p:nvSpPr>
        <p:spPr>
          <a:xfrm>
            <a:off x="6146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4|rise|tarefa2"/>
          <p:cNvSpPr txBox="1"/>
          <p:nvPr/>
        </p:nvSpPr>
        <p:spPr>
          <a:xfrm>
            <a:off x="6286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5" name="A4|rise|tarefa2"/>
          <p:cNvSpPr txBox="1"/>
          <p:nvPr/>
        </p:nvSpPr>
        <p:spPr>
          <a:xfrm>
            <a:off x="6286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 pastelarias e cadeias de pastéis de nata]</a:t>
            </a:r>
            <a:endParaRPr lang="en-US" sz="1250" dirty="0"/>
          </a:p>
        </p:txBody>
      </p:sp>
      <p:sp>
        <p:nvSpPr>
          <p:cNvPr id="16" name="A5|rise|tarefa3"/>
          <p:cNvSpPr/>
          <p:nvPr/>
        </p:nvSpPr>
        <p:spPr>
          <a:xfrm>
            <a:off x="8813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5|rise|tarefa3"/>
          <p:cNvSpPr txBox="1"/>
          <p:nvPr/>
        </p:nvSpPr>
        <p:spPr>
          <a:xfrm>
            <a:off x="8953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8" name="A5|rise|tarefa3"/>
          <p:cNvSpPr txBox="1"/>
          <p:nvPr/>
        </p:nvSpPr>
        <p:spPr>
          <a:xfrm>
            <a:off x="8953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autarquia, media, avaliações online…]</a:t>
            </a:r>
            <a:endParaRPr lang="en-US" sz="1250" dirty="0"/>
          </a:p>
        </p:txBody>
      </p:sp>
      <p:sp>
        <p:nvSpPr>
          <p:cNvPr id="19" name="A6|fade|lblGeral"/>
          <p:cNvSpPr txBox="1"/>
          <p:nvPr/>
        </p:nvSpPr>
        <p:spPr>
          <a:xfrm>
            <a:off x="812800" y="28194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GERAIS · IMPACTO INDIRETO</a:t>
            </a:r>
            <a:endParaRPr lang="en-US" sz="1100" dirty="0"/>
          </a:p>
        </p:txBody>
      </p:sp>
      <p:sp>
        <p:nvSpPr>
          <p:cNvPr id="20" name="A7|rise|geral0"/>
          <p:cNvSpPr/>
          <p:nvPr/>
        </p:nvSpPr>
        <p:spPr>
          <a:xfrm>
            <a:off x="812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7|rise|geral0"/>
          <p:cNvSpPr txBox="1"/>
          <p:nvPr/>
        </p:nvSpPr>
        <p:spPr>
          <a:xfrm>
            <a:off x="952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2" name="A7|rise|geral0"/>
          <p:cNvSpPr txBox="1"/>
          <p:nvPr/>
        </p:nvSpPr>
        <p:spPr>
          <a:xfrm>
            <a:off x="952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250" dirty="0"/>
          </a:p>
        </p:txBody>
      </p:sp>
      <p:sp>
        <p:nvSpPr>
          <p:cNvPr id="23" name="A8|rise|geral1"/>
          <p:cNvSpPr/>
          <p:nvPr/>
        </p:nvSpPr>
        <p:spPr>
          <a:xfrm>
            <a:off x="4368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8|rise|geral1"/>
          <p:cNvSpPr txBox="1"/>
          <p:nvPr/>
        </p:nvSpPr>
        <p:spPr>
          <a:xfrm>
            <a:off x="4508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5" name="A8|rise|geral1"/>
          <p:cNvSpPr txBox="1"/>
          <p:nvPr/>
        </p:nvSpPr>
        <p:spPr>
          <a:xfrm>
            <a:off x="4508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segurança alimentar, leis laborais, IVA]</a:t>
            </a:r>
            <a:endParaRPr lang="en-US" sz="1250" dirty="0"/>
          </a:p>
        </p:txBody>
      </p:sp>
      <p:sp>
        <p:nvSpPr>
          <p:cNvPr id="26" name="A9|rise|geral2"/>
          <p:cNvSpPr/>
          <p:nvPr/>
        </p:nvSpPr>
        <p:spPr>
          <a:xfrm>
            <a:off x="7924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9|rise|geral2"/>
          <p:cNvSpPr txBox="1"/>
          <p:nvPr/>
        </p:nvSpPr>
        <p:spPr>
          <a:xfrm>
            <a:off x="8064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8" name="A9|rise|geral2"/>
          <p:cNvSpPr txBox="1"/>
          <p:nvPr/>
        </p:nvSpPr>
        <p:spPr>
          <a:xfrm>
            <a:off x="8064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250" dirty="0"/>
          </a:p>
        </p:txBody>
      </p:sp>
      <p:sp>
        <p:nvSpPr>
          <p:cNvPr id="29" name="A10|rise|geral3"/>
          <p:cNvSpPr/>
          <p:nvPr/>
        </p:nvSpPr>
        <p:spPr>
          <a:xfrm>
            <a:off x="812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0|rise|geral3"/>
          <p:cNvSpPr txBox="1"/>
          <p:nvPr/>
        </p:nvSpPr>
        <p:spPr>
          <a:xfrm>
            <a:off x="952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1" name="A10|rise|geral3"/>
          <p:cNvSpPr txBox="1"/>
          <p:nvPr/>
        </p:nvSpPr>
        <p:spPr>
          <a:xfrm>
            <a:off x="952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etária]</a:t>
            </a:r>
            <a:endParaRPr lang="en-US" sz="1250" dirty="0"/>
          </a:p>
        </p:txBody>
      </p:sp>
      <p:sp>
        <p:nvSpPr>
          <p:cNvPr id="32" name="A11|rise|geral4"/>
          <p:cNvSpPr/>
          <p:nvPr/>
        </p:nvSpPr>
        <p:spPr>
          <a:xfrm>
            <a:off x="4368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3" name="A11|rise|geral4"/>
          <p:cNvSpPr txBox="1"/>
          <p:nvPr/>
        </p:nvSpPr>
        <p:spPr>
          <a:xfrm>
            <a:off x="4508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4" name="A11|rise|geral4"/>
          <p:cNvSpPr txBox="1"/>
          <p:nvPr/>
        </p:nvSpPr>
        <p:spPr>
          <a:xfrm>
            <a:off x="4508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entregas por app, pagamentos, redes sociais]</a:t>
            </a:r>
            <a:endParaRPr lang="en-US" sz="1250" dirty="0"/>
          </a:p>
        </p:txBody>
      </p:sp>
      <p:sp>
        <p:nvSpPr>
          <p:cNvPr id="35" name="A12|rise|geral5"/>
          <p:cNvSpPr/>
          <p:nvPr/>
        </p:nvSpPr>
        <p:spPr>
          <a:xfrm>
            <a:off x="7924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6" name="A12|rise|geral5"/>
          <p:cNvSpPr txBox="1"/>
          <p:nvPr/>
        </p:nvSpPr>
        <p:spPr>
          <a:xfrm>
            <a:off x="8064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37" name="A12|rise|geral5"/>
          <p:cNvSpPr txBox="1"/>
          <p:nvPr/>
        </p:nvSpPr>
        <p:spPr>
          <a:xfrm>
            <a:off x="8064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presença internacional, turismo global]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49403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4097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651000"/>
            <a:ext cx="5029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o grau de incerteza que os gestores enfrentam.</a:t>
            </a:r>
            <a:endParaRPr lang="en-US" sz="13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768600"/>
            <a:ext cx="5029200" cy="1460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28702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136900"/>
            <a:ext cx="4775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30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19600"/>
            <a:ext cx="5029200" cy="10795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Valores, crenças e práticas partilhadas que orientam o comportamento dos membros. Cada dimensão é um contínuo entre dois polos — o ● marca onde a Nata Lisboa se situa.</a:t>
            </a:r>
            <a:endParaRPr lang="en-US" sz="1250" dirty="0"/>
          </a:p>
        </p:txBody>
      </p:sp>
      <p:sp>
        <p:nvSpPr>
          <p:cNvPr id="7" name="A1|fade|intro"/>
          <p:cNvSpPr txBox="1"/>
          <p:nvPr/>
        </p:nvSpPr>
        <p:spPr>
          <a:xfrm>
            <a:off x="1460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1000" dirty="0"/>
          </a:p>
        </p:txBody>
      </p:sp>
      <p:sp>
        <p:nvSpPr>
          <p:cNvPr id="8" name="A1|fade|intro"/>
          <p:cNvSpPr txBox="1"/>
          <p:nvPr/>
        </p:nvSpPr>
        <p:spPr>
          <a:xfrm>
            <a:off x="3492500" y="1854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POSIÇÃO NA NATA LISBOA</a:t>
            </a:r>
            <a:endParaRPr lang="en-US" sz="1000" dirty="0"/>
          </a:p>
        </p:txBody>
      </p:sp>
      <p:sp>
        <p:nvSpPr>
          <p:cNvPr id="9" name="A1|fade|intro"/>
          <p:cNvSpPr txBox="1"/>
          <p:nvPr/>
        </p:nvSpPr>
        <p:spPr>
          <a:xfrm>
            <a:off x="6032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1000" dirty="0"/>
          </a:p>
        </p:txBody>
      </p:sp>
      <p:sp>
        <p:nvSpPr>
          <p:cNvPr id="10" name="A1|fade|intro"/>
          <p:cNvSpPr txBox="1"/>
          <p:nvPr/>
        </p:nvSpPr>
        <p:spPr>
          <a:xfrm>
            <a:off x="8001000" y="18542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EVIDÊNCIA (OBSERVADO / DITO)</a:t>
            </a:r>
            <a:endParaRPr lang="en-US" sz="1000" dirty="0"/>
          </a:p>
        </p:txBody>
      </p:sp>
      <p:sp>
        <p:nvSpPr>
          <p:cNvPr id="11" name="A2|wipeL|dim1"/>
          <p:cNvSpPr/>
          <p:nvPr/>
        </p:nvSpPr>
        <p:spPr>
          <a:xfrm>
            <a:off x="812800" y="2108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wipeL|dim1"/>
          <p:cNvSpPr txBox="1"/>
          <p:nvPr/>
        </p:nvSpPr>
        <p:spPr>
          <a:xfrm>
            <a:off x="952500" y="2260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3" name="A2|wipeL|dim1"/>
          <p:cNvSpPr txBox="1"/>
          <p:nvPr/>
        </p:nvSpPr>
        <p:spPr>
          <a:xfrm>
            <a:off x="13335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4" name="A2|wipeL|dim1"/>
          <p:cNvSpPr/>
          <p:nvPr/>
        </p:nvSpPr>
        <p:spPr>
          <a:xfrm>
            <a:off x="3492500" y="2362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5" name="A2|wipeL|dim1"/>
          <p:cNvSpPr/>
          <p:nvPr/>
        </p:nvSpPr>
        <p:spPr>
          <a:xfrm>
            <a:off x="3454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6" name="A2|wipeL|dim1"/>
          <p:cNvSpPr/>
          <p:nvPr/>
        </p:nvSpPr>
        <p:spPr>
          <a:xfrm>
            <a:off x="5740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4546600" y="2273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2|wipeL|dim1"/>
          <p:cNvSpPr txBox="1"/>
          <p:nvPr/>
        </p:nvSpPr>
        <p:spPr>
          <a:xfrm>
            <a:off x="6032500" y="2235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19" name="A2|wipeL|dim1"/>
          <p:cNvSpPr txBox="1"/>
          <p:nvPr/>
        </p:nvSpPr>
        <p:spPr>
          <a:xfrm>
            <a:off x="8001000" y="2235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0" name="A3|wipeL|dim2"/>
          <p:cNvSpPr/>
          <p:nvPr/>
        </p:nvSpPr>
        <p:spPr>
          <a:xfrm>
            <a:off x="812800" y="26924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wipeL|dim2"/>
          <p:cNvSpPr txBox="1"/>
          <p:nvPr/>
        </p:nvSpPr>
        <p:spPr>
          <a:xfrm>
            <a:off x="952500" y="2844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2" name="A3|wipeL|dim2"/>
          <p:cNvSpPr txBox="1"/>
          <p:nvPr/>
        </p:nvSpPr>
        <p:spPr>
          <a:xfrm>
            <a:off x="1333500" y="2819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3" name="A3|wipeL|dim2"/>
          <p:cNvSpPr/>
          <p:nvPr/>
        </p:nvSpPr>
        <p:spPr>
          <a:xfrm>
            <a:off x="3492500" y="29464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4" name="A3|wipeL|dim2"/>
          <p:cNvSpPr/>
          <p:nvPr/>
        </p:nvSpPr>
        <p:spPr>
          <a:xfrm>
            <a:off x="3454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5" name="A3|wipeL|dim2"/>
          <p:cNvSpPr/>
          <p:nvPr/>
        </p:nvSpPr>
        <p:spPr>
          <a:xfrm>
            <a:off x="5740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4546600" y="28575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A3|wipeL|dim2"/>
          <p:cNvSpPr txBox="1"/>
          <p:nvPr/>
        </p:nvSpPr>
        <p:spPr>
          <a:xfrm>
            <a:off x="6032500" y="28194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8" name="A3|wipeL|dim2"/>
          <p:cNvSpPr txBox="1"/>
          <p:nvPr/>
        </p:nvSpPr>
        <p:spPr>
          <a:xfrm>
            <a:off x="8001000" y="2819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9" name="A4|wipeL|dim3"/>
          <p:cNvSpPr/>
          <p:nvPr/>
        </p:nvSpPr>
        <p:spPr>
          <a:xfrm>
            <a:off x="812800" y="32766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4|wipeL|dim3"/>
          <p:cNvSpPr txBox="1"/>
          <p:nvPr/>
        </p:nvSpPr>
        <p:spPr>
          <a:xfrm>
            <a:off x="952500" y="3429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1" name="A4|wipeL|dim3"/>
          <p:cNvSpPr txBox="1"/>
          <p:nvPr/>
        </p:nvSpPr>
        <p:spPr>
          <a:xfrm>
            <a:off x="1333500" y="3403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2" name="A4|wipeL|dim3"/>
          <p:cNvSpPr/>
          <p:nvPr/>
        </p:nvSpPr>
        <p:spPr>
          <a:xfrm>
            <a:off x="3492500" y="35306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3" name="A4|wipeL|dim3"/>
          <p:cNvSpPr/>
          <p:nvPr/>
        </p:nvSpPr>
        <p:spPr>
          <a:xfrm>
            <a:off x="3454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4" name="A4|wipeL|dim3"/>
          <p:cNvSpPr/>
          <p:nvPr/>
        </p:nvSpPr>
        <p:spPr>
          <a:xfrm>
            <a:off x="5740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4546600" y="34417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A4|wipeL|dim3"/>
          <p:cNvSpPr txBox="1"/>
          <p:nvPr/>
        </p:nvSpPr>
        <p:spPr>
          <a:xfrm>
            <a:off x="6032500" y="34036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7" name="A4|wipeL|dim3"/>
          <p:cNvSpPr txBox="1"/>
          <p:nvPr/>
        </p:nvSpPr>
        <p:spPr>
          <a:xfrm>
            <a:off x="8001000" y="3403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38" name="A5|wipeL|dim4"/>
          <p:cNvSpPr/>
          <p:nvPr/>
        </p:nvSpPr>
        <p:spPr>
          <a:xfrm>
            <a:off x="812800" y="38608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wipeL|dim4"/>
          <p:cNvSpPr txBox="1"/>
          <p:nvPr/>
        </p:nvSpPr>
        <p:spPr>
          <a:xfrm>
            <a:off x="952500" y="40132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0" name="A5|wipeL|dim4"/>
          <p:cNvSpPr txBox="1"/>
          <p:nvPr/>
        </p:nvSpPr>
        <p:spPr>
          <a:xfrm>
            <a:off x="1333500" y="3987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1" name="A5|wipeL|dim4"/>
          <p:cNvSpPr/>
          <p:nvPr/>
        </p:nvSpPr>
        <p:spPr>
          <a:xfrm>
            <a:off x="3492500" y="41148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2" name="A5|wipeL|dim4"/>
          <p:cNvSpPr/>
          <p:nvPr/>
        </p:nvSpPr>
        <p:spPr>
          <a:xfrm>
            <a:off x="3454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3" name="A5|wipeL|dim4"/>
          <p:cNvSpPr/>
          <p:nvPr/>
        </p:nvSpPr>
        <p:spPr>
          <a:xfrm>
            <a:off x="5740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4546600" y="40259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A5|wipeL|dim4"/>
          <p:cNvSpPr txBox="1"/>
          <p:nvPr/>
        </p:nvSpPr>
        <p:spPr>
          <a:xfrm>
            <a:off x="6032500" y="39878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6" name="A5|wipeL|dim4"/>
          <p:cNvSpPr txBox="1"/>
          <p:nvPr/>
        </p:nvSpPr>
        <p:spPr>
          <a:xfrm>
            <a:off x="8001000" y="3987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47" name="A6|wipeL|dim5"/>
          <p:cNvSpPr/>
          <p:nvPr/>
        </p:nvSpPr>
        <p:spPr>
          <a:xfrm>
            <a:off x="812800" y="44450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8" name="A6|wipeL|dim5"/>
          <p:cNvSpPr txBox="1"/>
          <p:nvPr/>
        </p:nvSpPr>
        <p:spPr>
          <a:xfrm>
            <a:off x="952500" y="4597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49" name="A6|wipeL|dim5"/>
          <p:cNvSpPr txBox="1"/>
          <p:nvPr/>
        </p:nvSpPr>
        <p:spPr>
          <a:xfrm>
            <a:off x="1333500" y="457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0" name="A6|wipeL|dim5"/>
          <p:cNvSpPr/>
          <p:nvPr/>
        </p:nvSpPr>
        <p:spPr>
          <a:xfrm>
            <a:off x="3492500" y="46990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1" name="A6|wipeL|dim5"/>
          <p:cNvSpPr/>
          <p:nvPr/>
        </p:nvSpPr>
        <p:spPr>
          <a:xfrm>
            <a:off x="3454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2" name="A6|wipeL|dim5"/>
          <p:cNvSpPr/>
          <p:nvPr/>
        </p:nvSpPr>
        <p:spPr>
          <a:xfrm>
            <a:off x="5740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4546600" y="46101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A6|wipeL|dim5"/>
          <p:cNvSpPr txBox="1"/>
          <p:nvPr/>
        </p:nvSpPr>
        <p:spPr>
          <a:xfrm>
            <a:off x="6032500" y="45720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5" name="A6|wipeL|dim5"/>
          <p:cNvSpPr txBox="1"/>
          <p:nvPr/>
        </p:nvSpPr>
        <p:spPr>
          <a:xfrm>
            <a:off x="8001000" y="4572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56" name="A7|wipeL|dim6"/>
          <p:cNvSpPr/>
          <p:nvPr/>
        </p:nvSpPr>
        <p:spPr>
          <a:xfrm>
            <a:off x="812800" y="5029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7" name="A7|wipeL|dim6"/>
          <p:cNvSpPr txBox="1"/>
          <p:nvPr/>
        </p:nvSpPr>
        <p:spPr>
          <a:xfrm>
            <a:off x="952500" y="5181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8" name="A7|wipeL|dim6"/>
          <p:cNvSpPr txBox="1"/>
          <p:nvPr/>
        </p:nvSpPr>
        <p:spPr>
          <a:xfrm>
            <a:off x="1333500" y="5156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59" name="A7|wipeL|dim6"/>
          <p:cNvSpPr/>
          <p:nvPr/>
        </p:nvSpPr>
        <p:spPr>
          <a:xfrm>
            <a:off x="3492500" y="5283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0" name="A7|wipeL|dim6"/>
          <p:cNvSpPr/>
          <p:nvPr/>
        </p:nvSpPr>
        <p:spPr>
          <a:xfrm>
            <a:off x="3454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1" name="A7|wipeL|dim6"/>
          <p:cNvSpPr/>
          <p:nvPr/>
        </p:nvSpPr>
        <p:spPr>
          <a:xfrm>
            <a:off x="5740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4546600" y="5194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A7|wipeL|dim6"/>
          <p:cNvSpPr txBox="1"/>
          <p:nvPr/>
        </p:nvSpPr>
        <p:spPr>
          <a:xfrm>
            <a:off x="6032500" y="5156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4" name="A7|wipeL|dim6"/>
          <p:cNvSpPr txBox="1"/>
          <p:nvPr/>
        </p:nvSpPr>
        <p:spPr>
          <a:xfrm>
            <a:off x="8001000" y="5156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65" name="A8|fade|nota"/>
          <p:cNvSpPr txBox="1"/>
          <p:nvPr/>
        </p:nvSpPr>
        <p:spPr>
          <a:xfrm>
            <a:off x="812800" y="5664200"/>
            <a:ext cx="1056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certa. Confirmar os nomes das 6 dimensões com o PDF do Tópico 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rise|forma0"/>
          <p:cNvSpPr/>
          <p:nvPr/>
        </p:nvSpPr>
        <p:spPr>
          <a:xfrm>
            <a:off x="8128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forma0"/>
          <p:cNvSpPr/>
          <p:nvPr/>
        </p:nvSpPr>
        <p:spPr>
          <a:xfrm>
            <a:off x="9906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8" name="A1|rise|forma0"/>
          <p:cNvSpPr txBox="1"/>
          <p:nvPr/>
        </p:nvSpPr>
        <p:spPr>
          <a:xfrm>
            <a:off x="9906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1|rise|forma0"/>
          <p:cNvSpPr txBox="1"/>
          <p:nvPr/>
        </p:nvSpPr>
        <p:spPr>
          <a:xfrm>
            <a:off x="9906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600" dirty="0"/>
          </a:p>
        </p:txBody>
      </p:sp>
      <p:sp>
        <p:nvSpPr>
          <p:cNvPr id="10" name="A1|rise|forma0"/>
          <p:cNvSpPr txBox="1"/>
          <p:nvPr/>
        </p:nvSpPr>
        <p:spPr>
          <a:xfrm>
            <a:off x="9906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que mostram o que a organização valoriza.</a:t>
            </a:r>
            <a:endParaRPr lang="en-US" sz="1200" dirty="0"/>
          </a:p>
        </p:txBody>
      </p:sp>
      <p:sp>
        <p:nvSpPr>
          <p:cNvPr id="11" name="A1|rise|forma0"/>
          <p:cNvSpPr/>
          <p:nvPr/>
        </p:nvSpPr>
        <p:spPr>
          <a:xfrm>
            <a:off x="9144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1|rise|forma0"/>
          <p:cNvSpPr txBox="1"/>
          <p:nvPr/>
        </p:nvSpPr>
        <p:spPr>
          <a:xfrm>
            <a:off x="10414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1|rise|forma0"/>
          <p:cNvSpPr txBox="1"/>
          <p:nvPr/>
        </p:nvSpPr>
        <p:spPr>
          <a:xfrm>
            <a:off x="10414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 história da fundação, um cliente marcante]</a:t>
            </a:r>
            <a:endParaRPr lang="en-US" sz="1250" dirty="0"/>
          </a:p>
        </p:txBody>
      </p:sp>
      <p:sp>
        <p:nvSpPr>
          <p:cNvPr id="14" name="A2|rise|forma1"/>
          <p:cNvSpPr/>
          <p:nvPr/>
        </p:nvSpPr>
        <p:spPr>
          <a:xfrm>
            <a:off x="34925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2|rise|forma1"/>
          <p:cNvSpPr/>
          <p:nvPr/>
        </p:nvSpPr>
        <p:spPr>
          <a:xfrm>
            <a:off x="36703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16" name="A2|rise|forma1"/>
          <p:cNvSpPr txBox="1"/>
          <p:nvPr/>
        </p:nvSpPr>
        <p:spPr>
          <a:xfrm>
            <a:off x="36703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A2|rise|forma1"/>
          <p:cNvSpPr txBox="1"/>
          <p:nvPr/>
        </p:nvSpPr>
        <p:spPr>
          <a:xfrm>
            <a:off x="36703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600" dirty="0"/>
          </a:p>
        </p:txBody>
      </p:sp>
      <p:sp>
        <p:nvSpPr>
          <p:cNvPr id="18" name="A2|rise|forma1"/>
          <p:cNvSpPr txBox="1"/>
          <p:nvPr/>
        </p:nvSpPr>
        <p:spPr>
          <a:xfrm>
            <a:off x="36703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repetidas que reforçam os valores-chave: reuniões, formações, celebrações.</a:t>
            </a:r>
            <a:endParaRPr lang="en-US" sz="1200" dirty="0"/>
          </a:p>
        </p:txBody>
      </p:sp>
      <p:sp>
        <p:nvSpPr>
          <p:cNvPr id="19" name="A2|rise|forma1"/>
          <p:cNvSpPr/>
          <p:nvPr/>
        </p:nvSpPr>
        <p:spPr>
          <a:xfrm>
            <a:off x="35941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2|rise|forma1"/>
          <p:cNvSpPr txBox="1"/>
          <p:nvPr/>
        </p:nvSpPr>
        <p:spPr>
          <a:xfrm>
            <a:off x="37211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2|rise|forma1"/>
          <p:cNvSpPr txBox="1"/>
          <p:nvPr/>
        </p:nvSpPr>
        <p:spPr>
          <a:xfrm>
            <a:off x="37211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rotina de abertura da loja, formação inicial]</a:t>
            </a:r>
            <a:endParaRPr lang="en-US" sz="1250" dirty="0"/>
          </a:p>
        </p:txBody>
      </p:sp>
      <p:sp>
        <p:nvSpPr>
          <p:cNvPr id="22" name="A3|rise|forma2"/>
          <p:cNvSpPr/>
          <p:nvPr/>
        </p:nvSpPr>
        <p:spPr>
          <a:xfrm>
            <a:off x="61722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3" name="A3|rise|forma2"/>
          <p:cNvSpPr/>
          <p:nvPr/>
        </p:nvSpPr>
        <p:spPr>
          <a:xfrm>
            <a:off x="63500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24" name="A3|rise|forma2"/>
          <p:cNvSpPr txBox="1"/>
          <p:nvPr/>
        </p:nvSpPr>
        <p:spPr>
          <a:xfrm>
            <a:off x="63500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A3|rise|forma2"/>
          <p:cNvSpPr txBox="1"/>
          <p:nvPr/>
        </p:nvSpPr>
        <p:spPr>
          <a:xfrm>
            <a:off x="63500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600" dirty="0"/>
          </a:p>
        </p:txBody>
      </p:sp>
      <p:sp>
        <p:nvSpPr>
          <p:cNvPr id="26" name="A3|rise|forma2"/>
          <p:cNvSpPr txBox="1"/>
          <p:nvPr/>
        </p:nvSpPr>
        <p:spPr>
          <a:xfrm>
            <a:off x="63500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importante.</a:t>
            </a:r>
            <a:endParaRPr lang="en-US" sz="1200" dirty="0"/>
          </a:p>
        </p:txBody>
      </p:sp>
      <p:sp>
        <p:nvSpPr>
          <p:cNvPr id="27" name="A3|rise|forma2"/>
          <p:cNvSpPr/>
          <p:nvPr/>
        </p:nvSpPr>
        <p:spPr>
          <a:xfrm>
            <a:off x="62738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3|rise|forma2"/>
          <p:cNvSpPr txBox="1"/>
          <p:nvPr/>
        </p:nvSpPr>
        <p:spPr>
          <a:xfrm>
            <a:off x="64008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3|rise|forma2"/>
          <p:cNvSpPr txBox="1"/>
          <p:nvPr/>
        </p:nvSpPr>
        <p:spPr>
          <a:xfrm>
            <a:off x="64008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azulejos, farda, balcão com produção à vista]</a:t>
            </a:r>
            <a:endParaRPr lang="en-US" sz="1250" dirty="0"/>
          </a:p>
        </p:txBody>
      </p:sp>
      <p:sp>
        <p:nvSpPr>
          <p:cNvPr id="30" name="A4|rise|forma3"/>
          <p:cNvSpPr/>
          <p:nvPr/>
        </p:nvSpPr>
        <p:spPr>
          <a:xfrm>
            <a:off x="88519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rise|forma3"/>
          <p:cNvSpPr/>
          <p:nvPr/>
        </p:nvSpPr>
        <p:spPr>
          <a:xfrm>
            <a:off x="90297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32" name="A4|rise|forma3"/>
          <p:cNvSpPr txBox="1"/>
          <p:nvPr/>
        </p:nvSpPr>
        <p:spPr>
          <a:xfrm>
            <a:off x="90297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A4|rise|forma3"/>
          <p:cNvSpPr txBox="1"/>
          <p:nvPr/>
        </p:nvSpPr>
        <p:spPr>
          <a:xfrm>
            <a:off x="90297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600" dirty="0"/>
          </a:p>
        </p:txBody>
      </p:sp>
      <p:sp>
        <p:nvSpPr>
          <p:cNvPr id="34" name="A4|rise|forma3"/>
          <p:cNvSpPr txBox="1"/>
          <p:nvPr/>
        </p:nvSpPr>
        <p:spPr>
          <a:xfrm>
            <a:off x="90297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 e expressões próprias que identificam e unem os membros.</a:t>
            </a:r>
            <a:endParaRPr lang="en-US" sz="1200" dirty="0"/>
          </a:p>
        </p:txBody>
      </p:sp>
      <p:sp>
        <p:nvSpPr>
          <p:cNvPr id="35" name="A4|rise|forma3"/>
          <p:cNvSpPr/>
          <p:nvPr/>
        </p:nvSpPr>
        <p:spPr>
          <a:xfrm>
            <a:off x="89535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4|rise|forma3"/>
          <p:cNvSpPr txBox="1"/>
          <p:nvPr/>
        </p:nvSpPr>
        <p:spPr>
          <a:xfrm>
            <a:off x="90805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4|rise|forma3"/>
          <p:cNvSpPr txBox="1"/>
          <p:nvPr/>
        </p:nvSpPr>
        <p:spPr>
          <a:xfrm>
            <a:off x="90805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expressões usadas pela equipa no dia a dia]</a:t>
            </a:r>
            <a:endParaRPr lang="en-US" sz="1250" dirty="0"/>
          </a:p>
        </p:txBody>
      </p:sp>
      <p:sp>
        <p:nvSpPr>
          <p:cNvPr id="38" name="A5|rise|forte"/>
          <p:cNvSpPr/>
          <p:nvPr/>
        </p:nvSpPr>
        <p:spPr>
          <a:xfrm>
            <a:off x="812800" y="4889500"/>
            <a:ext cx="5080000" cy="952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rise|forte"/>
          <p:cNvSpPr txBox="1"/>
          <p:nvPr/>
        </p:nvSpPr>
        <p:spPr>
          <a:xfrm>
            <a:off x="965200" y="50038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CULTURA FORTE OU FRACA?</a:t>
            </a:r>
            <a:endParaRPr lang="en-US" sz="1100" dirty="0"/>
          </a:p>
        </p:txBody>
      </p:sp>
      <p:sp>
        <p:nvSpPr>
          <p:cNvPr id="40" name="A5|rise|forte"/>
          <p:cNvSpPr txBox="1"/>
          <p:nvPr/>
        </p:nvSpPr>
        <p:spPr>
          <a:xfrm>
            <a:off x="965200" y="52324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Forte = valores-chave intensamente partilhados e aceites.</a:t>
            </a:r>
            <a:endParaRPr lang="en-US" sz="1200" dirty="0"/>
          </a:p>
        </p:txBody>
      </p:sp>
      <p:sp>
        <p:nvSpPr>
          <p:cNvPr id="41" name="A5|rise|forte"/>
          <p:cNvSpPr txBox="1"/>
          <p:nvPr/>
        </p:nvSpPr>
        <p:spPr>
          <a:xfrm>
            <a:off x="965200" y="548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[Posição do grupo sobre a Nata Lisboa e porquê]</a:t>
            </a:r>
            <a:endParaRPr lang="en-US" sz="1250" dirty="0"/>
          </a:p>
        </p:txBody>
      </p:sp>
      <p:sp>
        <p:nvSpPr>
          <p:cNvPr id="42" name="K1|rise|citacao"/>
          <p:cNvSpPr txBox="1"/>
          <p:nvPr/>
        </p:nvSpPr>
        <p:spPr>
          <a:xfrm rot="-36000">
            <a:off x="6096000" y="4914900"/>
            <a:ext cx="52832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pic>
        <p:nvPicPr>
          <p:cNvPr id="6" name="A1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524000"/>
            <a:ext cx="4064000" cy="3429000"/>
          </a:xfrm>
          <a:prstGeom prst="rect">
            <a:avLst/>
          </a:prstGeom>
        </p:spPr>
      </p:pic>
      <p:sp>
        <p:nvSpPr>
          <p:cNvPr id="7" name="A1|zoom|piramide"/>
          <p:cNvSpPr txBox="1"/>
          <p:nvPr/>
        </p:nvSpPr>
        <p:spPr>
          <a:xfrm>
            <a:off x="2400300" y="20955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400" dirty="0"/>
          </a:p>
        </p:txBody>
      </p:sp>
      <p:sp>
        <p:nvSpPr>
          <p:cNvPr id="8" name="A1|zoom|piramide"/>
          <p:cNvSpPr txBox="1"/>
          <p:nvPr/>
        </p:nvSpPr>
        <p:spPr>
          <a:xfrm>
            <a:off x="1574800" y="29845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500" dirty="0"/>
          </a:p>
        </p:txBody>
      </p:sp>
      <p:sp>
        <p:nvSpPr>
          <p:cNvPr id="9" name="A1|zoom|piramide"/>
          <p:cNvSpPr txBox="1"/>
          <p:nvPr/>
        </p:nvSpPr>
        <p:spPr>
          <a:xfrm>
            <a:off x="1257300" y="41021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500" dirty="0"/>
          </a:p>
        </p:txBody>
      </p:sp>
      <p:sp>
        <p:nvSpPr>
          <p:cNvPr id="10" name="A1|zoom|piramide"/>
          <p:cNvSpPr txBox="1"/>
          <p:nvPr/>
        </p:nvSpPr>
        <p:spPr>
          <a:xfrm>
            <a:off x="812800" y="50800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 (NÃO GESTORES): </a:t>
            </a:r>
            <a:pPr algn="ctr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100" dirty="0"/>
          </a:p>
        </p:txBody>
      </p:sp>
      <p:sp>
        <p:nvSpPr>
          <p:cNvPr id="11" name="A2|rise|nivel0"/>
          <p:cNvSpPr/>
          <p:nvPr/>
        </p:nvSpPr>
        <p:spPr>
          <a:xfrm>
            <a:off x="5334000" y="15240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nivel0"/>
          <p:cNvSpPr txBox="1"/>
          <p:nvPr/>
        </p:nvSpPr>
        <p:spPr>
          <a:xfrm>
            <a:off x="5511800" y="16383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3" name="A2|rise|nivel0"/>
          <p:cNvSpPr txBox="1"/>
          <p:nvPr/>
        </p:nvSpPr>
        <p:spPr>
          <a:xfrm>
            <a:off x="5511800" y="18669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objetivos e políticas para toda a organização.</a:t>
            </a:r>
            <a:endParaRPr lang="en-US" sz="1300" dirty="0"/>
          </a:p>
        </p:txBody>
      </p:sp>
      <p:sp>
        <p:nvSpPr>
          <p:cNvPr id="14" name="A2|rise|nivel0"/>
          <p:cNvSpPr txBox="1"/>
          <p:nvPr/>
        </p:nvSpPr>
        <p:spPr>
          <a:xfrm>
            <a:off x="5511800" y="21844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 e que decisões tomam]</a:t>
            </a:r>
            <a:endParaRPr lang="en-US" sz="1300" dirty="0"/>
          </a:p>
        </p:txBody>
      </p:sp>
      <p:sp>
        <p:nvSpPr>
          <p:cNvPr id="15" name="A3|rise|nivel1"/>
          <p:cNvSpPr/>
          <p:nvPr/>
        </p:nvSpPr>
        <p:spPr>
          <a:xfrm>
            <a:off x="5334000" y="2705100"/>
            <a:ext cx="6045200" cy="10668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3|rise|nivel1"/>
          <p:cNvSpPr txBox="1"/>
          <p:nvPr/>
        </p:nvSpPr>
        <p:spPr>
          <a:xfrm>
            <a:off x="5511800" y="2819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7" name="A3|rise|nivel1"/>
          <p:cNvSpPr txBox="1"/>
          <p:nvPr/>
        </p:nvSpPr>
        <p:spPr>
          <a:xfrm>
            <a:off x="5511800" y="30480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300" dirty="0"/>
          </a:p>
        </p:txBody>
      </p:sp>
      <p:sp>
        <p:nvSpPr>
          <p:cNvPr id="18" name="A3|rise|nivel1"/>
          <p:cNvSpPr txBox="1"/>
          <p:nvPr/>
        </p:nvSpPr>
        <p:spPr>
          <a:xfrm>
            <a:off x="5511800" y="33655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 nível e decisões que toma]</a:t>
            </a:r>
            <a:endParaRPr lang="en-US" sz="1300" dirty="0"/>
          </a:p>
        </p:txBody>
      </p:sp>
      <p:sp>
        <p:nvSpPr>
          <p:cNvPr id="19" name="A4|rise|nivel2"/>
          <p:cNvSpPr/>
          <p:nvPr/>
        </p:nvSpPr>
        <p:spPr>
          <a:xfrm>
            <a:off x="5334000" y="38862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4|rise|nivel2"/>
          <p:cNvSpPr txBox="1"/>
          <p:nvPr/>
        </p:nvSpPr>
        <p:spPr>
          <a:xfrm>
            <a:off x="5511800" y="40005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1" name="A4|rise|nivel2"/>
          <p:cNvSpPr txBox="1"/>
          <p:nvPr/>
        </p:nvSpPr>
        <p:spPr>
          <a:xfrm>
            <a:off x="5511800" y="42291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300" dirty="0"/>
          </a:p>
        </p:txBody>
      </p:sp>
      <p:sp>
        <p:nvSpPr>
          <p:cNvPr id="22" name="A4|rise|nivel2"/>
          <p:cNvSpPr txBox="1"/>
          <p:nvPr/>
        </p:nvSpPr>
        <p:spPr>
          <a:xfrm>
            <a:off x="5511800" y="45466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loja ou de turno]</a:t>
            </a:r>
            <a:endParaRPr lang="en-US" sz="1300" dirty="0"/>
          </a:p>
        </p:txBody>
      </p:sp>
      <p:sp>
        <p:nvSpPr>
          <p:cNvPr id="23" name="A5|fade|estrutura"/>
          <p:cNvSpPr txBox="1"/>
          <p:nvPr/>
        </p:nvSpPr>
        <p:spPr>
          <a:xfrm>
            <a:off x="5334000" y="5156200"/>
            <a:ext cx="6045200" cy="4445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Estrutura: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rise|col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l0"/>
          <p:cNvSpPr txBox="1"/>
          <p:nvPr/>
        </p:nvSpPr>
        <p:spPr>
          <a:xfrm>
            <a:off x="9906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1100" dirty="0"/>
          </a:p>
        </p:txBody>
      </p:sp>
      <p:sp>
        <p:nvSpPr>
          <p:cNvPr id="8" name="A1|rise|col0"/>
          <p:cNvSpPr txBox="1"/>
          <p:nvPr/>
        </p:nvSpPr>
        <p:spPr>
          <a:xfrm>
            <a:off x="9906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800" dirty="0"/>
          </a:p>
        </p:txBody>
      </p:sp>
      <p:sp>
        <p:nvSpPr>
          <p:cNvPr id="9" name="A1|rise|col0"/>
          <p:cNvSpPr txBox="1"/>
          <p:nvPr/>
        </p:nvSpPr>
        <p:spPr>
          <a:xfrm>
            <a:off x="9906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200" dirty="0"/>
          </a:p>
        </p:txBody>
      </p:sp>
      <p:sp>
        <p:nvSpPr>
          <p:cNvPr id="10" name="A1|rise|col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1" name="A1|rise|col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2" name="A1|rise|col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[Exemplo de cada função no dia a dia da Mônica]</a:t>
            </a:r>
            <a:endParaRPr lang="en-US" sz="1250" dirty="0"/>
          </a:p>
        </p:txBody>
      </p:sp>
      <p:sp>
        <p:nvSpPr>
          <p:cNvPr id="13" name="A2|rise|col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2|rise|col1"/>
          <p:cNvSpPr txBox="1"/>
          <p:nvPr/>
        </p:nvSpPr>
        <p:spPr>
          <a:xfrm>
            <a:off x="45085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1100" dirty="0"/>
          </a:p>
        </p:txBody>
      </p:sp>
      <p:sp>
        <p:nvSpPr>
          <p:cNvPr id="15" name="A2|rise|col1"/>
          <p:cNvSpPr txBox="1"/>
          <p:nvPr/>
        </p:nvSpPr>
        <p:spPr>
          <a:xfrm>
            <a:off x="45085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800" dirty="0"/>
          </a:p>
        </p:txBody>
      </p:sp>
      <p:sp>
        <p:nvSpPr>
          <p:cNvPr id="16" name="A2|rise|col1"/>
          <p:cNvSpPr txBox="1"/>
          <p:nvPr/>
        </p:nvSpPr>
        <p:spPr>
          <a:xfrm>
            <a:off x="45085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perturbações, distribuidor de recursos, negociador</a:t>
            </a:r>
            <a:endParaRPr lang="en-US" sz="1200" dirty="0"/>
          </a:p>
        </p:txBody>
      </p:sp>
      <p:sp>
        <p:nvSpPr>
          <p:cNvPr id="17" name="A2|rise|col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8" name="A2|rise|col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9" name="A2|rise|col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mais visíveis + exemplo]</a:t>
            </a:r>
            <a:endParaRPr lang="en-US" sz="1250" dirty="0"/>
          </a:p>
        </p:txBody>
      </p:sp>
      <p:sp>
        <p:nvSpPr>
          <p:cNvPr id="20" name="A3|rise|col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rise|col2"/>
          <p:cNvSpPr txBox="1"/>
          <p:nvPr/>
        </p:nvSpPr>
        <p:spPr>
          <a:xfrm>
            <a:off x="80264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1100" dirty="0"/>
          </a:p>
        </p:txBody>
      </p:sp>
      <p:sp>
        <p:nvSpPr>
          <p:cNvPr id="22" name="A3|rise|col2"/>
          <p:cNvSpPr txBox="1"/>
          <p:nvPr/>
        </p:nvSpPr>
        <p:spPr>
          <a:xfrm>
            <a:off x="80264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800" dirty="0"/>
          </a:p>
        </p:txBody>
      </p:sp>
      <p:sp>
        <p:nvSpPr>
          <p:cNvPr id="23" name="A3|rise|col2"/>
          <p:cNvSpPr txBox="1"/>
          <p:nvPr/>
        </p:nvSpPr>
        <p:spPr>
          <a:xfrm>
            <a:off x="80264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 da área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e através de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a organização como um todo</a:t>
            </a:r>
            <a:endParaRPr lang="en-US" sz="1200" dirty="0"/>
          </a:p>
        </p:txBody>
      </p:sp>
      <p:sp>
        <p:nvSpPr>
          <p:cNvPr id="24" name="A3|rise|col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3|rise|col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6" name="A3|rise|col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[Competências mais usadas + porquê]</a:t>
            </a:r>
            <a:endParaRPr lang="en-US" sz="1250" dirty="0"/>
          </a:p>
        </p:txBody>
      </p:sp>
      <p:sp>
        <p:nvSpPr>
          <p:cNvPr id="27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rise|desafio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desafio0"/>
          <p:cNvSpPr/>
          <p:nvPr/>
        </p:nvSpPr>
        <p:spPr>
          <a:xfrm>
            <a:off x="990600" y="1600200"/>
            <a:ext cx="279400" cy="2794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8" name="A1|rise|desafio0"/>
          <p:cNvSpPr/>
          <p:nvPr/>
        </p:nvSpPr>
        <p:spPr>
          <a:xfrm>
            <a:off x="1155700" y="1562100"/>
            <a:ext cx="279400" cy="2794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9" name="A1|rise|desafio0"/>
          <p:cNvSpPr/>
          <p:nvPr/>
        </p:nvSpPr>
        <p:spPr>
          <a:xfrm>
            <a:off x="1079500" y="1727200"/>
            <a:ext cx="279400" cy="279400"/>
          </a:xfrm>
          <a:prstGeom prst="ellipse">
            <a:avLst/>
          </a:prstGeom>
          <a:solidFill>
            <a:srgbClr val="06142F"/>
          </a:solidFill>
          <a:ln w="12700">
            <a:solidFill>
              <a:srgbClr val="8FB0EE"/>
            </a:solidFill>
            <a:prstDash val="solid"/>
          </a:ln>
        </p:spPr>
      </p:sp>
      <p:sp>
        <p:nvSpPr>
          <p:cNvPr id="10" name="A1|rise|desafio0"/>
          <p:cNvSpPr txBox="1"/>
          <p:nvPr/>
        </p:nvSpPr>
        <p:spPr>
          <a:xfrm>
            <a:off x="9906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600" dirty="0"/>
          </a:p>
        </p:txBody>
      </p:sp>
      <p:sp>
        <p:nvSpPr>
          <p:cNvPr id="11" name="A1|rise|desafio0"/>
          <p:cNvSpPr txBox="1"/>
          <p:nvPr/>
        </p:nvSpPr>
        <p:spPr>
          <a:xfrm>
            <a:off x="9906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200" dirty="0"/>
          </a:p>
        </p:txBody>
      </p:sp>
      <p:sp>
        <p:nvSpPr>
          <p:cNvPr id="12" name="A1|rise|desafio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3" name="A1|rise|desafio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4" name="A1|rise|desafio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da Nata Lisboa na gestão da equipa]</a:t>
            </a:r>
            <a:endParaRPr lang="en-US" sz="1250" dirty="0"/>
          </a:p>
        </p:txBody>
      </p:sp>
      <p:sp>
        <p:nvSpPr>
          <p:cNvPr id="15" name="A2|rise|desafio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2|rise|desafio1"/>
          <p:cNvSpPr/>
          <p:nvPr/>
        </p:nvSpPr>
        <p:spPr>
          <a:xfrm>
            <a:off x="4508500" y="1562100"/>
            <a:ext cx="431800" cy="4318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17" name="A2|rise|desafio1"/>
          <p:cNvSpPr/>
          <p:nvPr/>
        </p:nvSpPr>
        <p:spPr>
          <a:xfrm>
            <a:off x="4635500" y="1562100"/>
            <a:ext cx="177800" cy="4318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8" name="A2|rise|desafio1"/>
          <p:cNvSpPr/>
          <p:nvPr/>
        </p:nvSpPr>
        <p:spPr>
          <a:xfrm>
            <a:off x="4508500" y="1778000"/>
            <a:ext cx="4318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9" name="A2|rise|desafio1"/>
          <p:cNvSpPr txBox="1"/>
          <p:nvPr/>
        </p:nvSpPr>
        <p:spPr>
          <a:xfrm>
            <a:off x="45085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600" dirty="0"/>
          </a:p>
        </p:txBody>
      </p:sp>
      <p:sp>
        <p:nvSpPr>
          <p:cNvPr id="20" name="A2|rise|desafio1"/>
          <p:cNvSpPr txBox="1"/>
          <p:nvPr/>
        </p:nvSpPr>
        <p:spPr>
          <a:xfrm>
            <a:off x="45085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etnocêntrica, policêntrica ou geocêntrica. Exige adaptação a culturas e mercados diferentes.</a:t>
            </a:r>
            <a:endParaRPr lang="en-US" sz="1200" dirty="0"/>
          </a:p>
        </p:txBody>
      </p:sp>
      <p:sp>
        <p:nvSpPr>
          <p:cNvPr id="21" name="A2|rise|desafio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2" name="A2|rise|desafio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3" name="A2|rise|desafio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oportunidade: turismo, mercados externos…]</a:t>
            </a:r>
            <a:endParaRPr lang="en-US" sz="1250" dirty="0"/>
          </a:p>
        </p:txBody>
      </p:sp>
      <p:sp>
        <p:nvSpPr>
          <p:cNvPr id="24" name="A3|rise|desafio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3|rise|desafio2"/>
          <p:cNvSpPr/>
          <p:nvPr/>
        </p:nvSpPr>
        <p:spPr>
          <a:xfrm>
            <a:off x="8064500" y="1600200"/>
            <a:ext cx="355600" cy="355600"/>
          </a:xfrm>
          <a:prstGeom prst="roundRect">
            <a:avLst>
              <a:gd name="adj" fmla="val 30857"/>
            </a:avLst>
          </a:prstGeom>
          <a:solidFill>
            <a:srgbClr val="8FB0EE"/>
          </a:solidFill>
          <a:ln/>
        </p:spPr>
      </p:sp>
      <p:sp>
        <p:nvSpPr>
          <p:cNvPr id="26" name="A3|rise|desafio2"/>
          <p:cNvSpPr/>
          <p:nvPr/>
        </p:nvSpPr>
        <p:spPr>
          <a:xfrm>
            <a:off x="8153400" y="1689100"/>
            <a:ext cx="177800" cy="17780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7" name="A3|rise|desafio2"/>
          <p:cNvSpPr/>
          <p:nvPr/>
        </p:nvSpPr>
        <p:spPr>
          <a:xfrm>
            <a:off x="81280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8" name="A3|rise|desafio2"/>
          <p:cNvSpPr/>
          <p:nvPr/>
        </p:nvSpPr>
        <p:spPr>
          <a:xfrm>
            <a:off x="81280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9" name="A3|rise|desafio2"/>
          <p:cNvSpPr/>
          <p:nvPr/>
        </p:nvSpPr>
        <p:spPr>
          <a:xfrm>
            <a:off x="82169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0" name="A3|rise|desafio2"/>
          <p:cNvSpPr/>
          <p:nvPr/>
        </p:nvSpPr>
        <p:spPr>
          <a:xfrm>
            <a:off x="82169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1" name="A3|rise|desafio2"/>
          <p:cNvSpPr/>
          <p:nvPr/>
        </p:nvSpPr>
        <p:spPr>
          <a:xfrm>
            <a:off x="83058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2" name="A3|rise|desafio2"/>
          <p:cNvSpPr/>
          <p:nvPr/>
        </p:nvSpPr>
        <p:spPr>
          <a:xfrm>
            <a:off x="83058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3" name="A3|rise|desafio2"/>
          <p:cNvSpPr txBox="1"/>
          <p:nvPr/>
        </p:nvSpPr>
        <p:spPr>
          <a:xfrm>
            <a:off x="80264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600" dirty="0"/>
          </a:p>
        </p:txBody>
      </p:sp>
      <p:sp>
        <p:nvSpPr>
          <p:cNvPr id="34" name="A3|rise|desafio2"/>
          <p:cNvSpPr txBox="1"/>
          <p:nvPr/>
        </p:nvSpPr>
        <p:spPr>
          <a:xfrm>
            <a:off x="80264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pagamentos, redes sociais.</a:t>
            </a:r>
            <a:endParaRPr lang="en-US" sz="1200" dirty="0"/>
          </a:p>
        </p:txBody>
      </p:sp>
      <p:sp>
        <p:nvSpPr>
          <p:cNvPr id="35" name="A3|rise|desafio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3|rise|desafio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3|rise|desafio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resposta da Nata Lisboa]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diversidade,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409700"/>
            <a:ext cx="6731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[(data de acesso). Título da página. URL]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[Entrevista realizada pelo grupo, dia/mês]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[nome]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estrutura e design dos slides]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2026-10-05T07:52:32Z</dcterms:created>
  <dcterms:modified xsi:type="dcterms:W3CDTF">2026-10-05T07:52:32Z</dcterms:modified>
</cp:coreProperties>
</file>