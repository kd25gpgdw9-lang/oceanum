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a8704ed-6edc-ec04-2187-c7e03d22ed39}">
          <p14:sldIdLst>
            <p14:sldId id="256"/>
            <p14:sldId id="257"/>
            <p14:sldId id="258"/>
            <p14:sldId id="259"/>
          </p14:sldIdLst>
        </p14:section>
        <p14:section name="Caracterização e Tópico 1" id="{eb8a5721-5d09-ea79-2553-e8b3e11e7ea1}">
          <p14:sldIdLst>
            <p14:sldId id="260"/>
            <p14:sldId id="261"/>
            <p14:sldId id="262"/>
          </p14:sldIdLst>
        </p14:section>
        <p14:section name="Tópico 2 · História e abordagem sistémica" id="{01fd2aa3-6caf-5356-f5cb-6747a79a0bd6}">
          <p14:sldIdLst>
            <p14:sldId id="263"/>
            <p14:sldId id="264"/>
          </p14:sldIdLst>
        </p14:section>
        <p14:section name="Ambiente externo" id="{e2b4543b-7818-a8c5-6069-6ebdb0f9d383}">
          <p14:sldIdLst>
            <p14:sldId id="265"/>
            <p14:sldId id="266"/>
            <p14:sldId id="267"/>
          </p14:sldIdLst>
        </p14:section>
        <p14:section name="Cultura organizacional" id="{02f22e60-9946-8e22-111f-bf12a9fa7e97}">
          <p14:sldIdLst>
            <p14:sldId id="268"/>
            <p14:sldId id="269"/>
          </p14:sldIdLst>
        </p14:section>
        <p14:section name="Os gestores" id="{cbc6f70c-fdf1-0cab-4e5e-f322002efd38}">
          <p14:sldIdLst>
            <p14:sldId id="270"/>
            <p14:sldId id="271"/>
          </p14:sldIdLst>
        </p14:section>
        <p14:section name="Desafios" id="{606ee38e-26fc-65e2-d4a3-cf24c2a287d9}">
          <p14:sldIdLst>
            <p14:sldId id="272"/>
          </p14:sldIdLst>
        </p14:section>
        <p14:section name="Fecho" id="{8d2da3af-46cd-ab40-aded-5d07834a9a8e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(≈30 s)
Apresentar a organização: Nata Lisboa — [setor, ano de fundação, localização]. Explicar que a caracterização se baseia na teoria dos Tópicos 1 e 2 e numa entrevista à Mônica Cardoso, gerente operacional.
Substituir o quadro azul pelo logótipo ou por uma foto da fachada (Inserir &gt; Imagem).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(≈20 s)
Cada membro apresenta-se rapidamente. Explicar porque escolhemos a Nata Lisboa e como chegámos à entrevistada. Para as fotos: clicar no círculo e usar Inserir &gt; Imagem, ou apagar o texto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(≈20 s)
Nove temas, que cobrem as alíneas a) a g) do enunciado e os conteúdos dos Tópicos 1 e 2. Em cada tema seguimos sempre a mesma ordem: ① em geral (a teoria), ② na Nata Lisboa (a organização) e ③ na prática (citações e exemplos da Mônica, ao clique).
No modo de apresentação, clicar num cartão salta para o 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ENTREVISTA (≈45 s)
Quem foi entrevistada: Mônica Cardoso, gerente operacional da Nata Lisboa. Indicar data, duração e modalidade. Explicar que o guião foi organizado em blocos que correspondem aos temas da apresentação.
Clique: aparece a frase marcante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CARACTERIZAÇÃO (≈1 min)
EM GERAL: antes de aplicar a teoria, caracterizamos a organização: identidade, atividade, dimensão e modelo de negócio.
NA NATA LISBOA: os factos vêm do site oficial (consultado a 05/10/2026). Completar com o ano de fundação, a loja onde a Mônica trabalha e o n.º de colaboradores.
NA PRÁTICA: clique para mostrar a citação da Mônica.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É GERIR (≈1 min)
EM GERAL: gestão = coordenar o trabalho de outros com eficiência (fazer bem, poupar recursos) e eficácia (fazer o que leva aos objetivos). Gestor ≠ operacional. A gestão é universal.
NA NATA LISBOA: a promessa de uma experiência igual em todas as lojas obriga a ser eficiente e eficaz ao mesmo tempo.
NA PRÁTICA: clique para a citação da Mônica.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CARACTERÍSTICAS (≈1 min)
EM GERAL: objetivo distinto, pessoas e estrutura deliberada (Robbins &amp; Coulter, Tópico 1).
NA NATA LISBOA: ligar cada característica a um dado concreto — missão, equipa, hierarquia.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HISTÓRIA DA GESTÃO (≈1 min)
EM GERAL: quatro grandes abordagens — clássica (Taylor, Fayol, Weber), comportamental (Hawthorne, Mayo), quantitativa e contemporânea (sistémica e contingencial).
NA NATA LISBOA: mostrar traços de cada abordagem — padronização (clássica), motivação (comportamental), números (quantitativa), adaptação a cada mercado (contingencial).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SISTEMA ABERTO (≈1 min)
EM GERAL: inputs → processo → outputs, com feedback; a organização depende do ambiente e as suas partes são interdependentes.
NA NATA LISBOA: substituir os [Ex.] pelo que a Mônica confirmou. Outputs e canais de venda vêm do site.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AMBIENTE EXTERNO (≈45 s)
EM GERAL: ambiente de tarefa (clientes, fornecedores, concorrentes, grupos de pressão) e ambiente geral (económico, político-legal, sociocultural, demográfico, tecnológico, global).
NA NATA LISBOA: factos do site + as forças que a Mônica destacou. O detalhe força a força está no slide seguinte.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FORÇAS NA NATA LISBOA (≈1 min)
Teoria no slide anterior; aqui fica o detalhe de cada força na Nata Lisboa. Os factos marcados com ■ vêm do site oficial; os textos [Ex.: …] são sugestões a confirmar com a entrevista.
Destacar as 2 ou 3 forças com mais impacto, segundo a Mônica.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GRAU DE COMPLEXIDADE (≈45 s)
EM GERAL: dois eixos — grau de mudança (estável ↔ dinâmico) e grau de complexidade (poucos ↔ muitos componentes). Da combinação resultam 4 células, da incerteza mais baixa (1) à mais elevada (4).
NA NATA LISBOA: indicar em que célula fica e justificar com as forças do slide anterior. Sugestão: pintar a célula escolhida de laranja.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CULTURA — 6 DIMENSÕES (≈1 min 15 s)
EM GERAL: cultura organizacional = valores, crenças e práticas partilhadas. Modelo de 6 dimensões (Hofstede et al., 1990):
D1 Processos ↔ Resultados: foco em "como" se faz vs. no resultado.
D2 Colaborador ↔ Tarefa: preocupação com as pessoas vs. apenas com o trabalho feito.
D3 Paroquial ↔ Profissional: identidade ligada à empresa vs. à profissão.
D4 Sistema aberto ↔ fechado: facilidade de integrar pessoas novas.
D5 Controlo flexível ↔ apertado: rigor com custos, horários, regras.
D6 Normativa ↔ Pragmática: seguir regras vs. orientar-se para o cliente.
NA NATA LISBOA: posição (●) e evidência de cada dimensão, com base no que a Mônica disse.
Se o PDF do Tópico 2 usar outras dimensões, trocar os nomes dos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SE APRENDE A CULTURA (≈45 s)
EM GERAL: histórias, rituais, símbolos materiais e linguagem (Robbins &amp; Coulter). A socialização é o momento-chave. Cultura forte = valores intensamente partilhados.
NA NATA LISBOA: exemplos concretos de cada forma.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NÍVEIS DE GESTÃO (≈45 s)
EM GERAL: gestão de topo (decisões estratégicas), gestão intermédia (planos táticos, coordena gestores) e gestão de primeira linha (supervisiona o trabalho operacional). Na base estão os operacionais, que não gerem ninguém.
NA NATA LISBOA: situar a Mônica Cardoso — como gerente operacional, provavelmente gestão intermédia (confirmar se gere outros gestores ou diretamente a equipa).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FUNÇÕES, PAPÉIS E COMPETÊNCIAS (≈1 min 15 s)
EM GERAL: funções (Fayol: planear, organizar, liderar, controlar); papéis (Mintzberg: interpessoais, informacionais, decisionais — 10 no total); competências (Katz: técnicas, humanas, conceptuais).
NA NATA LISBOA: um exemplo do trabalho da Mônica para cada função.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DESAFIOS DA GESTÃO (≈1 min)
EM GERAL: diversidade (superficial e profunda), globalização (atitudes etnocêntrica, policêntrica, geocêntrica) e tecnologia.
NA NATA LISBOA: a presença internacional e o delivery vêm do site; completar com a realidade da loja.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CONCLUSÕES (≈45 s)
Três ideias-chave, curtas. Terminar com a ligação teoria × prática e com uma frase da entrevista (clique).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
Confirmar a edição do Robbins &amp; Coulter usada na UC e completar o site da Nata Lisboa e a data da entrevista. Declarar o uso de IA conforme as regras da 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207000" y="6286500"/>
            <a:ext cx="546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(89135) · NATA LISBOA · FOLHA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8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3.xml"/><Relationship Id="rId8" Type="http://schemas.openxmlformats.org/officeDocument/2006/relationships/slide" Target="slide15.xml"/><Relationship Id="rId9" Type="http://schemas.openxmlformats.org/officeDocument/2006/relationships/slide" Target="slide17.xml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6858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· 89135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7" name="A2|wipeL|regua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8" name="A3|fade|kicker"/>
          <p:cNvSpPr txBox="1"/>
          <p:nvPr/>
        </p:nvSpPr>
        <p:spPr>
          <a:xfrm>
            <a:off x="812800" y="1905000"/>
            <a:ext cx="635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CARACTERIZAÇÃO DE UMA ORGANIZAÇÃO</a:t>
            </a:r>
            <a:endParaRPr lang="en-US" sz="1100" dirty="0"/>
          </a:p>
        </p:txBody>
      </p:sp>
      <p:sp>
        <p:nvSpPr>
          <p:cNvPr id="9" name="A3|rise|titulo"/>
          <p:cNvSpPr txBox="1"/>
          <p:nvPr/>
        </p:nvSpPr>
        <p:spPr>
          <a:xfrm>
            <a:off x="812800" y="2159000"/>
            <a:ext cx="635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8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8000" dirty="0"/>
          </a:p>
        </p:txBody>
      </p:sp>
      <p:sp>
        <p:nvSpPr>
          <p:cNvPr id="10" name="A4|wipeL|sublinhado"/>
          <p:cNvSpPr/>
          <p:nvPr/>
        </p:nvSpPr>
        <p:spPr>
          <a:xfrm>
            <a:off x="812800" y="43815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31750">
            <a:solidFill>
              <a:srgbClr val="F5822A"/>
            </a:solidFill>
            <a:prstDash val="dash"/>
          </a:ln>
        </p:spPr>
      </p:sp>
      <p:sp>
        <p:nvSpPr>
          <p:cNvPr id="11" name="A4|fade|subtitulo"/>
          <p:cNvSpPr txBox="1"/>
          <p:nvPr/>
        </p:nvSpPr>
        <p:spPr>
          <a:xfrm>
            <a:off x="812800" y="45339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a </a:t>
            </a:r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Gerente Operacional</a:t>
            </a:r>
            <a:endParaRPr lang="en-US" sz="1500" dirty="0"/>
          </a:p>
        </p:txBody>
      </p:sp>
      <p:sp>
        <p:nvSpPr>
          <p:cNvPr id="12" name="A5|zoom|polaroid"/>
          <p:cNvSpPr/>
          <p:nvPr/>
        </p:nvSpPr>
        <p:spPr>
          <a:xfrm>
            <a:off x="8255000" y="2095500"/>
            <a:ext cx="2794000" cy="2413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</p:sp>
      <p:sp>
        <p:nvSpPr>
          <p:cNvPr id="13" name="A5|zoom|polaroid"/>
          <p:cNvSpPr/>
          <p:nvPr/>
        </p:nvSpPr>
        <p:spPr>
          <a:xfrm>
            <a:off x="8382000" y="2222500"/>
            <a:ext cx="2540000" cy="1714500"/>
          </a:xfrm>
          <a:prstGeom prst="rect">
            <a:avLst/>
          </a:prstGeom>
          <a:solidFill>
            <a:srgbClr val="1E3F86"/>
          </a:solidFill>
          <a:ln/>
        </p:spPr>
      </p:sp>
      <p:pic>
        <p:nvPicPr>
          <p:cNvPr id="14" name="A6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0950" y="2286000"/>
            <a:ext cx="1555750" cy="1587500"/>
          </a:xfrm>
          <a:prstGeom prst="rect">
            <a:avLst/>
          </a:prstGeom>
        </p:spPr>
      </p:pic>
      <p:sp>
        <p:nvSpPr>
          <p:cNvPr id="15" name="A5|zoom|polaroid"/>
          <p:cNvSpPr txBox="1"/>
          <p:nvPr/>
        </p:nvSpPr>
        <p:spPr>
          <a:xfrm>
            <a:off x="8255000" y="4000500"/>
            <a:ext cx="279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3341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Nata Lisboa</a:t>
            </a:r>
            <a:endParaRPr lang="en-US" sz="1700" dirty="0"/>
          </a:p>
        </p:txBody>
      </p:sp>
      <p:sp>
        <p:nvSpPr>
          <p:cNvPr id="16" name="A6|rise|ficha"/>
          <p:cNvSpPr/>
          <p:nvPr/>
        </p:nvSpPr>
        <p:spPr>
          <a:xfrm>
            <a:off x="812800" y="5080000"/>
            <a:ext cx="7366000" cy="711200"/>
          </a:xfrm>
          <a:prstGeom prst="rect">
            <a:avLst/>
          </a:prstGeom>
          <a:solidFill>
            <a:srgbClr val="0F2860"/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17" name="A6|rise|ficha"/>
          <p:cNvSpPr txBox="1"/>
          <p:nvPr/>
        </p:nvSpPr>
        <p:spPr>
          <a:xfrm>
            <a:off x="952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</a:t>
            </a:r>
            <a:endParaRPr lang="en-US" sz="1100" dirty="0"/>
          </a:p>
        </p:txBody>
      </p:sp>
      <p:sp>
        <p:nvSpPr>
          <p:cNvPr id="18" name="A6|rise|ficha"/>
          <p:cNvSpPr txBox="1"/>
          <p:nvPr/>
        </p:nvSpPr>
        <p:spPr>
          <a:xfrm>
            <a:off x="952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Contabilidade</a:t>
            </a:r>
            <a:endParaRPr lang="en-US" sz="1300" dirty="0"/>
          </a:p>
        </p:txBody>
      </p:sp>
      <p:sp>
        <p:nvSpPr>
          <p:cNvPr id="19" name="A6|rise|ficha"/>
          <p:cNvSpPr/>
          <p:nvPr/>
        </p:nvSpPr>
        <p:spPr>
          <a:xfrm>
            <a:off x="2400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0" name="A6|rise|ficha"/>
          <p:cNvSpPr txBox="1"/>
          <p:nvPr/>
        </p:nvSpPr>
        <p:spPr>
          <a:xfrm>
            <a:off x="2540000" y="5194300"/>
            <a:ext cx="88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</a:t>
            </a:r>
            <a:endParaRPr lang="en-US" sz="1100" dirty="0"/>
          </a:p>
        </p:txBody>
      </p:sp>
      <p:sp>
        <p:nvSpPr>
          <p:cNvPr id="21" name="A6|rise|ficha"/>
          <p:cNvSpPr txBox="1"/>
          <p:nvPr/>
        </p:nvSpPr>
        <p:spPr>
          <a:xfrm>
            <a:off x="2540000" y="54356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8</a:t>
            </a:r>
            <a:endParaRPr lang="en-US" sz="1300" dirty="0"/>
          </a:p>
        </p:txBody>
      </p:sp>
      <p:sp>
        <p:nvSpPr>
          <p:cNvPr id="22" name="A6|rise|ficha"/>
          <p:cNvSpPr/>
          <p:nvPr/>
        </p:nvSpPr>
        <p:spPr>
          <a:xfrm>
            <a:off x="34798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3" name="A6|rise|ficha"/>
          <p:cNvSpPr txBox="1"/>
          <p:nvPr/>
        </p:nvSpPr>
        <p:spPr>
          <a:xfrm>
            <a:off x="3619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DOCENTE</a:t>
            </a:r>
            <a:endParaRPr lang="en-US" sz="1100" dirty="0"/>
          </a:p>
        </p:txBody>
      </p:sp>
      <p:sp>
        <p:nvSpPr>
          <p:cNvPr id="24" name="A6|rise|ficha"/>
          <p:cNvSpPr txBox="1"/>
          <p:nvPr/>
        </p:nvSpPr>
        <p:spPr>
          <a:xfrm>
            <a:off x="3619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Hugo de Almeida</a:t>
            </a:r>
            <a:endParaRPr lang="en-US" sz="1300" dirty="0"/>
          </a:p>
        </p:txBody>
      </p:sp>
      <p:sp>
        <p:nvSpPr>
          <p:cNvPr id="25" name="A6|rise|ficha"/>
          <p:cNvSpPr/>
          <p:nvPr/>
        </p:nvSpPr>
        <p:spPr>
          <a:xfrm>
            <a:off x="5067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6" name="A6|rise|ficha"/>
          <p:cNvSpPr txBox="1"/>
          <p:nvPr/>
        </p:nvSpPr>
        <p:spPr>
          <a:xfrm>
            <a:off x="5207000" y="519430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INSTITUIÇÃO</a:t>
            </a:r>
            <a:endParaRPr lang="en-US" sz="1100" dirty="0"/>
          </a:p>
        </p:txBody>
      </p:sp>
      <p:sp>
        <p:nvSpPr>
          <p:cNvPr id="27" name="A6|rise|ficha"/>
          <p:cNvSpPr txBox="1"/>
          <p:nvPr/>
        </p:nvSpPr>
        <p:spPr>
          <a:xfrm>
            <a:off x="5207000" y="54356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ISCA · Univ. Aveiro · 2026/27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QUEM SOMOS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</a:t>
            </a:r>
            <a:endParaRPr lang="en-US" sz="3600" dirty="0"/>
          </a:p>
        </p:txBody>
      </p:sp>
      <p:sp>
        <p:nvSpPr>
          <p:cNvPr id="6" name="A1|rise|membro1"/>
          <p:cNvSpPr/>
          <p:nvPr/>
        </p:nvSpPr>
        <p:spPr>
          <a:xfrm>
            <a:off x="812800" y="1498600"/>
            <a:ext cx="5207000" cy="1651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pic>
        <p:nvPicPr>
          <p:cNvPr id="7" name="A1|rise|membro1" descr="Foto de Ryan Magalhã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752600"/>
            <a:ext cx="1143000" cy="1143000"/>
          </a:xfrm>
          <a:prstGeom prst="rect">
            <a:avLst/>
          </a:prstGeom>
        </p:spPr>
      </p:pic>
      <p:sp>
        <p:nvSpPr>
          <p:cNvPr id="8" name="A1|rise|membro1"/>
          <p:cNvSpPr/>
          <p:nvPr/>
        </p:nvSpPr>
        <p:spPr>
          <a:xfrm>
            <a:off x="1066800" y="1752600"/>
            <a:ext cx="1143000" cy="1143000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5822A"/>
            </a:solidFill>
            <a:prstDash val="solid"/>
          </a:ln>
        </p:spPr>
      </p:sp>
      <p:sp>
        <p:nvSpPr>
          <p:cNvPr id="9" name="A1|rise|membro1"/>
          <p:cNvSpPr txBox="1"/>
          <p:nvPr/>
        </p:nvSpPr>
        <p:spPr>
          <a:xfrm>
            <a:off x="2463800" y="1993900"/>
            <a:ext cx="330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Ryan Magalhães</a:t>
            </a:r>
            <a:endParaRPr lang="en-US" sz="2200" dirty="0"/>
          </a:p>
        </p:txBody>
      </p:sp>
      <p:sp>
        <p:nvSpPr>
          <p:cNvPr id="10" name="A1|rise|membro1"/>
          <p:cNvSpPr txBox="1"/>
          <p:nvPr/>
        </p:nvSpPr>
        <p:spPr>
          <a:xfrm>
            <a:off x="2463800" y="2451100"/>
            <a:ext cx="330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</a:t>
            </a:r>
            <a:pPr algn="l" indent="0" marL="0">
              <a:buNone/>
            </a:pPr>
            <a:r>
              <a:rPr lang="en-US" sz="13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137142</a:t>
            </a:r>
            <a:endParaRPr lang="en-US" sz="1300" dirty="0"/>
          </a:p>
        </p:txBody>
      </p:sp>
      <p:sp>
        <p:nvSpPr>
          <p:cNvPr id="11" name="A2|rise|membro2"/>
          <p:cNvSpPr/>
          <p:nvPr/>
        </p:nvSpPr>
        <p:spPr>
          <a:xfrm>
            <a:off x="6172200" y="1498600"/>
            <a:ext cx="5207000" cy="1651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pic>
        <p:nvPicPr>
          <p:cNvPr id="12" name="A2|rise|membro2" descr="Foto de Guilherme Barrei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200" y="1752600"/>
            <a:ext cx="1143000" cy="1143000"/>
          </a:xfrm>
          <a:prstGeom prst="rect">
            <a:avLst/>
          </a:prstGeom>
        </p:spPr>
      </p:pic>
      <p:sp>
        <p:nvSpPr>
          <p:cNvPr id="13" name="A2|rise|membro2"/>
          <p:cNvSpPr/>
          <p:nvPr/>
        </p:nvSpPr>
        <p:spPr>
          <a:xfrm>
            <a:off x="6426200" y="1752600"/>
            <a:ext cx="1143000" cy="1143000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5822A"/>
            </a:solidFill>
            <a:prstDash val="solid"/>
          </a:ln>
        </p:spPr>
      </p:sp>
      <p:sp>
        <p:nvSpPr>
          <p:cNvPr id="14" name="A2|rise|membro2"/>
          <p:cNvSpPr txBox="1"/>
          <p:nvPr/>
        </p:nvSpPr>
        <p:spPr>
          <a:xfrm>
            <a:off x="7823200" y="1993900"/>
            <a:ext cx="330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Guilherme Barreiro</a:t>
            </a:r>
            <a:endParaRPr lang="en-US" sz="2200" dirty="0"/>
          </a:p>
        </p:txBody>
      </p:sp>
      <p:sp>
        <p:nvSpPr>
          <p:cNvPr id="15" name="A2|rise|membro2"/>
          <p:cNvSpPr txBox="1"/>
          <p:nvPr/>
        </p:nvSpPr>
        <p:spPr>
          <a:xfrm>
            <a:off x="7823200" y="2451100"/>
            <a:ext cx="330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</a:t>
            </a:r>
            <a:pPr algn="l" indent="0" marL="0">
              <a:buNone/>
            </a:pPr>
            <a:r>
              <a:rPr lang="en-US" sz="13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140385</a:t>
            </a:r>
            <a:endParaRPr lang="en-US" sz="1300" dirty="0"/>
          </a:p>
        </p:txBody>
      </p:sp>
      <p:sp>
        <p:nvSpPr>
          <p:cNvPr id="16" name="A3|rise|escolha"/>
          <p:cNvSpPr/>
          <p:nvPr/>
        </p:nvSpPr>
        <p:spPr>
          <a:xfrm>
            <a:off x="812800" y="3365500"/>
            <a:ext cx="10566400" cy="1206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escolha"/>
          <p:cNvSpPr txBox="1"/>
          <p:nvPr/>
        </p:nvSpPr>
        <p:spPr>
          <a:xfrm>
            <a:off x="990600" y="35306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ESCOLHEMOS A NATA LISBOA</a:t>
            </a:r>
            <a:endParaRPr lang="en-US" sz="1100" dirty="0"/>
          </a:p>
        </p:txBody>
      </p:sp>
      <p:sp>
        <p:nvSpPr>
          <p:cNvPr id="18" name="A3|rise|escolha"/>
          <p:cNvSpPr txBox="1"/>
          <p:nvPr/>
        </p:nvSpPr>
        <p:spPr>
          <a:xfrm>
            <a:off x="990600" y="3835400"/>
            <a:ext cx="1016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membros do grupo trabalha na Nata Lisboa, o que nos deu contacto direto com a gerente operacional, Mônica Cardoso.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ROTEIRO · EM CADA TEMA: ① EM GERAL  ② NA NATA LISBOA  ③ NA PRÁTICA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</a:t>
            </a:r>
            <a:endParaRPr lang="en-US" sz="3600" dirty="0"/>
          </a:p>
        </p:txBody>
      </p:sp>
      <p:sp>
        <p:nvSpPr>
          <p:cNvPr id="6" name="A1|rise|item0"/>
          <p:cNvSpPr/>
          <p:nvPr/>
        </p:nvSpPr>
        <p:spPr>
          <a:xfrm>
            <a:off x="812800" y="14097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item0"/>
          <p:cNvSpPr txBox="1"/>
          <p:nvPr/>
        </p:nvSpPr>
        <p:spPr>
          <a:xfrm>
            <a:off x="965200" y="14986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A1|rise|item0"/>
          <p:cNvSpPr txBox="1"/>
          <p:nvPr/>
        </p:nvSpPr>
        <p:spPr>
          <a:xfrm>
            <a:off x="1574800" y="15748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entrevista</a:t>
            </a:r>
            <a:endParaRPr lang="en-US" sz="1500" dirty="0"/>
          </a:p>
        </p:txBody>
      </p:sp>
      <p:sp>
        <p:nvSpPr>
          <p:cNvPr id="9" name="A1|rise|item0"/>
          <p:cNvSpPr txBox="1"/>
          <p:nvPr/>
        </p:nvSpPr>
        <p:spPr>
          <a:xfrm>
            <a:off x="1574800" y="19177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Mônica Cardoso, como decorreu a conversa e como tratámos as respostas  →</a:t>
            </a:r>
            <a:endParaRPr lang="en-US" sz="1150" dirty="0"/>
          </a:p>
        </p:txBody>
      </p:sp>
      <p:sp>
        <p:nvSpPr>
          <p:cNvPr id="10" name="A1|rise|item0">
            <a:hlinkClick r:id="rId1" tooltip="Ir para este tema" action="ppaction://hlinksldjump"/>
          </p:cNvPr>
          <p:cNvSpPr/>
          <p:nvPr/>
        </p:nvSpPr>
        <p:spPr>
          <a:xfrm>
            <a:off x="812800" y="14097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A2|rise|item1"/>
          <p:cNvSpPr/>
          <p:nvPr/>
        </p:nvSpPr>
        <p:spPr>
          <a:xfrm>
            <a:off x="4368800" y="14097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item1"/>
          <p:cNvSpPr txBox="1"/>
          <p:nvPr/>
        </p:nvSpPr>
        <p:spPr>
          <a:xfrm>
            <a:off x="4521200" y="14986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4200" dirty="0"/>
          </a:p>
        </p:txBody>
      </p:sp>
      <p:sp>
        <p:nvSpPr>
          <p:cNvPr id="13" name="A2|rise|item1"/>
          <p:cNvSpPr txBox="1"/>
          <p:nvPr/>
        </p:nvSpPr>
        <p:spPr>
          <a:xfrm>
            <a:off x="5130800" y="15748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1500" dirty="0"/>
          </a:p>
        </p:txBody>
      </p:sp>
      <p:sp>
        <p:nvSpPr>
          <p:cNvPr id="14" name="A2|rise|item1"/>
          <p:cNvSpPr txBox="1"/>
          <p:nvPr/>
        </p:nvSpPr>
        <p:spPr>
          <a:xfrm>
            <a:off x="5130800" y="19177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Identidade, atividade, dimensão e modelo de negócio da Nata Lisboa  →</a:t>
            </a:r>
            <a:endParaRPr lang="en-US" sz="1150" dirty="0"/>
          </a:p>
        </p:txBody>
      </p:sp>
      <p:sp>
        <p:nvSpPr>
          <p:cNvPr id="15" name="A2|rise|item1">
            <a:hlinkClick r:id="rId2" tooltip="Ir para este tema" action="ppaction://hlinksldjump"/>
          </p:cNvPr>
          <p:cNvSpPr/>
          <p:nvPr/>
        </p:nvSpPr>
        <p:spPr>
          <a:xfrm>
            <a:off x="4368800" y="14097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6" name="A3|rise|item2"/>
          <p:cNvSpPr/>
          <p:nvPr/>
        </p:nvSpPr>
        <p:spPr>
          <a:xfrm>
            <a:off x="7924800" y="14097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item2"/>
          <p:cNvSpPr txBox="1"/>
          <p:nvPr/>
        </p:nvSpPr>
        <p:spPr>
          <a:xfrm>
            <a:off x="8077200" y="14986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4200" dirty="0"/>
          </a:p>
        </p:txBody>
      </p:sp>
      <p:sp>
        <p:nvSpPr>
          <p:cNvPr id="18" name="A3|rise|item2"/>
          <p:cNvSpPr txBox="1"/>
          <p:nvPr/>
        </p:nvSpPr>
        <p:spPr>
          <a:xfrm>
            <a:off x="8686800" y="15748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Gestores e organizações</a:t>
            </a:r>
            <a:endParaRPr lang="en-US" sz="1500" dirty="0"/>
          </a:p>
        </p:txBody>
      </p:sp>
      <p:sp>
        <p:nvSpPr>
          <p:cNvPr id="19" name="A3|rise|item2"/>
          <p:cNvSpPr txBox="1"/>
          <p:nvPr/>
        </p:nvSpPr>
        <p:spPr>
          <a:xfrm>
            <a:off x="8686800" y="19177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gerir, eficiência e eficácia, e as 3 características comuns  →</a:t>
            </a:r>
            <a:endParaRPr lang="en-US" sz="1150" dirty="0"/>
          </a:p>
        </p:txBody>
      </p:sp>
      <p:sp>
        <p:nvSpPr>
          <p:cNvPr id="20" name="A3|rise|item2">
            <a:hlinkClick r:id="rId3" tooltip="Ir para este tema" action="ppaction://hlinksldjump"/>
          </p:cNvPr>
          <p:cNvSpPr/>
          <p:nvPr/>
        </p:nvSpPr>
        <p:spPr>
          <a:xfrm>
            <a:off x="7924800" y="14097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A4|rise|item3"/>
          <p:cNvSpPr/>
          <p:nvPr/>
        </p:nvSpPr>
        <p:spPr>
          <a:xfrm>
            <a:off x="812800" y="29083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item3"/>
          <p:cNvSpPr txBox="1"/>
          <p:nvPr/>
        </p:nvSpPr>
        <p:spPr>
          <a:xfrm>
            <a:off x="965200" y="29972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4200" dirty="0"/>
          </a:p>
        </p:txBody>
      </p:sp>
      <p:sp>
        <p:nvSpPr>
          <p:cNvPr id="23" name="A4|rise|item3"/>
          <p:cNvSpPr txBox="1"/>
          <p:nvPr/>
        </p:nvSpPr>
        <p:spPr>
          <a:xfrm>
            <a:off x="1574800" y="30734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 da gestão</a:t>
            </a:r>
            <a:endParaRPr lang="en-US" sz="1500" dirty="0"/>
          </a:p>
        </p:txBody>
      </p:sp>
      <p:sp>
        <p:nvSpPr>
          <p:cNvPr id="24" name="A4|rise|item3"/>
          <p:cNvSpPr txBox="1"/>
          <p:nvPr/>
        </p:nvSpPr>
        <p:spPr>
          <a:xfrm>
            <a:off x="1574800" y="34163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abordagens clássica e comportamental às contemporâneas  →</a:t>
            </a:r>
            <a:endParaRPr lang="en-US" sz="1150" dirty="0"/>
          </a:p>
        </p:txBody>
      </p:sp>
      <p:sp>
        <p:nvSpPr>
          <p:cNvPr id="25" name="A4|rise|item3">
            <a:hlinkClick r:id="rId4" tooltip="Ir para este tema" action="ppaction://hlinksldjump"/>
          </p:cNvPr>
          <p:cNvSpPr/>
          <p:nvPr/>
        </p:nvSpPr>
        <p:spPr>
          <a:xfrm>
            <a:off x="812800" y="29083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A5|rise|item4"/>
          <p:cNvSpPr/>
          <p:nvPr/>
        </p:nvSpPr>
        <p:spPr>
          <a:xfrm>
            <a:off x="4368800" y="29083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item4"/>
          <p:cNvSpPr txBox="1"/>
          <p:nvPr/>
        </p:nvSpPr>
        <p:spPr>
          <a:xfrm>
            <a:off x="4521200" y="29972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4200" dirty="0"/>
          </a:p>
        </p:txBody>
      </p:sp>
      <p:sp>
        <p:nvSpPr>
          <p:cNvPr id="28" name="A5|rise|item4"/>
          <p:cNvSpPr txBox="1"/>
          <p:nvPr/>
        </p:nvSpPr>
        <p:spPr>
          <a:xfrm>
            <a:off x="5130800" y="30734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Abordagem sistémica</a:t>
            </a:r>
            <a:endParaRPr lang="en-US" sz="1500" dirty="0"/>
          </a:p>
        </p:txBody>
      </p:sp>
      <p:sp>
        <p:nvSpPr>
          <p:cNvPr id="29" name="A5|rise|item4"/>
          <p:cNvSpPr txBox="1"/>
          <p:nvPr/>
        </p:nvSpPr>
        <p:spPr>
          <a:xfrm>
            <a:off x="5130800" y="34163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Nata Lisboa como sistema aberto: inputs, processo, outputs e feedback  →</a:t>
            </a:r>
            <a:endParaRPr lang="en-US" sz="1150" dirty="0"/>
          </a:p>
        </p:txBody>
      </p:sp>
      <p:sp>
        <p:nvSpPr>
          <p:cNvPr id="30" name="A5|rise|item4">
            <a:hlinkClick r:id="rId5" tooltip="Ir para este tema" action="ppaction://hlinksldjump"/>
          </p:cNvPr>
          <p:cNvSpPr/>
          <p:nvPr/>
        </p:nvSpPr>
        <p:spPr>
          <a:xfrm>
            <a:off x="4368800" y="29083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A6|rise|item5"/>
          <p:cNvSpPr/>
          <p:nvPr/>
        </p:nvSpPr>
        <p:spPr>
          <a:xfrm>
            <a:off x="7924800" y="29083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item5"/>
          <p:cNvSpPr txBox="1"/>
          <p:nvPr/>
        </p:nvSpPr>
        <p:spPr>
          <a:xfrm>
            <a:off x="8077200" y="29972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4200" dirty="0"/>
          </a:p>
        </p:txBody>
      </p:sp>
      <p:sp>
        <p:nvSpPr>
          <p:cNvPr id="33" name="A6|rise|item5"/>
          <p:cNvSpPr txBox="1"/>
          <p:nvPr/>
        </p:nvSpPr>
        <p:spPr>
          <a:xfrm>
            <a:off x="8686800" y="30734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externo</a:t>
            </a:r>
            <a:endParaRPr lang="en-US" sz="1500" dirty="0"/>
          </a:p>
        </p:txBody>
      </p:sp>
      <p:sp>
        <p:nvSpPr>
          <p:cNvPr id="34" name="A6|rise|item5"/>
          <p:cNvSpPr txBox="1"/>
          <p:nvPr/>
        </p:nvSpPr>
        <p:spPr>
          <a:xfrm>
            <a:off x="8686800" y="34163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gerais e de tarefa e o grau de complexidade do ambiente  →</a:t>
            </a:r>
            <a:endParaRPr lang="en-US" sz="1150" dirty="0"/>
          </a:p>
        </p:txBody>
      </p:sp>
      <p:sp>
        <p:nvSpPr>
          <p:cNvPr id="35" name="A6|rise|item5">
            <a:hlinkClick r:id="rId6" tooltip="Ir para este tema" action="ppaction://hlinksldjump"/>
          </p:cNvPr>
          <p:cNvSpPr/>
          <p:nvPr/>
        </p:nvSpPr>
        <p:spPr>
          <a:xfrm>
            <a:off x="7924800" y="29083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A7|rise|item6"/>
          <p:cNvSpPr/>
          <p:nvPr/>
        </p:nvSpPr>
        <p:spPr>
          <a:xfrm>
            <a:off x="812800" y="44069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7" name="A7|rise|item6"/>
          <p:cNvSpPr txBox="1"/>
          <p:nvPr/>
        </p:nvSpPr>
        <p:spPr>
          <a:xfrm>
            <a:off x="965200" y="44958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4200" dirty="0"/>
          </a:p>
        </p:txBody>
      </p:sp>
      <p:sp>
        <p:nvSpPr>
          <p:cNvPr id="38" name="A7|rise|item6"/>
          <p:cNvSpPr txBox="1"/>
          <p:nvPr/>
        </p:nvSpPr>
        <p:spPr>
          <a:xfrm>
            <a:off x="1574800" y="45720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 organizacional</a:t>
            </a:r>
            <a:endParaRPr lang="en-US" sz="1500" dirty="0"/>
          </a:p>
        </p:txBody>
      </p:sp>
      <p:sp>
        <p:nvSpPr>
          <p:cNvPr id="39" name="A7|rise|item6"/>
          <p:cNvSpPr txBox="1"/>
          <p:nvPr/>
        </p:nvSpPr>
        <p:spPr>
          <a:xfrm>
            <a:off x="1574800" y="49149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6 dimensões da cultura e como os colaboradores a aprendem  →</a:t>
            </a:r>
            <a:endParaRPr lang="en-US" sz="1150" dirty="0"/>
          </a:p>
        </p:txBody>
      </p:sp>
      <p:sp>
        <p:nvSpPr>
          <p:cNvPr id="40" name="A7|rise|item6">
            <a:hlinkClick r:id="rId7" tooltip="Ir para este tema" action="ppaction://hlinksldjump"/>
          </p:cNvPr>
          <p:cNvSpPr/>
          <p:nvPr/>
        </p:nvSpPr>
        <p:spPr>
          <a:xfrm>
            <a:off x="812800" y="44069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A8|rise|item7"/>
          <p:cNvSpPr/>
          <p:nvPr/>
        </p:nvSpPr>
        <p:spPr>
          <a:xfrm>
            <a:off x="4368800" y="44069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2" name="A8|rise|item7"/>
          <p:cNvSpPr txBox="1"/>
          <p:nvPr/>
        </p:nvSpPr>
        <p:spPr>
          <a:xfrm>
            <a:off x="4521200" y="44958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4200" dirty="0"/>
          </a:p>
        </p:txBody>
      </p:sp>
      <p:sp>
        <p:nvSpPr>
          <p:cNvPr id="43" name="A8|rise|item7"/>
          <p:cNvSpPr txBox="1"/>
          <p:nvPr/>
        </p:nvSpPr>
        <p:spPr>
          <a:xfrm>
            <a:off x="5130800" y="45720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gestores</a:t>
            </a:r>
            <a:endParaRPr lang="en-US" sz="1500" dirty="0"/>
          </a:p>
        </p:txBody>
      </p:sp>
      <p:sp>
        <p:nvSpPr>
          <p:cNvPr id="44" name="A8|rise|item7"/>
          <p:cNvSpPr txBox="1"/>
          <p:nvPr/>
        </p:nvSpPr>
        <p:spPr>
          <a:xfrm>
            <a:off x="5130800" y="49149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gestão, funções, papéis e competências da gerente  →</a:t>
            </a:r>
            <a:endParaRPr lang="en-US" sz="1150" dirty="0"/>
          </a:p>
        </p:txBody>
      </p:sp>
      <p:sp>
        <p:nvSpPr>
          <p:cNvPr id="45" name="A8|rise|item7">
            <a:hlinkClick r:id="rId8" tooltip="Ir para este tema" action="ppaction://hlinksldjump"/>
          </p:cNvPr>
          <p:cNvSpPr/>
          <p:nvPr/>
        </p:nvSpPr>
        <p:spPr>
          <a:xfrm>
            <a:off x="4368800" y="44069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A9|rise|item8"/>
          <p:cNvSpPr/>
          <p:nvPr/>
        </p:nvSpPr>
        <p:spPr>
          <a:xfrm>
            <a:off x="7924800" y="44069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7" name="A9|rise|item8"/>
          <p:cNvSpPr txBox="1"/>
          <p:nvPr/>
        </p:nvSpPr>
        <p:spPr>
          <a:xfrm>
            <a:off x="8077200" y="44958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4200" dirty="0"/>
          </a:p>
        </p:txBody>
      </p:sp>
      <p:sp>
        <p:nvSpPr>
          <p:cNvPr id="48" name="A9|rise|item8"/>
          <p:cNvSpPr txBox="1"/>
          <p:nvPr/>
        </p:nvSpPr>
        <p:spPr>
          <a:xfrm>
            <a:off x="8686800" y="45720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da gestão</a:t>
            </a:r>
            <a:endParaRPr lang="en-US" sz="1500" dirty="0"/>
          </a:p>
        </p:txBody>
      </p:sp>
      <p:sp>
        <p:nvSpPr>
          <p:cNvPr id="49" name="A9|rise|item8"/>
          <p:cNvSpPr txBox="1"/>
          <p:nvPr/>
        </p:nvSpPr>
        <p:spPr>
          <a:xfrm>
            <a:off x="8686800" y="49149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Diversidade, globalização e evolução tecnológica na Nata Lisboa  →</a:t>
            </a:r>
            <a:endParaRPr lang="en-US" sz="1150" dirty="0"/>
          </a:p>
        </p:txBody>
      </p:sp>
      <p:sp>
        <p:nvSpPr>
          <p:cNvPr id="50" name="A9|rise|item8">
            <a:hlinkClick r:id="rId9" tooltip="Ir para este tema" action="ppaction://hlinksldjump"/>
          </p:cNvPr>
          <p:cNvSpPr/>
          <p:nvPr/>
        </p:nvSpPr>
        <p:spPr>
          <a:xfrm>
            <a:off x="7924800" y="44069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1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6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7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1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2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6" dur="5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5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1" dur="5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2" dur="5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3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6" dur="5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7" dur="5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METODOLOGIA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</a:t>
            </a:r>
            <a:endParaRPr lang="en-US" sz="3600" dirty="0"/>
          </a:p>
        </p:txBody>
      </p:sp>
      <p:sp>
        <p:nvSpPr>
          <p:cNvPr id="6" name="A1|zoom|icone"/>
          <p:cNvSpPr/>
          <p:nvPr/>
        </p:nvSpPr>
        <p:spPr>
          <a:xfrm>
            <a:off x="812800" y="1498600"/>
            <a:ext cx="1397000" cy="1397000"/>
          </a:xfrm>
          <a:prstGeom prst="rect">
            <a:avLst/>
          </a:prstGeom>
          <a:solidFill>
            <a:srgbClr val="1E3F86"/>
          </a:solidFill>
          <a:ln w="12700">
            <a:solidFill>
              <a:srgbClr val="2C4C8C"/>
            </a:solidFill>
            <a:prstDash val="solid"/>
          </a:ln>
        </p:spPr>
      </p:sp>
      <p:sp>
        <p:nvSpPr>
          <p:cNvPr id="7" name="A1|zoom|icone"/>
          <p:cNvSpPr/>
          <p:nvPr/>
        </p:nvSpPr>
        <p:spPr>
          <a:xfrm>
            <a:off x="1066800" y="1778000"/>
            <a:ext cx="889000" cy="609600"/>
          </a:xfrm>
          <a:prstGeom prst="rect">
            <a:avLst/>
          </a:prstGeom>
          <a:solidFill>
            <a:srgbClr val="F5822A"/>
          </a:solidFill>
          <a:ln/>
        </p:spPr>
      </p:sp>
      <p:sp>
        <p:nvSpPr>
          <p:cNvPr id="8" name="A1|zoom|icone"/>
          <p:cNvSpPr txBox="1"/>
          <p:nvPr/>
        </p:nvSpPr>
        <p:spPr>
          <a:xfrm>
            <a:off x="1066800" y="1778000"/>
            <a:ext cx="889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• •</a:t>
            </a:r>
            <a:endParaRPr lang="en-US" sz="1800" dirty="0"/>
          </a:p>
        </p:txBody>
      </p:sp>
      <p:sp>
        <p:nvSpPr>
          <p:cNvPr id="9" name="A1|zoom|icone"/>
          <p:cNvSpPr/>
          <p:nvPr/>
        </p:nvSpPr>
        <p:spPr>
          <a:xfrm>
            <a:off x="1270000" y="2489200"/>
            <a:ext cx="762000" cy="203200"/>
          </a:xfrm>
          <a:prstGeom prst="roundRect">
            <a:avLst>
              <a:gd name="adj" fmla="val 45000"/>
            </a:avLst>
          </a:prstGeom>
          <a:solidFill>
            <a:srgbClr val="8FB0EE"/>
          </a:solidFill>
          <a:ln/>
        </p:spPr>
      </p:sp>
      <p:sp>
        <p:nvSpPr>
          <p:cNvPr id="10" name="A2|rise|ficha"/>
          <p:cNvSpPr/>
          <p:nvPr/>
        </p:nvSpPr>
        <p:spPr>
          <a:xfrm>
            <a:off x="2362200" y="1498600"/>
            <a:ext cx="41910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2|rise|ficha"/>
          <p:cNvSpPr txBox="1"/>
          <p:nvPr/>
        </p:nvSpPr>
        <p:spPr>
          <a:xfrm>
            <a:off x="2540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ENTREVISTADA</a:t>
            </a:r>
            <a:endParaRPr lang="en-US" sz="1100" dirty="0"/>
          </a:p>
        </p:txBody>
      </p:sp>
      <p:sp>
        <p:nvSpPr>
          <p:cNvPr id="12" name="A2|rise|ficha"/>
          <p:cNvSpPr txBox="1"/>
          <p:nvPr/>
        </p:nvSpPr>
        <p:spPr>
          <a:xfrm>
            <a:off x="2540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endParaRPr lang="en-US" sz="1400" dirty="0"/>
          </a:p>
        </p:txBody>
      </p:sp>
      <p:sp>
        <p:nvSpPr>
          <p:cNvPr id="13" name="A2|rise|ficha"/>
          <p:cNvSpPr txBox="1"/>
          <p:nvPr/>
        </p:nvSpPr>
        <p:spPr>
          <a:xfrm>
            <a:off x="4572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/ NÍVEL</a:t>
            </a:r>
            <a:endParaRPr lang="en-US" sz="1100" dirty="0"/>
          </a:p>
        </p:txBody>
      </p:sp>
      <p:sp>
        <p:nvSpPr>
          <p:cNvPr id="14" name="A2|rise|ficha"/>
          <p:cNvSpPr txBox="1"/>
          <p:nvPr/>
        </p:nvSpPr>
        <p:spPr>
          <a:xfrm>
            <a:off x="4572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Operacional</a:t>
            </a:r>
            <a:endParaRPr lang="en-US" sz="1400" dirty="0"/>
          </a:p>
        </p:txBody>
      </p:sp>
      <p:sp>
        <p:nvSpPr>
          <p:cNvPr id="15" name="A2|rise|ficha"/>
          <p:cNvSpPr txBox="1"/>
          <p:nvPr/>
        </p:nvSpPr>
        <p:spPr>
          <a:xfrm>
            <a:off x="2540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DURAÇÃO</a:t>
            </a:r>
            <a:endParaRPr lang="en-US" sz="1100" dirty="0"/>
          </a:p>
        </p:txBody>
      </p:sp>
      <p:sp>
        <p:nvSpPr>
          <p:cNvPr id="16" name="A2|rise|ficha"/>
          <p:cNvSpPr txBox="1"/>
          <p:nvPr/>
        </p:nvSpPr>
        <p:spPr>
          <a:xfrm>
            <a:off x="2540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03/10/2026 · 1 hora</a:t>
            </a:r>
            <a:endParaRPr lang="en-US" sz="1400" dirty="0"/>
          </a:p>
        </p:txBody>
      </p:sp>
      <p:sp>
        <p:nvSpPr>
          <p:cNvPr id="17" name="A2|rise|ficha"/>
          <p:cNvSpPr txBox="1"/>
          <p:nvPr/>
        </p:nvSpPr>
        <p:spPr>
          <a:xfrm>
            <a:off x="4572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MODALIDADE</a:t>
            </a:r>
            <a:endParaRPr lang="en-US" sz="1100" dirty="0"/>
          </a:p>
        </p:txBody>
      </p:sp>
      <p:sp>
        <p:nvSpPr>
          <p:cNvPr id="18" name="A2|rise|ficha"/>
          <p:cNvSpPr txBox="1"/>
          <p:nvPr/>
        </p:nvSpPr>
        <p:spPr>
          <a:xfrm>
            <a:off x="4572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Presencial</a:t>
            </a:r>
            <a:endParaRPr lang="en-US" sz="1400" dirty="0"/>
          </a:p>
        </p:txBody>
      </p:sp>
      <p:sp>
        <p:nvSpPr>
          <p:cNvPr id="19" name="A3|fade|porque"/>
          <p:cNvSpPr txBox="1"/>
          <p:nvPr/>
        </p:nvSpPr>
        <p:spPr>
          <a:xfrm>
            <a:off x="812800" y="3124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PORQUÊ UMA ENTREVISTA</a:t>
            </a:r>
            <a:endParaRPr lang="en-US" sz="1100" dirty="0"/>
          </a:p>
        </p:txBody>
      </p:sp>
      <p:sp>
        <p:nvSpPr>
          <p:cNvPr id="20" name="A3|fade|porque"/>
          <p:cNvSpPr txBox="1"/>
          <p:nvPr/>
        </p:nvSpPr>
        <p:spPr>
          <a:xfrm>
            <a:off x="812800" y="3365500"/>
            <a:ext cx="5740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quem gere o dia a dia da organização permite confrontar a teoria dos Tópicos 1 e 2 com a prática real da Nata Lisboa.</a:t>
            </a:r>
            <a:endParaRPr lang="en-US" sz="1300" dirty="0"/>
          </a:p>
        </p:txBody>
      </p:sp>
      <p:sp>
        <p:nvSpPr>
          <p:cNvPr id="21" name="A4|fade|blocos"/>
          <p:cNvSpPr txBox="1"/>
          <p:nvPr/>
        </p:nvSpPr>
        <p:spPr>
          <a:xfrm>
            <a:off x="812800" y="41021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BLOCOS DO GUIÃO</a:t>
            </a:r>
            <a:endParaRPr lang="en-US" sz="1100" dirty="0"/>
          </a:p>
        </p:txBody>
      </p:sp>
      <p:sp>
        <p:nvSpPr>
          <p:cNvPr id="22" name="A5|rise|bloco0"/>
          <p:cNvSpPr txBox="1"/>
          <p:nvPr/>
        </p:nvSpPr>
        <p:spPr>
          <a:xfrm>
            <a:off x="8128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1200" dirty="0"/>
          </a:p>
        </p:txBody>
      </p:sp>
      <p:sp>
        <p:nvSpPr>
          <p:cNvPr id="23" name="A6|rise|bloco1"/>
          <p:cNvSpPr txBox="1"/>
          <p:nvPr/>
        </p:nvSpPr>
        <p:spPr>
          <a:xfrm>
            <a:off x="27559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24" name="A7|rise|bloco2"/>
          <p:cNvSpPr txBox="1"/>
          <p:nvPr/>
        </p:nvSpPr>
        <p:spPr>
          <a:xfrm>
            <a:off x="46990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externo</a:t>
            </a:r>
            <a:endParaRPr lang="en-US" sz="1200" dirty="0"/>
          </a:p>
        </p:txBody>
      </p:sp>
      <p:sp>
        <p:nvSpPr>
          <p:cNvPr id="25" name="A8|rise|bloco3"/>
          <p:cNvSpPr txBox="1"/>
          <p:nvPr/>
        </p:nvSpPr>
        <p:spPr>
          <a:xfrm>
            <a:off x="8128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</a:t>
            </a:r>
            <a:endParaRPr lang="en-US" sz="1200" dirty="0"/>
          </a:p>
        </p:txBody>
      </p:sp>
      <p:sp>
        <p:nvSpPr>
          <p:cNvPr id="26" name="A9|rise|bloco4"/>
          <p:cNvSpPr txBox="1"/>
          <p:nvPr/>
        </p:nvSpPr>
        <p:spPr>
          <a:xfrm>
            <a:off x="27559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 liderança</a:t>
            </a:r>
            <a:endParaRPr lang="en-US" sz="1200" dirty="0"/>
          </a:p>
        </p:txBody>
      </p:sp>
      <p:sp>
        <p:nvSpPr>
          <p:cNvPr id="27" name="A10|rise|bloco5"/>
          <p:cNvSpPr txBox="1"/>
          <p:nvPr/>
        </p:nvSpPr>
        <p:spPr>
          <a:xfrm>
            <a:off x="46990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 e futuro</a:t>
            </a:r>
            <a:endParaRPr lang="en-US" sz="12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6807200" y="1498600"/>
            <a:ext cx="4572000" cy="1270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marcante da Mônica Cardoso, tal como foi dita.]”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FRASE MARCANTE DA ENTREVISTA</a:t>
            </a:r>
            <a:endParaRPr lang="en-US" sz="1400" dirty="0"/>
          </a:p>
        </p:txBody>
      </p:sp>
      <p:sp>
        <p:nvSpPr>
          <p:cNvPr id="29" name="A11|rise|tratamento"/>
          <p:cNvSpPr/>
          <p:nvPr/>
        </p:nvSpPr>
        <p:spPr>
          <a:xfrm>
            <a:off x="6807200" y="3048000"/>
            <a:ext cx="4572000" cy="2095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1|rise|tratamento"/>
          <p:cNvSpPr txBox="1"/>
          <p:nvPr/>
        </p:nvSpPr>
        <p:spPr>
          <a:xfrm>
            <a:off x="6985000" y="3200400"/>
            <a:ext cx="419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TRATAMENTO DA INFORMAÇÃO</a:t>
            </a:r>
            <a:endParaRPr lang="en-US" sz="1100" dirty="0"/>
          </a:p>
        </p:txBody>
      </p:sp>
      <p:sp>
        <p:nvSpPr>
          <p:cNvPr id="31" name="A11|rise|tratamento"/>
          <p:cNvSpPr txBox="1"/>
          <p:nvPr/>
        </p:nvSpPr>
        <p:spPr>
          <a:xfrm>
            <a:off x="6985000" y="3492500"/>
            <a:ext cx="4254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Gravação com consentimento: 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Transcrição revista pelo grupo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Excertos organizados por bloco do guião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Citações destacadas nas caixas creme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CARACTERIZAÇÃO DE UMA ORGANIZAÇÃO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Caracterizar uma organização é descrever quem ela é antes de a analisar: o que faz, para quem, onde, com que dimensão e com que modelo de negócio. É o ponto de partida para aplicar a teoria dos Tópicos 1 e 2.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</a:t>
            </a:r>
            <a:endParaRPr lang="en-US" sz="14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705100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Nome, setor de atividade, ano de fundação e localização da sede. Responde à pergunta «quem somos?».</a:t>
            </a:r>
            <a:endParaRPr lang="en-US" sz="1150" dirty="0"/>
          </a:p>
        </p:txBody>
      </p:sp>
      <p:sp>
        <p:nvSpPr>
          <p:cNvPr id="11" name="A3|rise|item1"/>
          <p:cNvSpPr/>
          <p:nvPr/>
        </p:nvSpPr>
        <p:spPr>
          <a:xfrm>
            <a:off x="41656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3|rise|item1"/>
          <p:cNvSpPr txBox="1"/>
          <p:nvPr/>
        </p:nvSpPr>
        <p:spPr>
          <a:xfrm>
            <a:off x="4292600" y="24447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</a:t>
            </a:r>
            <a:endParaRPr lang="en-US" sz="1400" dirty="0"/>
          </a:p>
        </p:txBody>
      </p:sp>
      <p:sp>
        <p:nvSpPr>
          <p:cNvPr id="13" name="A3|rise|item1"/>
          <p:cNvSpPr txBox="1"/>
          <p:nvPr/>
        </p:nvSpPr>
        <p:spPr>
          <a:xfrm>
            <a:off x="4292600" y="2705100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 e serviços oferecidos, clientes a que se dirige e canais pelos quais chega até eles.</a:t>
            </a:r>
            <a:endParaRPr lang="en-US" sz="1150" dirty="0"/>
          </a:p>
        </p:txBody>
      </p:sp>
      <p:sp>
        <p:nvSpPr>
          <p:cNvPr id="14" name="A4|rise|item2"/>
          <p:cNvSpPr/>
          <p:nvPr/>
        </p:nvSpPr>
        <p:spPr>
          <a:xfrm>
            <a:off x="8128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4|rise|item2"/>
          <p:cNvSpPr txBox="1"/>
          <p:nvPr/>
        </p:nvSpPr>
        <p:spPr>
          <a:xfrm>
            <a:off x="939800" y="36988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Dimensão</a:t>
            </a:r>
            <a:endParaRPr lang="en-US" sz="1400" dirty="0"/>
          </a:p>
        </p:txBody>
      </p:sp>
      <p:sp>
        <p:nvSpPr>
          <p:cNvPr id="16" name="A4|rise|item2"/>
          <p:cNvSpPr txBox="1"/>
          <p:nvPr/>
        </p:nvSpPr>
        <p:spPr>
          <a:xfrm>
            <a:off x="939800" y="3959225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de unidades e de colaboradores e presença geográfica, nacional e internacional.</a:t>
            </a:r>
            <a:endParaRPr lang="en-US" sz="1150" dirty="0"/>
          </a:p>
        </p:txBody>
      </p:sp>
      <p:sp>
        <p:nvSpPr>
          <p:cNvPr id="17" name="A5|rise|item3"/>
          <p:cNvSpPr/>
          <p:nvPr/>
        </p:nvSpPr>
        <p:spPr>
          <a:xfrm>
            <a:off x="41656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8" name="A5|rise|item3"/>
          <p:cNvSpPr txBox="1"/>
          <p:nvPr/>
        </p:nvSpPr>
        <p:spPr>
          <a:xfrm>
            <a:off x="4292600" y="36988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negócio</a:t>
            </a:r>
            <a:endParaRPr lang="en-US" sz="1400" dirty="0"/>
          </a:p>
        </p:txBody>
      </p:sp>
      <p:sp>
        <p:nvSpPr>
          <p:cNvPr id="19" name="A5|rise|item3"/>
          <p:cNvSpPr txBox="1"/>
          <p:nvPr/>
        </p:nvSpPr>
        <p:spPr>
          <a:xfrm>
            <a:off x="4292600" y="3959225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cria valor e cresce: lojas próprias, franchising, parcerias e diferentes canais de venda.</a:t>
            </a:r>
            <a:endParaRPr lang="en-US" sz="1150" dirty="0"/>
          </a:p>
        </p:txBody>
      </p:sp>
      <p:sp>
        <p:nvSpPr>
          <p:cNvPr id="20" name="A6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1" name="A6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2" name="A6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Setor: restauração · a primeira cadeia de coffee shops em que o pastel de nata é a estrela.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Missão: «transformar o doce de Lisboa num doce planetário».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loja: junho de 2012, no centro histórico de Lisboa; franqueador: Be-business. Sede: Atrium Saldanha.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Rede: 1 loja própria e 27 franchisadas em Portugal; lojas em Viena, Bilbau, Frankfurt, Luanda e Talatona.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Franchising: entrada de 22 500 €, investimento de 70 a 150 mil €, royalties de 5 %.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[Loja da Mônica · n.º de colaboradores]</a:t>
            </a:r>
            <a:endParaRPr lang="en-US" sz="1100" dirty="0"/>
          </a:p>
        </p:txBody>
      </p:sp>
      <p:sp>
        <p:nvSpPr>
          <p:cNvPr id="23" name="A6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Fontes: natalisboa.com · APF · Portugal Resident</a:t>
            </a:r>
            <a:endParaRPr lang="en-US" sz="800" dirty="0"/>
          </a:p>
        </p:txBody>
      </p:sp>
      <p:sp>
        <p:nvSpPr>
          <p:cNvPr id="24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“[Como a Mônica descreve a Nata Lisboa em poucas palavras.]”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A7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6" name="A7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7" name="A7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[Um dia típico na loja: horário, movimento, produtos mais vendidos.]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1 · OS GESTORES E AS ORGANIZAÇÕES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GERIR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é o processo de coordenar e supervisionar o trabalho de outras pessoas para que as atividades sejam realizadas de forma eficiente e eficaz (Robbins &amp; Coulter). O gestor é quem coordena esse trabalho.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2997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FAZER BEM AS COISAS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</a:t>
            </a:r>
            <a:endParaRPr lang="en-US" sz="14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2870200"/>
            <a:ext cx="29972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Obter o máximo resultado com o mínimo de recursos: tempo, dinheiro, matérias-primas e esforço. Diz respeito aos meios.</a:t>
            </a:r>
            <a:endParaRPr lang="en-US" sz="1100" dirty="0"/>
          </a:p>
        </p:txBody>
      </p:sp>
      <p:sp>
        <p:nvSpPr>
          <p:cNvPr id="12" name="A3|rise|item1"/>
          <p:cNvSpPr/>
          <p:nvPr/>
        </p:nvSpPr>
        <p:spPr>
          <a:xfrm>
            <a:off x="41656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4292600" y="2444750"/>
            <a:ext cx="2997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FAZER AS COISAS CERTAS</a:t>
            </a:r>
            <a:endParaRPr lang="en-US" sz="9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4292600" y="26098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</a:t>
            </a:r>
            <a:endParaRPr lang="en-US" sz="14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4292600" y="2870200"/>
            <a:ext cx="29972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Realizar as atividades que levam a organização a atingir os seus objetivos. Diz respeito aos fins.</a:t>
            </a:r>
            <a:endParaRPr lang="en-US" sz="1150" dirty="0"/>
          </a:p>
        </p:txBody>
      </p:sp>
      <p:sp>
        <p:nvSpPr>
          <p:cNvPr id="16" name="A4|rise|item2"/>
          <p:cNvSpPr/>
          <p:nvPr/>
        </p:nvSpPr>
        <p:spPr>
          <a:xfrm>
            <a:off x="8128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4|rise|item2"/>
          <p:cNvSpPr txBox="1"/>
          <p:nvPr/>
        </p:nvSpPr>
        <p:spPr>
          <a:xfrm>
            <a:off x="939800" y="3698875"/>
            <a:ext cx="2997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GESTORES VS. OPERACIONAIS</a:t>
            </a:r>
            <a:endParaRPr lang="en-US" sz="900" dirty="0"/>
          </a:p>
        </p:txBody>
      </p:sp>
      <p:sp>
        <p:nvSpPr>
          <p:cNvPr id="18" name="A4|rise|item2"/>
          <p:cNvSpPr txBox="1"/>
          <p:nvPr/>
        </p:nvSpPr>
        <p:spPr>
          <a:xfrm>
            <a:off x="939800" y="38639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gestor</a:t>
            </a:r>
            <a:endParaRPr lang="en-US" sz="1400" dirty="0"/>
          </a:p>
        </p:txBody>
      </p:sp>
      <p:sp>
        <p:nvSpPr>
          <p:cNvPr id="19" name="A4|rise|item2"/>
          <p:cNvSpPr txBox="1"/>
          <p:nvPr/>
        </p:nvSpPr>
        <p:spPr>
          <a:xfrm>
            <a:off x="939800" y="4124325"/>
            <a:ext cx="29972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gestor dirige o trabalho de outras pessoas; os colaboradores operacionais executam tarefas sem supervisionar ninguém.</a:t>
            </a:r>
            <a:endParaRPr lang="en-US" sz="1100" dirty="0"/>
          </a:p>
        </p:txBody>
      </p:sp>
      <p:sp>
        <p:nvSpPr>
          <p:cNvPr id="20" name="A5|rise|item3"/>
          <p:cNvSpPr/>
          <p:nvPr/>
        </p:nvSpPr>
        <p:spPr>
          <a:xfrm>
            <a:off x="41656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5|rise|item3"/>
          <p:cNvSpPr txBox="1"/>
          <p:nvPr/>
        </p:nvSpPr>
        <p:spPr>
          <a:xfrm>
            <a:off x="4292600" y="3698875"/>
            <a:ext cx="2997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UNIVERSALIDADE DA GESTÃO</a:t>
            </a:r>
            <a:endParaRPr lang="en-US" sz="900" dirty="0"/>
          </a:p>
        </p:txBody>
      </p:sp>
      <p:sp>
        <p:nvSpPr>
          <p:cNvPr id="22" name="A5|rise|item3"/>
          <p:cNvSpPr txBox="1"/>
          <p:nvPr/>
        </p:nvSpPr>
        <p:spPr>
          <a:xfrm>
            <a:off x="4292600" y="38639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importa</a:t>
            </a:r>
            <a:endParaRPr lang="en-US" sz="1400" dirty="0"/>
          </a:p>
        </p:txBody>
      </p:sp>
      <p:sp>
        <p:nvSpPr>
          <p:cNvPr id="23" name="A5|rise|item3"/>
          <p:cNvSpPr txBox="1"/>
          <p:nvPr/>
        </p:nvSpPr>
        <p:spPr>
          <a:xfrm>
            <a:off x="4292600" y="4124325"/>
            <a:ext cx="29972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Organizações bem geridas conquistam clientes e retêm colaboradores. A gestão aplica-se a qualquer tipo e dimensão de organização.</a:t>
            </a:r>
            <a:endParaRPr lang="en-US" sz="1000" dirty="0"/>
          </a:p>
        </p:txBody>
      </p:sp>
      <p:sp>
        <p:nvSpPr>
          <p:cNvPr id="24" name="A6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5" name="A6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6" name="A6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da marca: que saborear um NATA seja «igual em Lisboa, Porto, Bilbau, Viena, Luanda» — exige eficácia (mesma qualidade) e eficiência (mesmo processo).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Eficiência: lojas sem cozinha, com produtos pré-confecionados e entrega direta — menos custos e menos desperdício.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[Eficácia na loja: ex. objetivos de vendas e satisfação do cliente]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gere a loja e quem são os operacionais]</a:t>
            </a:r>
            <a:endParaRPr lang="en-US" sz="1100" dirty="0"/>
          </a:p>
        </p:txBody>
      </p:sp>
      <p:sp>
        <p:nvSpPr>
          <p:cNvPr id="27" name="A6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Fontes: natalisboa.com · APF · Portugal Resident</a:t>
            </a:r>
            <a:endParaRPr lang="en-US" sz="8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“[O que é, para a Mônica, «gerir bem» uma loja.]”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9" name="A7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30" name="A7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31" name="A7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[Situação em que teve de equilibrar rapidez e qualidade no atendimento.]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1 · O QUE É UMA ORGANIZAÇÃO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COMUNS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organização é um conjunto deliberado de pessoas reunidas para atingir um objetivo específico. Seja uma pastelaria, uma escola ou um hospital, todas partilham três características (Robbins &amp; Coulter).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1935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8511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distinto</a:t>
            </a:r>
            <a:endParaRPr lang="en-US" sz="14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3111500"/>
            <a:ext cx="1879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razão de ser da organização, expressa na missão, na visão e em metas concretas que orientam todas as decisões.</a:t>
            </a:r>
            <a:endParaRPr lang="en-US" sz="1150" dirty="0"/>
          </a:p>
        </p:txBody>
      </p:sp>
      <p:sp>
        <p:nvSpPr>
          <p:cNvPr id="12" name="A3|rise|item1"/>
          <p:cNvSpPr/>
          <p:nvPr/>
        </p:nvSpPr>
        <p:spPr>
          <a:xfrm>
            <a:off x="30480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3175000" y="241935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3175000" y="28511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</a:t>
            </a:r>
            <a:endParaRPr lang="en-US" sz="14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3175000" y="3111500"/>
            <a:ext cx="1879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objetivos só se cumprem através de pessoas que tomam decisões e realizam o trabalho, dos gestores aos operacionais.</a:t>
            </a:r>
            <a:endParaRPr lang="en-US" sz="1150" dirty="0"/>
          </a:p>
        </p:txBody>
      </p:sp>
      <p:sp>
        <p:nvSpPr>
          <p:cNvPr id="16" name="A4|rise|item2"/>
          <p:cNvSpPr/>
          <p:nvPr/>
        </p:nvSpPr>
        <p:spPr>
          <a:xfrm>
            <a:off x="52832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4|rise|item2"/>
          <p:cNvSpPr txBox="1"/>
          <p:nvPr/>
        </p:nvSpPr>
        <p:spPr>
          <a:xfrm>
            <a:off x="5410200" y="241935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A4|rise|item2"/>
          <p:cNvSpPr txBox="1"/>
          <p:nvPr/>
        </p:nvSpPr>
        <p:spPr>
          <a:xfrm>
            <a:off x="5410200" y="2851150"/>
            <a:ext cx="1879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deliberada</a:t>
            </a:r>
            <a:endParaRPr lang="en-US" sz="1400" dirty="0"/>
          </a:p>
        </p:txBody>
      </p:sp>
      <p:sp>
        <p:nvSpPr>
          <p:cNvPr id="19" name="A4|rise|item2"/>
          <p:cNvSpPr txBox="1"/>
          <p:nvPr/>
        </p:nvSpPr>
        <p:spPr>
          <a:xfrm>
            <a:off x="5410200" y="3333750"/>
            <a:ext cx="1879600" cy="1339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Regras, funções, hierarquia e procedimentos definem quem faz o quê, a quem reporta e como o trabalho se coordena.</a:t>
            </a:r>
            <a:endParaRPr lang="en-US" sz="1150" dirty="0"/>
          </a:p>
        </p:txBody>
      </p:sp>
      <p:sp>
        <p:nvSpPr>
          <p:cNvPr id="20" name="A5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1" name="A5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2" name="A5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Objetivo: «transformar o doce de Lisboa num doce planetário».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[Pessoas: n.º de colaboradores da loja e funções — balcão, produção, gerência]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Estrutura: franqueador (marca, produto e formação) → franchisados → equipa de cada loja.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[Uma regra ou procedimento que todos têm de cumprir]</a:t>
            </a:r>
            <a:endParaRPr lang="en-US" sz="1100" dirty="0"/>
          </a:p>
        </p:txBody>
      </p:sp>
      <p:sp>
        <p:nvSpPr>
          <p:cNvPr id="23" name="A5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Fontes: natalisboa.com · APF · Portugal Resident</a:t>
            </a:r>
            <a:endParaRPr lang="en-US" sz="800" dirty="0"/>
          </a:p>
        </p:txBody>
      </p:sp>
      <p:sp>
        <p:nvSpPr>
          <p:cNvPr id="24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que mostra uma destas características no dia a dia da loja.]”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A6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6" name="A6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7" name="A6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equipa se organiza num turno com muito movimento.]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2 · HISTÓRIA DA GESTÃO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GESTÃO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forma de gerir evoluiu ao longo do século XX. Cada abordagem respondeu aos problemas do seu tempo, e muitas das suas ideias continuam presentes nas organizações de hoje.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15748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1320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1900–1930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1320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Clássica</a:t>
            </a:r>
            <a:endParaRPr lang="en-US" sz="13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2854325"/>
            <a:ext cx="132080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Taylor (gestão científica): a «melhor forma» de fazer cada tarefa. Fayol: funções da gestão e 14 princípios. Weber: burocracia, regras e hierarquia.</a:t>
            </a:r>
            <a:endParaRPr lang="en-US" sz="1050" dirty="0"/>
          </a:p>
        </p:txBody>
      </p:sp>
      <p:sp>
        <p:nvSpPr>
          <p:cNvPr id="12" name="A3|rise|item1"/>
          <p:cNvSpPr/>
          <p:nvPr/>
        </p:nvSpPr>
        <p:spPr>
          <a:xfrm>
            <a:off x="2489200" y="2343150"/>
            <a:ext cx="15748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2616200" y="2444750"/>
            <a:ext cx="1320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1930–1950</a:t>
            </a:r>
            <a:endParaRPr lang="en-US" sz="9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2616200" y="2609850"/>
            <a:ext cx="1320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Comportamental</a:t>
            </a:r>
            <a:endParaRPr lang="en-US" sz="13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2616200" y="2854325"/>
            <a:ext cx="132080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Estudos de Hawthorne (Mayo): motivação, relações humanas e o grupo influenciam a produtividade tanto como as condições físicas.</a:t>
            </a:r>
            <a:endParaRPr lang="en-US" sz="1050" dirty="0"/>
          </a:p>
        </p:txBody>
      </p:sp>
      <p:sp>
        <p:nvSpPr>
          <p:cNvPr id="16" name="A4|rise|item2"/>
          <p:cNvSpPr/>
          <p:nvPr/>
        </p:nvSpPr>
        <p:spPr>
          <a:xfrm>
            <a:off x="4165600" y="2343150"/>
            <a:ext cx="15748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4|rise|item2"/>
          <p:cNvSpPr txBox="1"/>
          <p:nvPr/>
        </p:nvSpPr>
        <p:spPr>
          <a:xfrm>
            <a:off x="4292600" y="2444750"/>
            <a:ext cx="1320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1940 →</a:t>
            </a:r>
            <a:endParaRPr lang="en-US" sz="900" dirty="0"/>
          </a:p>
        </p:txBody>
      </p:sp>
      <p:sp>
        <p:nvSpPr>
          <p:cNvPr id="18" name="A4|rise|item2"/>
          <p:cNvSpPr txBox="1"/>
          <p:nvPr/>
        </p:nvSpPr>
        <p:spPr>
          <a:xfrm>
            <a:off x="4292600" y="2609850"/>
            <a:ext cx="1320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Quantitativa</a:t>
            </a:r>
            <a:endParaRPr lang="en-US" sz="1300" dirty="0"/>
          </a:p>
        </p:txBody>
      </p:sp>
      <p:sp>
        <p:nvSpPr>
          <p:cNvPr id="19" name="A4|rise|item2"/>
          <p:cNvSpPr txBox="1"/>
          <p:nvPr/>
        </p:nvSpPr>
        <p:spPr>
          <a:xfrm>
            <a:off x="4292600" y="2854325"/>
            <a:ext cx="132080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Estatística, modelos e sistemas de informação para apoiar decisões: planeamento, gestão de stocks e qualidade total.</a:t>
            </a:r>
            <a:endParaRPr lang="en-US" sz="1050" dirty="0"/>
          </a:p>
        </p:txBody>
      </p:sp>
      <p:sp>
        <p:nvSpPr>
          <p:cNvPr id="20" name="A5|rise|item3"/>
          <p:cNvSpPr/>
          <p:nvPr/>
        </p:nvSpPr>
        <p:spPr>
          <a:xfrm>
            <a:off x="5842000" y="2343150"/>
            <a:ext cx="15748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5|rise|item3"/>
          <p:cNvSpPr txBox="1"/>
          <p:nvPr/>
        </p:nvSpPr>
        <p:spPr>
          <a:xfrm>
            <a:off x="5969000" y="2444750"/>
            <a:ext cx="1320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1960 →</a:t>
            </a:r>
            <a:endParaRPr lang="en-US" sz="900" dirty="0"/>
          </a:p>
        </p:txBody>
      </p:sp>
      <p:sp>
        <p:nvSpPr>
          <p:cNvPr id="22" name="A5|rise|item3"/>
          <p:cNvSpPr txBox="1"/>
          <p:nvPr/>
        </p:nvSpPr>
        <p:spPr>
          <a:xfrm>
            <a:off x="5969000" y="2609850"/>
            <a:ext cx="1320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Contemporânea</a:t>
            </a:r>
            <a:endParaRPr lang="en-US" sz="1300" dirty="0"/>
          </a:p>
        </p:txBody>
      </p:sp>
      <p:sp>
        <p:nvSpPr>
          <p:cNvPr id="23" name="A5|rise|item3"/>
          <p:cNvSpPr txBox="1"/>
          <p:nvPr/>
        </p:nvSpPr>
        <p:spPr>
          <a:xfrm>
            <a:off x="5969000" y="2854325"/>
            <a:ext cx="132080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Abordagem sistémica (organização como sistema aberto) e contingencial: não há uma única forma certa de gerir, depende da situação.</a:t>
            </a:r>
            <a:endParaRPr lang="en-US" sz="1050" dirty="0"/>
          </a:p>
        </p:txBody>
      </p:sp>
      <p:sp>
        <p:nvSpPr>
          <p:cNvPr id="24" name="A6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5" name="A6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6" name="A6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Clássica: produtos pré-confecionados, acabamento na loja e formação dada pelo franqueador garantem um processo «igual» em todas as lojas — ideia próxima de Taylor e Fayol.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Contemporânea: o franchising adapta a marca a cidades e países diferentes (Portugal, Espanha, Áustria, Alemanha, Angola).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[Comportamental: como a gerência motiva a equipa]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[Quantitativa: controlo de vendas, stocks e desperdício]</a:t>
            </a:r>
            <a:endParaRPr lang="en-US" sz="1100" dirty="0"/>
          </a:p>
        </p:txBody>
      </p:sp>
      <p:sp>
        <p:nvSpPr>
          <p:cNvPr id="27" name="A6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Fontes: natalisboa.com · APF · Portugal Resident</a:t>
            </a:r>
            <a:endParaRPr lang="en-US" sz="8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regras, procedimentos ou motivação da equipa.]”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9" name="A7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30" name="A7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31" name="A7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[Um procedimento padronizado na produção ou no atendimento.]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2 · ABORDAGEM SISTÉMICA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abordagem sistémica (Teoria Geral dos Sistemas; Katz &amp; Kahn), a organização é um sistema aberto: depende do ambiente, de onde recebe recursos e para onde devolve resultados. As partes são interdependentes — o que acontece numa afeta as outras.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144145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1187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ENTRADAS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118745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13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2854325"/>
            <a:ext cx="118745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obtidos do ambiente: pessoas, matérias-primas, capital, informação, tecnologia e equipamento.</a:t>
            </a:r>
            <a:endParaRPr lang="en-US" sz="1050" dirty="0"/>
          </a:p>
        </p:txBody>
      </p:sp>
      <p:sp>
        <p:nvSpPr>
          <p:cNvPr id="12" name="A2|rise|item0"/>
          <p:cNvSpPr/>
          <p:nvPr/>
        </p:nvSpPr>
        <p:spPr>
          <a:xfrm>
            <a:off x="2305050" y="3457575"/>
            <a:ext cx="177800" cy="1778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13" name="A3|rise|item1"/>
          <p:cNvSpPr/>
          <p:nvPr/>
        </p:nvSpPr>
        <p:spPr>
          <a:xfrm>
            <a:off x="2533650" y="2343150"/>
            <a:ext cx="1441450" cy="240665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3|rise|item1"/>
          <p:cNvSpPr txBox="1"/>
          <p:nvPr/>
        </p:nvSpPr>
        <p:spPr>
          <a:xfrm>
            <a:off x="2660650" y="2444750"/>
            <a:ext cx="1187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TRANSFORMAÇÃO</a:t>
            </a:r>
            <a:endParaRPr lang="en-US" sz="9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2660650" y="2609850"/>
            <a:ext cx="118745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</a:t>
            </a:r>
            <a:endParaRPr lang="en-US" sz="1300" dirty="0"/>
          </a:p>
        </p:txBody>
      </p:sp>
      <p:sp>
        <p:nvSpPr>
          <p:cNvPr id="16" name="A3|rise|item1"/>
          <p:cNvSpPr txBox="1"/>
          <p:nvPr/>
        </p:nvSpPr>
        <p:spPr>
          <a:xfrm>
            <a:off x="2660650" y="2854325"/>
            <a:ext cx="118745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Trabalho, operações, tecnologia e atividades de gestão que transformam as entradas.</a:t>
            </a:r>
            <a:endParaRPr lang="en-US" sz="1050" dirty="0"/>
          </a:p>
        </p:txBody>
      </p:sp>
      <p:sp>
        <p:nvSpPr>
          <p:cNvPr id="17" name="A3|rise|item1"/>
          <p:cNvSpPr/>
          <p:nvPr/>
        </p:nvSpPr>
        <p:spPr>
          <a:xfrm>
            <a:off x="4025900" y="3457575"/>
            <a:ext cx="177800" cy="1778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18" name="A4|rise|item2"/>
          <p:cNvSpPr/>
          <p:nvPr/>
        </p:nvSpPr>
        <p:spPr>
          <a:xfrm>
            <a:off x="4254500" y="2343150"/>
            <a:ext cx="144145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9" name="A4|rise|item2"/>
          <p:cNvSpPr txBox="1"/>
          <p:nvPr/>
        </p:nvSpPr>
        <p:spPr>
          <a:xfrm>
            <a:off x="4381500" y="2444750"/>
            <a:ext cx="1187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SAÍDAS</a:t>
            </a:r>
            <a:endParaRPr lang="en-US" sz="900" dirty="0"/>
          </a:p>
        </p:txBody>
      </p:sp>
      <p:sp>
        <p:nvSpPr>
          <p:cNvPr id="20" name="A4|rise|item2"/>
          <p:cNvSpPr txBox="1"/>
          <p:nvPr/>
        </p:nvSpPr>
        <p:spPr>
          <a:xfrm>
            <a:off x="4381500" y="2609850"/>
            <a:ext cx="118745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1300" dirty="0"/>
          </a:p>
        </p:txBody>
      </p:sp>
      <p:sp>
        <p:nvSpPr>
          <p:cNvPr id="21" name="A4|rise|item2"/>
          <p:cNvSpPr txBox="1"/>
          <p:nvPr/>
        </p:nvSpPr>
        <p:spPr>
          <a:xfrm>
            <a:off x="4381500" y="2854325"/>
            <a:ext cx="118745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 e serviços, resultados financeiros, emprego, informação e impacto na comunidade.</a:t>
            </a:r>
            <a:endParaRPr lang="en-US" sz="1050" dirty="0"/>
          </a:p>
        </p:txBody>
      </p:sp>
      <p:sp>
        <p:nvSpPr>
          <p:cNvPr id="22" name="A4|rise|item2"/>
          <p:cNvSpPr/>
          <p:nvPr/>
        </p:nvSpPr>
        <p:spPr>
          <a:xfrm>
            <a:off x="5746750" y="3457575"/>
            <a:ext cx="177800" cy="1778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23" name="A5|rise|item3"/>
          <p:cNvSpPr/>
          <p:nvPr/>
        </p:nvSpPr>
        <p:spPr>
          <a:xfrm>
            <a:off x="5975350" y="2343150"/>
            <a:ext cx="144145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5|rise|item3"/>
          <p:cNvSpPr txBox="1"/>
          <p:nvPr/>
        </p:nvSpPr>
        <p:spPr>
          <a:xfrm>
            <a:off x="6102350" y="2444750"/>
            <a:ext cx="1187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RETORNO</a:t>
            </a:r>
            <a:endParaRPr lang="en-US" sz="900" dirty="0"/>
          </a:p>
        </p:txBody>
      </p:sp>
      <p:sp>
        <p:nvSpPr>
          <p:cNvPr id="25" name="A5|rise|item3"/>
          <p:cNvSpPr txBox="1"/>
          <p:nvPr/>
        </p:nvSpPr>
        <p:spPr>
          <a:xfrm>
            <a:off x="6102350" y="2609850"/>
            <a:ext cx="118745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300" dirty="0"/>
          </a:p>
        </p:txBody>
      </p:sp>
      <p:sp>
        <p:nvSpPr>
          <p:cNvPr id="26" name="A5|rise|item3"/>
          <p:cNvSpPr txBox="1"/>
          <p:nvPr/>
        </p:nvSpPr>
        <p:spPr>
          <a:xfrm>
            <a:off x="6102350" y="2854325"/>
            <a:ext cx="118745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sobre os resultados (vendas, reclamações, avaliações) que volta ao sistema e permite corrigir.</a:t>
            </a:r>
            <a:endParaRPr lang="en-US" sz="1050" dirty="0"/>
          </a:p>
        </p:txBody>
      </p:sp>
      <p:sp>
        <p:nvSpPr>
          <p:cNvPr id="27" name="A6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6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9" name="A6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Inputs: produtos pré-confecionados entregues diretamente à loja; não há cozinha, só uma pequena copa.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[Processo: acabamento e forno dos pastéis, atendimento, limpeza]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Outputs: pastéis de nata, bebidas e refeições; venda em loja, take away (NATA&amp;GO) e delivery (Uber Eats).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Feedback: aderente ao Livro de Reclamações Eletrónico.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loja usa as opiniões dos clientes]</a:t>
            </a:r>
            <a:endParaRPr lang="en-US" sz="1100" dirty="0"/>
          </a:p>
        </p:txBody>
      </p:sp>
      <p:sp>
        <p:nvSpPr>
          <p:cNvPr id="30" name="A6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Fontes: natalisboa.com · APF · Portugal Resident</a:t>
            </a:r>
            <a:endParaRPr lang="en-US" sz="800" dirty="0"/>
          </a:p>
        </p:txBody>
      </p:sp>
      <p:sp>
        <p:nvSpPr>
          <p:cNvPr id="31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o funcionamento diário da loja.]”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32" name="A7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33" name="A7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34" name="A7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[Algo que mudou na loja por causa do feedback dos clientes.]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EXTERNO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ambiente externo são as forças e instituições fora da organização que a podem afetar. Divide-se em dois níveis: o ambiente de tarefa, com impacto direto e imediato, e o ambiente geral, que afeta de forma indireta todas as organizações do setor.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66040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635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IMPACTO DIRETO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6350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de tarefa (específico)</a:t>
            </a:r>
            <a:endParaRPr lang="en-US" sz="14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2870200"/>
            <a:ext cx="63500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(quem compra), fornecedores (quem fornece recursos), concorrentes (quem disputa os mesmos clientes) e grupos de pressão (reguladores, sindicatos, media, associações).</a:t>
            </a:r>
            <a:endParaRPr lang="en-US" sz="1150" dirty="0"/>
          </a:p>
        </p:txBody>
      </p:sp>
      <p:sp>
        <p:nvSpPr>
          <p:cNvPr id="12" name="A3|rise|item1"/>
          <p:cNvSpPr/>
          <p:nvPr/>
        </p:nvSpPr>
        <p:spPr>
          <a:xfrm>
            <a:off x="812800" y="3597275"/>
            <a:ext cx="66040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939800" y="3698875"/>
            <a:ext cx="635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IMPACTO INDIRETO</a:t>
            </a:r>
            <a:endParaRPr lang="en-US" sz="9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939800" y="3863975"/>
            <a:ext cx="6350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geral (contextual)</a:t>
            </a:r>
            <a:endParaRPr lang="en-US" sz="14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939800" y="4124325"/>
            <a:ext cx="63500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económicas (inflação, juros, rendimento), político-legais (leis, impostos), socioculturais (hábitos, valores), demográficas (idade, população), tecnológicas (inovação) e globais (mercados internacionais).</a:t>
            </a:r>
            <a:endParaRPr lang="en-US" sz="1150" dirty="0"/>
          </a:p>
        </p:txBody>
      </p:sp>
      <p:sp>
        <p:nvSpPr>
          <p:cNvPr id="16" name="A4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7" name="A4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18" name="A4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Global: presença em 5 países — Portugal, Espanha, Áustria, Alemanha e Angola.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Tecnológico: venda por delivery (Uber Eats) além da loja.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Político-legal: regras de higiene e segurança alimentar e Livro de Reclamações Eletrónico.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Fornecedor principal: o próprio franqueador, que entrega os produtos pré-confecionados.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 3 forças que mais afetam a loja, segundo a Mônica]</a:t>
            </a:r>
            <a:endParaRPr lang="en-US" sz="1100" dirty="0"/>
          </a:p>
        </p:txBody>
      </p:sp>
      <p:sp>
        <p:nvSpPr>
          <p:cNvPr id="19" name="A4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Fontes: natalisboa.com · APF · Portugal Resident</a:t>
            </a:r>
            <a:endParaRPr lang="en-US" sz="800" dirty="0"/>
          </a:p>
        </p:txBody>
      </p:sp>
      <p:sp>
        <p:nvSpPr>
          <p:cNvPr id="20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clientes, concorrência ou mercado.]”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1" name="A5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2" name="A5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3" name="A5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[Um acontecimento externo que mudou o trabalho na loja.]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FORÇA A FORÇA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NA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endParaRPr lang="en-US" sz="3600" dirty="0"/>
          </a:p>
        </p:txBody>
      </p:sp>
      <p:sp>
        <p:nvSpPr>
          <p:cNvPr id="6" name="A1|fade|lblTarefa"/>
          <p:cNvSpPr txBox="1"/>
          <p:nvPr/>
        </p:nvSpPr>
        <p:spPr>
          <a:xfrm>
            <a:off x="812800" y="1333500"/>
            <a:ext cx="952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 · FORÇAS DE TAREFA (IMPACTO DIRETO)</a:t>
            </a:r>
            <a:endParaRPr lang="en-US" sz="1100" dirty="0"/>
          </a:p>
        </p:txBody>
      </p:sp>
      <p:sp>
        <p:nvSpPr>
          <p:cNvPr id="7" name="A2|rise|tarefa0"/>
          <p:cNvSpPr/>
          <p:nvPr/>
        </p:nvSpPr>
        <p:spPr>
          <a:xfrm>
            <a:off x="812800" y="1574800"/>
            <a:ext cx="2565400" cy="1244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tarefa0"/>
          <p:cNvSpPr txBox="1"/>
          <p:nvPr/>
        </p:nvSpPr>
        <p:spPr>
          <a:xfrm>
            <a:off x="952500" y="16764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9" name="A2|rise|tarefa0"/>
          <p:cNvSpPr txBox="1"/>
          <p:nvPr/>
        </p:nvSpPr>
        <p:spPr>
          <a:xfrm>
            <a:off x="952500" y="1892300"/>
            <a:ext cx="228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compra.</a:t>
            </a:r>
            <a:endParaRPr lang="en-US" sz="1100" dirty="0"/>
          </a:p>
        </p:txBody>
      </p:sp>
      <p:sp>
        <p:nvSpPr>
          <p:cNvPr id="10" name="A2|rise|tarefa0"/>
          <p:cNvSpPr txBox="1"/>
          <p:nvPr/>
        </p:nvSpPr>
        <p:spPr>
          <a:xfrm>
            <a:off x="952500" y="2133600"/>
            <a:ext cx="228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[Turistas, residentes, estudantes, empresas?]</a:t>
            </a:r>
            <a:endParaRPr lang="en-US" sz="1150" dirty="0"/>
          </a:p>
        </p:txBody>
      </p:sp>
      <p:sp>
        <p:nvSpPr>
          <p:cNvPr id="11" name="A3|rise|tarefa1"/>
          <p:cNvSpPr/>
          <p:nvPr/>
        </p:nvSpPr>
        <p:spPr>
          <a:xfrm>
            <a:off x="3479800" y="1574800"/>
            <a:ext cx="2565400" cy="1244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3|rise|tarefa1"/>
          <p:cNvSpPr txBox="1"/>
          <p:nvPr/>
        </p:nvSpPr>
        <p:spPr>
          <a:xfrm>
            <a:off x="3619500" y="16764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3" name="A3|rise|tarefa1"/>
          <p:cNvSpPr txBox="1"/>
          <p:nvPr/>
        </p:nvSpPr>
        <p:spPr>
          <a:xfrm>
            <a:off x="3619500" y="1892300"/>
            <a:ext cx="228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fornece recursos.</a:t>
            </a:r>
            <a:endParaRPr lang="en-US" sz="1100" dirty="0"/>
          </a:p>
        </p:txBody>
      </p:sp>
      <p:sp>
        <p:nvSpPr>
          <p:cNvPr id="14" name="A3|rise|tarefa1"/>
          <p:cNvSpPr txBox="1"/>
          <p:nvPr/>
        </p:nvSpPr>
        <p:spPr>
          <a:xfrm>
            <a:off x="3619500" y="2133600"/>
            <a:ext cx="228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[Além do franqueador, que entrega os produtos: café, embalagens…]</a:t>
            </a:r>
            <a:endParaRPr lang="en-US" sz="1150" dirty="0"/>
          </a:p>
        </p:txBody>
      </p:sp>
      <p:sp>
        <p:nvSpPr>
          <p:cNvPr id="15" name="A4|rise|tarefa2"/>
          <p:cNvSpPr/>
          <p:nvPr/>
        </p:nvSpPr>
        <p:spPr>
          <a:xfrm>
            <a:off x="6146800" y="1574800"/>
            <a:ext cx="2565400" cy="1244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tarefa2"/>
          <p:cNvSpPr txBox="1"/>
          <p:nvPr/>
        </p:nvSpPr>
        <p:spPr>
          <a:xfrm>
            <a:off x="6286500" y="16764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7" name="A4|rise|tarefa2"/>
          <p:cNvSpPr txBox="1"/>
          <p:nvPr/>
        </p:nvSpPr>
        <p:spPr>
          <a:xfrm>
            <a:off x="6286500" y="1892300"/>
            <a:ext cx="228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disputa os clientes.</a:t>
            </a:r>
            <a:endParaRPr lang="en-US" sz="1100" dirty="0"/>
          </a:p>
        </p:txBody>
      </p:sp>
      <p:sp>
        <p:nvSpPr>
          <p:cNvPr id="18" name="A4|rise|tarefa2"/>
          <p:cNvSpPr txBox="1"/>
          <p:nvPr/>
        </p:nvSpPr>
        <p:spPr>
          <a:xfrm>
            <a:off x="6286500" y="2133600"/>
            <a:ext cx="228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[Pastelarias e cadeias de pastéis de nata perto da loja]</a:t>
            </a:r>
            <a:endParaRPr lang="en-US" sz="1150" dirty="0"/>
          </a:p>
        </p:txBody>
      </p:sp>
      <p:sp>
        <p:nvSpPr>
          <p:cNvPr id="19" name="A5|rise|tarefa3"/>
          <p:cNvSpPr/>
          <p:nvPr/>
        </p:nvSpPr>
        <p:spPr>
          <a:xfrm>
            <a:off x="8813800" y="1574800"/>
            <a:ext cx="2565400" cy="1244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5|rise|tarefa3"/>
          <p:cNvSpPr txBox="1"/>
          <p:nvPr/>
        </p:nvSpPr>
        <p:spPr>
          <a:xfrm>
            <a:off x="8953500" y="16764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21" name="A5|rise|tarefa3"/>
          <p:cNvSpPr txBox="1"/>
          <p:nvPr/>
        </p:nvSpPr>
        <p:spPr>
          <a:xfrm>
            <a:off x="8953500" y="1892300"/>
            <a:ext cx="228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influencia de fora.</a:t>
            </a:r>
            <a:endParaRPr lang="en-US" sz="1100" dirty="0"/>
          </a:p>
        </p:txBody>
      </p:sp>
      <p:sp>
        <p:nvSpPr>
          <p:cNvPr id="22" name="A5|rise|tarefa3"/>
          <p:cNvSpPr txBox="1"/>
          <p:nvPr/>
        </p:nvSpPr>
        <p:spPr>
          <a:xfrm>
            <a:off x="8953500" y="2133600"/>
            <a:ext cx="228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[ASAE, câmara municipal, media, avaliações online]</a:t>
            </a:r>
            <a:endParaRPr lang="en-US" sz="1150" dirty="0"/>
          </a:p>
        </p:txBody>
      </p:sp>
      <p:sp>
        <p:nvSpPr>
          <p:cNvPr id="23" name="A6|fade|lblGeral"/>
          <p:cNvSpPr txBox="1"/>
          <p:nvPr/>
        </p:nvSpPr>
        <p:spPr>
          <a:xfrm>
            <a:off x="812800" y="2933700"/>
            <a:ext cx="952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 · FORÇAS GERAIS (IMPACTO INDIRETO)</a:t>
            </a:r>
            <a:endParaRPr lang="en-US" sz="1100" dirty="0"/>
          </a:p>
        </p:txBody>
      </p:sp>
      <p:sp>
        <p:nvSpPr>
          <p:cNvPr id="24" name="A7|rise|geral0"/>
          <p:cNvSpPr/>
          <p:nvPr/>
        </p:nvSpPr>
        <p:spPr>
          <a:xfrm>
            <a:off x="812800" y="3175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5" name="A7|rise|geral0"/>
          <p:cNvSpPr txBox="1"/>
          <p:nvPr/>
        </p:nvSpPr>
        <p:spPr>
          <a:xfrm>
            <a:off x="952500" y="3263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6" name="A7|rise|geral0"/>
          <p:cNvSpPr txBox="1"/>
          <p:nvPr/>
        </p:nvSpPr>
        <p:spPr>
          <a:xfrm>
            <a:off x="952500" y="3479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inflação, preço dos ovos e da energia, turismo]</a:t>
            </a:r>
            <a:endParaRPr lang="en-US" sz="1050" dirty="0"/>
          </a:p>
        </p:txBody>
      </p:sp>
      <p:sp>
        <p:nvSpPr>
          <p:cNvPr id="27" name="A8|rise|geral1"/>
          <p:cNvSpPr/>
          <p:nvPr/>
        </p:nvSpPr>
        <p:spPr>
          <a:xfrm>
            <a:off x="4368800" y="3175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8" name="A8|rise|geral1"/>
          <p:cNvSpPr txBox="1"/>
          <p:nvPr/>
        </p:nvSpPr>
        <p:spPr>
          <a:xfrm>
            <a:off x="4508500" y="3263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9" name="A8|rise|geral1"/>
          <p:cNvSpPr txBox="1"/>
          <p:nvPr/>
        </p:nvSpPr>
        <p:spPr>
          <a:xfrm>
            <a:off x="4508500" y="3479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Regras de higiene e segurança alimentar; Livro de Reclamações Eletrónico. </a:t>
            </a:r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[Outras: leis laborais, IVA]</a:t>
            </a:r>
            <a:endParaRPr lang="en-US" sz="1050" dirty="0"/>
          </a:p>
        </p:txBody>
      </p:sp>
      <p:sp>
        <p:nvSpPr>
          <p:cNvPr id="30" name="A9|rise|geral2"/>
          <p:cNvSpPr/>
          <p:nvPr/>
        </p:nvSpPr>
        <p:spPr>
          <a:xfrm>
            <a:off x="7924800" y="3175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1" name="A9|rise|geral2"/>
          <p:cNvSpPr txBox="1"/>
          <p:nvPr/>
        </p:nvSpPr>
        <p:spPr>
          <a:xfrm>
            <a:off x="8064500" y="3263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32" name="A9|rise|geral2"/>
          <p:cNvSpPr txBox="1"/>
          <p:nvPr/>
        </p:nvSpPr>
        <p:spPr>
          <a:xfrm>
            <a:off x="8064500" y="3479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hábitos de consumo, tradição do pastel de nata]</a:t>
            </a:r>
            <a:endParaRPr lang="en-US" sz="1050" dirty="0"/>
          </a:p>
        </p:txBody>
      </p:sp>
      <p:sp>
        <p:nvSpPr>
          <p:cNvPr id="33" name="A10|rise|geral3"/>
          <p:cNvSpPr/>
          <p:nvPr/>
        </p:nvSpPr>
        <p:spPr>
          <a:xfrm>
            <a:off x="812800" y="4064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4" name="A10|rise|geral3"/>
          <p:cNvSpPr txBox="1"/>
          <p:nvPr/>
        </p:nvSpPr>
        <p:spPr>
          <a:xfrm>
            <a:off x="952500" y="4152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35" name="A10|rise|geral3"/>
          <p:cNvSpPr txBox="1"/>
          <p:nvPr/>
        </p:nvSpPr>
        <p:spPr>
          <a:xfrm>
            <a:off x="952500" y="4368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turistas vs. residentes, faixa etária dos clientes]</a:t>
            </a:r>
            <a:endParaRPr lang="en-US" sz="1050" dirty="0"/>
          </a:p>
        </p:txBody>
      </p:sp>
      <p:sp>
        <p:nvSpPr>
          <p:cNvPr id="36" name="A11|rise|geral4"/>
          <p:cNvSpPr/>
          <p:nvPr/>
        </p:nvSpPr>
        <p:spPr>
          <a:xfrm>
            <a:off x="4368800" y="4064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7" name="A11|rise|geral4"/>
          <p:cNvSpPr txBox="1"/>
          <p:nvPr/>
        </p:nvSpPr>
        <p:spPr>
          <a:xfrm>
            <a:off x="4508500" y="4152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38" name="A11|rise|geral4"/>
          <p:cNvSpPr txBox="1"/>
          <p:nvPr/>
        </p:nvSpPr>
        <p:spPr>
          <a:xfrm>
            <a:off x="4508500" y="4368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Delivery pela Uber Eats e take away NATA&amp;GO. </a:t>
            </a:r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[Outras: pagamentos, redes sociais]</a:t>
            </a:r>
            <a:endParaRPr lang="en-US" sz="1050" dirty="0"/>
          </a:p>
        </p:txBody>
      </p:sp>
      <p:sp>
        <p:nvSpPr>
          <p:cNvPr id="39" name="A12|rise|geral5"/>
          <p:cNvSpPr/>
          <p:nvPr/>
        </p:nvSpPr>
        <p:spPr>
          <a:xfrm>
            <a:off x="7924800" y="4064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0" name="A12|rise|geral5"/>
          <p:cNvSpPr txBox="1"/>
          <p:nvPr/>
        </p:nvSpPr>
        <p:spPr>
          <a:xfrm>
            <a:off x="8064500" y="4152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41" name="A12|rise|geral5"/>
          <p:cNvSpPr txBox="1"/>
          <p:nvPr/>
        </p:nvSpPr>
        <p:spPr>
          <a:xfrm>
            <a:off x="8064500" y="4368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Lojas em 5 países: Portugal, Espanha, Áustria, Alemanha e Angola. </a:t>
            </a:r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[Impacto do turismo na loja]</a:t>
            </a:r>
            <a:endParaRPr lang="en-US" sz="1050" dirty="0"/>
          </a:p>
        </p:txBody>
      </p:sp>
      <p:sp>
        <p:nvSpPr>
          <p:cNvPr id="42" name="A12|fade|fonte"/>
          <p:cNvSpPr txBox="1"/>
          <p:nvPr/>
        </p:nvSpPr>
        <p:spPr>
          <a:xfrm>
            <a:off x="812800" y="4914900"/>
            <a:ext cx="1056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Fontes: natalisboa.com · APF · Portugal Resident</a:t>
            </a:r>
            <a:endParaRPr lang="en-US" sz="800" dirty="0"/>
          </a:p>
        </p:txBody>
      </p:sp>
      <p:sp>
        <p:nvSpPr>
          <p:cNvPr id="43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clientes, concorrência ou mercado.]”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3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indefinite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</a:t>
            </a:r>
            <a:endParaRPr lang="en-US" sz="3600" dirty="0"/>
          </a:p>
        </p:txBody>
      </p:sp>
      <p:sp>
        <p:nvSpPr>
          <p:cNvPr id="6" name="A1|fade|eixos"/>
          <p:cNvSpPr txBox="1"/>
          <p:nvPr/>
        </p:nvSpPr>
        <p:spPr>
          <a:xfrm>
            <a:off x="2019300" y="14097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 DE MUDANÇA →</a:t>
            </a:r>
            <a:endParaRPr lang="en-US" sz="1100" dirty="0"/>
          </a:p>
        </p:txBody>
      </p:sp>
      <p:sp>
        <p:nvSpPr>
          <p:cNvPr id="7" name="A1|fade|eixos"/>
          <p:cNvSpPr txBox="1"/>
          <p:nvPr/>
        </p:nvSpPr>
        <p:spPr>
          <a:xfrm>
            <a:off x="20193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</a:t>
            </a:r>
            <a:endParaRPr lang="en-US" sz="1400" dirty="0"/>
          </a:p>
        </p:txBody>
      </p:sp>
      <p:sp>
        <p:nvSpPr>
          <p:cNvPr id="8" name="A1|fade|eixos"/>
          <p:cNvSpPr txBox="1"/>
          <p:nvPr/>
        </p:nvSpPr>
        <p:spPr>
          <a:xfrm>
            <a:off x="39878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</a:t>
            </a:r>
            <a:endParaRPr lang="en-US" sz="1400" dirty="0"/>
          </a:p>
        </p:txBody>
      </p:sp>
      <p:sp>
        <p:nvSpPr>
          <p:cNvPr id="9" name="A1|fade|eixos"/>
          <p:cNvSpPr txBox="1"/>
          <p:nvPr/>
        </p:nvSpPr>
        <p:spPr>
          <a:xfrm>
            <a:off x="812800" y="17145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COMPLEXIDADE ↓</a:t>
            </a:r>
            <a:endParaRPr lang="en-US" sz="1000" dirty="0"/>
          </a:p>
        </p:txBody>
      </p:sp>
      <p:sp>
        <p:nvSpPr>
          <p:cNvPr id="10" name="A1|fade|eixos"/>
          <p:cNvSpPr txBox="1"/>
          <p:nvPr/>
        </p:nvSpPr>
        <p:spPr>
          <a:xfrm>
            <a:off x="812800" y="19939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</a:t>
            </a:r>
            <a:endParaRPr lang="en-US" sz="1400" dirty="0"/>
          </a:p>
        </p:txBody>
      </p:sp>
      <p:sp>
        <p:nvSpPr>
          <p:cNvPr id="11" name="A1|fade|eixos"/>
          <p:cNvSpPr txBox="1"/>
          <p:nvPr/>
        </p:nvSpPr>
        <p:spPr>
          <a:xfrm>
            <a:off x="812800" y="34544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Complexo</a:t>
            </a:r>
            <a:endParaRPr lang="en-US" sz="1400" dirty="0"/>
          </a:p>
        </p:txBody>
      </p:sp>
      <p:sp>
        <p:nvSpPr>
          <p:cNvPr id="12" name="A2|zoom|cel1"/>
          <p:cNvSpPr/>
          <p:nvPr/>
        </p:nvSpPr>
        <p:spPr>
          <a:xfrm>
            <a:off x="2019300" y="1993900"/>
            <a:ext cx="1968500" cy="1460500"/>
          </a:xfrm>
          <a:prstGeom prst="rect">
            <a:avLst/>
          </a:prstGeom>
          <a:solidFill>
            <a:srgbClr val="13306E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3" name="A2|zoom|cel1"/>
          <p:cNvSpPr txBox="1"/>
          <p:nvPr/>
        </p:nvSpPr>
        <p:spPr>
          <a:xfrm>
            <a:off x="21717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4" name="A2|zoom|cel1"/>
          <p:cNvSpPr txBox="1"/>
          <p:nvPr/>
        </p:nvSpPr>
        <p:spPr>
          <a:xfrm>
            <a:off x="21717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simples</a:t>
            </a:r>
            <a:endParaRPr lang="en-US" sz="1250" dirty="0"/>
          </a:p>
        </p:txBody>
      </p:sp>
      <p:sp>
        <p:nvSpPr>
          <p:cNvPr id="15" name="A2|zoom|cel1"/>
          <p:cNvSpPr txBox="1"/>
          <p:nvPr/>
        </p:nvSpPr>
        <p:spPr>
          <a:xfrm>
            <a:off x="21717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BAIXA</a:t>
            </a:r>
            <a:endParaRPr lang="en-US" sz="1250" dirty="0"/>
          </a:p>
        </p:txBody>
      </p:sp>
      <p:sp>
        <p:nvSpPr>
          <p:cNvPr id="16" name="A3|zoom|cel2"/>
          <p:cNvSpPr/>
          <p:nvPr/>
        </p:nvSpPr>
        <p:spPr>
          <a:xfrm>
            <a:off x="3987800" y="19939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7" name="A3|zoom|cel2"/>
          <p:cNvSpPr txBox="1"/>
          <p:nvPr/>
        </p:nvSpPr>
        <p:spPr>
          <a:xfrm>
            <a:off x="41402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A3|zoom|cel2"/>
          <p:cNvSpPr txBox="1"/>
          <p:nvPr/>
        </p:nvSpPr>
        <p:spPr>
          <a:xfrm>
            <a:off x="41402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simples</a:t>
            </a:r>
            <a:endParaRPr lang="en-US" sz="1250" dirty="0"/>
          </a:p>
        </p:txBody>
      </p:sp>
      <p:sp>
        <p:nvSpPr>
          <p:cNvPr id="19" name="A3|zoom|cel2"/>
          <p:cNvSpPr txBox="1"/>
          <p:nvPr/>
        </p:nvSpPr>
        <p:spPr>
          <a:xfrm>
            <a:off x="41402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0" name="A4|zoom|cel3"/>
          <p:cNvSpPr/>
          <p:nvPr/>
        </p:nvSpPr>
        <p:spPr>
          <a:xfrm>
            <a:off x="2019300" y="34544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1" name="A4|zoom|cel3"/>
          <p:cNvSpPr txBox="1"/>
          <p:nvPr/>
        </p:nvSpPr>
        <p:spPr>
          <a:xfrm>
            <a:off x="21717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A4|zoom|cel3"/>
          <p:cNvSpPr txBox="1"/>
          <p:nvPr/>
        </p:nvSpPr>
        <p:spPr>
          <a:xfrm>
            <a:off x="21717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complexo</a:t>
            </a:r>
            <a:endParaRPr lang="en-US" sz="1250" dirty="0"/>
          </a:p>
        </p:txBody>
      </p:sp>
      <p:sp>
        <p:nvSpPr>
          <p:cNvPr id="23" name="A4|zoom|cel3"/>
          <p:cNvSpPr txBox="1"/>
          <p:nvPr/>
        </p:nvSpPr>
        <p:spPr>
          <a:xfrm>
            <a:off x="21717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4" name="A5|zoom|cel4"/>
          <p:cNvSpPr/>
          <p:nvPr/>
        </p:nvSpPr>
        <p:spPr>
          <a:xfrm>
            <a:off x="3987800" y="3454400"/>
            <a:ext cx="1968500" cy="1460500"/>
          </a:xfrm>
          <a:prstGeom prst="rect">
            <a:avLst/>
          </a:prstGeom>
          <a:solidFill>
            <a:srgbClr val="254C96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5" name="A5|zoom|cel4"/>
          <p:cNvSpPr txBox="1"/>
          <p:nvPr/>
        </p:nvSpPr>
        <p:spPr>
          <a:xfrm>
            <a:off x="41402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A5|zoom|cel4"/>
          <p:cNvSpPr txBox="1"/>
          <p:nvPr/>
        </p:nvSpPr>
        <p:spPr>
          <a:xfrm>
            <a:off x="41402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complexo</a:t>
            </a:r>
            <a:endParaRPr lang="en-US" sz="1250" dirty="0"/>
          </a:p>
        </p:txBody>
      </p:sp>
      <p:sp>
        <p:nvSpPr>
          <p:cNvPr id="27" name="A5|zoom|cel4"/>
          <p:cNvSpPr txBox="1"/>
          <p:nvPr/>
        </p:nvSpPr>
        <p:spPr>
          <a:xfrm>
            <a:off x="41402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ELEVADA</a:t>
            </a:r>
            <a:endParaRPr lang="en-US" sz="1250" dirty="0"/>
          </a:p>
        </p:txBody>
      </p:sp>
      <p:sp>
        <p:nvSpPr>
          <p:cNvPr id="28" name="A5|fade|fonte"/>
          <p:cNvSpPr txBox="1"/>
          <p:nvPr/>
        </p:nvSpPr>
        <p:spPr>
          <a:xfrm>
            <a:off x="812800" y="5080000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 de incerteza ambiental (Duncan, 1972)</a:t>
            </a:r>
            <a:endParaRPr lang="en-US" sz="1000" dirty="0"/>
          </a:p>
        </p:txBody>
      </p:sp>
      <p:sp>
        <p:nvSpPr>
          <p:cNvPr id="29" name="A6|fade|geral"/>
          <p:cNvSpPr txBox="1"/>
          <p:nvPr/>
        </p:nvSpPr>
        <p:spPr>
          <a:xfrm>
            <a:off x="6350000" y="1333500"/>
            <a:ext cx="502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30" name="A6|fade|geral"/>
          <p:cNvSpPr txBox="1"/>
          <p:nvPr/>
        </p:nvSpPr>
        <p:spPr>
          <a:xfrm>
            <a:off x="6350000" y="1562100"/>
            <a:ext cx="5029200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complexidade mede quantos componentes do ambiente afetam a organização; a mudança, a rapidez com que esses fatores se alteram. Juntos determinam a incerteza que os gestores enfrentam. Quanto maior a incerteza, mais os gestores precisam de informação, flexibilidade e decisões rápidas.</a:t>
            </a:r>
            <a:endParaRPr lang="en-US" sz="1200" dirty="0"/>
          </a:p>
        </p:txBody>
      </p:sp>
      <p:sp>
        <p:nvSpPr>
          <p:cNvPr id="31" name="A7|rise|especifico"/>
          <p:cNvSpPr/>
          <p:nvPr/>
        </p:nvSpPr>
        <p:spPr>
          <a:xfrm>
            <a:off x="6350000" y="2984500"/>
            <a:ext cx="5029200" cy="13589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2" name="A7|rise|especifico"/>
          <p:cNvSpPr txBox="1"/>
          <p:nvPr/>
        </p:nvSpPr>
        <p:spPr>
          <a:xfrm>
            <a:off x="6477000" y="3073400"/>
            <a:ext cx="4775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33" name="A7|rise|especifico"/>
          <p:cNvSpPr txBox="1"/>
          <p:nvPr/>
        </p:nvSpPr>
        <p:spPr>
          <a:xfrm>
            <a:off x="6477000" y="3327400"/>
            <a:ext cx="4775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de componentes: </a:t>
            </a:r>
            <a:pPr algn="l" indent="0" marL="0">
              <a:spcAft>
                <a:spcPts val="1000"/>
              </a:spcAft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[poucos / muitos — quais?]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 de mudança: </a:t>
            </a:r>
            <a:pPr algn="l" indent="0" marL="0">
              <a:spcAft>
                <a:spcPts val="1000"/>
              </a:spcAft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[lento / rápido — porquê?]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Conclusão: </a:t>
            </a:r>
            <a:pPr algn="l" indent="0" marL="0">
              <a:spcAft>
                <a:spcPts val="1000"/>
              </a:spcAft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[Célula _ · incerteza ______]</a:t>
            </a:r>
            <a:endParaRPr lang="en-US" sz="1250" dirty="0"/>
          </a:p>
        </p:txBody>
      </p:sp>
      <p:sp>
        <p:nvSpPr>
          <p:cNvPr id="34" name="K1|rise|citacao"/>
          <p:cNvSpPr txBox="1"/>
          <p:nvPr/>
        </p:nvSpPr>
        <p:spPr>
          <a:xfrm rot="-36000">
            <a:off x="6350000" y="4483100"/>
            <a:ext cx="5029200" cy="1270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mudanças no mercado ou na concorrência.]”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2 ·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CULTURA: 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intro"/>
          <p:cNvSpPr txBox="1"/>
          <p:nvPr/>
        </p:nvSpPr>
        <p:spPr>
          <a:xfrm>
            <a:off x="812800" y="15240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cultura organizacional são os valores, crenças, tradições e formas de fazer partilhados que influenciam o modo como os membros pensam e agem — «a forma como as coisas se fazem aqui». Pode descrever-se em 6 dimensões, cada uma um contínuo entre dois polos (Hofstede et al., 1990).</a:t>
            </a:r>
            <a:endParaRPr lang="en-US" sz="1200" dirty="0"/>
          </a:p>
        </p:txBody>
      </p:sp>
      <p:sp>
        <p:nvSpPr>
          <p:cNvPr id="8" name="A1|fade|intro"/>
          <p:cNvSpPr txBox="1"/>
          <p:nvPr/>
        </p:nvSpPr>
        <p:spPr>
          <a:xfrm>
            <a:off x="1460500" y="20574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A</a:t>
            </a:r>
            <a:endParaRPr lang="en-US" sz="950" dirty="0"/>
          </a:p>
        </p:txBody>
      </p:sp>
      <p:sp>
        <p:nvSpPr>
          <p:cNvPr id="9" name="A1|fade|intro"/>
          <p:cNvSpPr txBox="1"/>
          <p:nvPr/>
        </p:nvSpPr>
        <p:spPr>
          <a:xfrm>
            <a:off x="3429000" y="20574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POSIÇÃO NA NATA LISBOA</a:t>
            </a:r>
            <a:endParaRPr lang="en-US" sz="950" dirty="0"/>
          </a:p>
        </p:txBody>
      </p:sp>
      <p:sp>
        <p:nvSpPr>
          <p:cNvPr id="10" name="A1|fade|intro"/>
          <p:cNvSpPr txBox="1"/>
          <p:nvPr/>
        </p:nvSpPr>
        <p:spPr>
          <a:xfrm>
            <a:off x="6032500" y="20574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B</a:t>
            </a:r>
            <a:endParaRPr lang="en-US" sz="950" dirty="0"/>
          </a:p>
        </p:txBody>
      </p:sp>
      <p:sp>
        <p:nvSpPr>
          <p:cNvPr id="11" name="A1|fade|intro"/>
          <p:cNvSpPr txBox="1"/>
          <p:nvPr/>
        </p:nvSpPr>
        <p:spPr>
          <a:xfrm>
            <a:off x="8001000" y="20574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EVIDÊNCIA · O QUE A MÔNICA DISSE</a:t>
            </a:r>
            <a:endParaRPr lang="en-US" sz="950" dirty="0"/>
          </a:p>
        </p:txBody>
      </p:sp>
      <p:sp>
        <p:nvSpPr>
          <p:cNvPr id="12" name="A2|wipeL|dim1"/>
          <p:cNvSpPr/>
          <p:nvPr/>
        </p:nvSpPr>
        <p:spPr>
          <a:xfrm>
            <a:off x="812800" y="22860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2|wipeL|dim1"/>
          <p:cNvSpPr txBox="1"/>
          <p:nvPr/>
        </p:nvSpPr>
        <p:spPr>
          <a:xfrm>
            <a:off x="952500" y="24257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200" dirty="0"/>
          </a:p>
        </p:txBody>
      </p:sp>
      <p:sp>
        <p:nvSpPr>
          <p:cNvPr id="14" name="A2|wipeL|dim1"/>
          <p:cNvSpPr txBox="1"/>
          <p:nvPr/>
        </p:nvSpPr>
        <p:spPr>
          <a:xfrm>
            <a:off x="1333500" y="24003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</a:t>
            </a:r>
            <a:endParaRPr lang="en-US" sz="1300" dirty="0"/>
          </a:p>
        </p:txBody>
      </p:sp>
      <p:sp>
        <p:nvSpPr>
          <p:cNvPr id="15" name="A2|wipeL|dim1"/>
          <p:cNvSpPr/>
          <p:nvPr/>
        </p:nvSpPr>
        <p:spPr>
          <a:xfrm>
            <a:off x="3492500" y="25273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16" name="A2|wipeL|dim1"/>
          <p:cNvSpPr/>
          <p:nvPr/>
        </p:nvSpPr>
        <p:spPr>
          <a:xfrm>
            <a:off x="3454400" y="24892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7" name="A2|wipeL|dim1"/>
          <p:cNvSpPr/>
          <p:nvPr/>
        </p:nvSpPr>
        <p:spPr>
          <a:xfrm>
            <a:off x="5740400" y="24892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8" name="A2|wipeL|dim1"/>
          <p:cNvSpPr/>
          <p:nvPr/>
        </p:nvSpPr>
        <p:spPr>
          <a:xfrm>
            <a:off x="4546600" y="24384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A2|wipeL|dim1"/>
          <p:cNvSpPr txBox="1"/>
          <p:nvPr/>
        </p:nvSpPr>
        <p:spPr>
          <a:xfrm>
            <a:off x="6032500" y="24003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300" dirty="0"/>
          </a:p>
        </p:txBody>
      </p:sp>
      <p:sp>
        <p:nvSpPr>
          <p:cNvPr id="20" name="A2|wipeL|dim1"/>
          <p:cNvSpPr txBox="1"/>
          <p:nvPr/>
        </p:nvSpPr>
        <p:spPr>
          <a:xfrm>
            <a:off x="8001000" y="24003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21" name="A3|wipeL|dim2"/>
          <p:cNvSpPr/>
          <p:nvPr/>
        </p:nvSpPr>
        <p:spPr>
          <a:xfrm>
            <a:off x="812800" y="28448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3|wipeL|dim2"/>
          <p:cNvSpPr txBox="1"/>
          <p:nvPr/>
        </p:nvSpPr>
        <p:spPr>
          <a:xfrm>
            <a:off x="952500" y="29845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200" dirty="0"/>
          </a:p>
        </p:txBody>
      </p:sp>
      <p:sp>
        <p:nvSpPr>
          <p:cNvPr id="23" name="A3|wipeL|dim2"/>
          <p:cNvSpPr txBox="1"/>
          <p:nvPr/>
        </p:nvSpPr>
        <p:spPr>
          <a:xfrm>
            <a:off x="1333500" y="2959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</a:t>
            </a:r>
            <a:endParaRPr lang="en-US" sz="1300" dirty="0"/>
          </a:p>
        </p:txBody>
      </p:sp>
      <p:sp>
        <p:nvSpPr>
          <p:cNvPr id="24" name="A3|wipeL|dim2"/>
          <p:cNvSpPr/>
          <p:nvPr/>
        </p:nvSpPr>
        <p:spPr>
          <a:xfrm>
            <a:off x="3492500" y="30861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25" name="A3|wipeL|dim2"/>
          <p:cNvSpPr/>
          <p:nvPr/>
        </p:nvSpPr>
        <p:spPr>
          <a:xfrm>
            <a:off x="3454400" y="30480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6" name="A3|wipeL|dim2"/>
          <p:cNvSpPr/>
          <p:nvPr/>
        </p:nvSpPr>
        <p:spPr>
          <a:xfrm>
            <a:off x="5740400" y="30480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7" name="A3|wipeL|dim2"/>
          <p:cNvSpPr/>
          <p:nvPr/>
        </p:nvSpPr>
        <p:spPr>
          <a:xfrm>
            <a:off x="4546600" y="29972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A3|wipeL|dim2"/>
          <p:cNvSpPr txBox="1"/>
          <p:nvPr/>
        </p:nvSpPr>
        <p:spPr>
          <a:xfrm>
            <a:off x="6032500" y="29591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</a:t>
            </a:r>
            <a:endParaRPr lang="en-US" sz="1300" dirty="0"/>
          </a:p>
        </p:txBody>
      </p:sp>
      <p:sp>
        <p:nvSpPr>
          <p:cNvPr id="29" name="A3|wipeL|dim2"/>
          <p:cNvSpPr txBox="1"/>
          <p:nvPr/>
        </p:nvSpPr>
        <p:spPr>
          <a:xfrm>
            <a:off x="8001000" y="29591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30" name="A4|wipeL|dim3"/>
          <p:cNvSpPr/>
          <p:nvPr/>
        </p:nvSpPr>
        <p:spPr>
          <a:xfrm>
            <a:off x="812800" y="34036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1" name="A4|wipeL|dim3"/>
          <p:cNvSpPr txBox="1"/>
          <p:nvPr/>
        </p:nvSpPr>
        <p:spPr>
          <a:xfrm>
            <a:off x="952500" y="35433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200" dirty="0"/>
          </a:p>
        </p:txBody>
      </p:sp>
      <p:sp>
        <p:nvSpPr>
          <p:cNvPr id="32" name="A4|wipeL|dim3"/>
          <p:cNvSpPr txBox="1"/>
          <p:nvPr/>
        </p:nvSpPr>
        <p:spPr>
          <a:xfrm>
            <a:off x="1333500" y="3517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Paroquial</a:t>
            </a:r>
            <a:endParaRPr lang="en-US" sz="1300" dirty="0"/>
          </a:p>
        </p:txBody>
      </p:sp>
      <p:sp>
        <p:nvSpPr>
          <p:cNvPr id="33" name="A4|wipeL|dim3"/>
          <p:cNvSpPr/>
          <p:nvPr/>
        </p:nvSpPr>
        <p:spPr>
          <a:xfrm>
            <a:off x="3492500" y="36449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34" name="A4|wipeL|dim3"/>
          <p:cNvSpPr/>
          <p:nvPr/>
        </p:nvSpPr>
        <p:spPr>
          <a:xfrm>
            <a:off x="3454400" y="36068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5" name="A4|wipeL|dim3"/>
          <p:cNvSpPr/>
          <p:nvPr/>
        </p:nvSpPr>
        <p:spPr>
          <a:xfrm>
            <a:off x="5740400" y="36068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6" name="A4|wipeL|dim3"/>
          <p:cNvSpPr/>
          <p:nvPr/>
        </p:nvSpPr>
        <p:spPr>
          <a:xfrm>
            <a:off x="4546600" y="35560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A4|wipeL|dim3"/>
          <p:cNvSpPr txBox="1"/>
          <p:nvPr/>
        </p:nvSpPr>
        <p:spPr>
          <a:xfrm>
            <a:off x="6032500" y="35179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Profissional</a:t>
            </a:r>
            <a:endParaRPr lang="en-US" sz="1300" dirty="0"/>
          </a:p>
        </p:txBody>
      </p:sp>
      <p:sp>
        <p:nvSpPr>
          <p:cNvPr id="38" name="A4|wipeL|dim3"/>
          <p:cNvSpPr txBox="1"/>
          <p:nvPr/>
        </p:nvSpPr>
        <p:spPr>
          <a:xfrm>
            <a:off x="8001000" y="35179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39" name="A5|wipeL|dim4"/>
          <p:cNvSpPr/>
          <p:nvPr/>
        </p:nvSpPr>
        <p:spPr>
          <a:xfrm>
            <a:off x="812800" y="39624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0" name="A5|wipeL|dim4"/>
          <p:cNvSpPr txBox="1"/>
          <p:nvPr/>
        </p:nvSpPr>
        <p:spPr>
          <a:xfrm>
            <a:off x="952500" y="41021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</a:t>
            </a:r>
            <a:endParaRPr lang="en-US" sz="1200" dirty="0"/>
          </a:p>
        </p:txBody>
      </p:sp>
      <p:sp>
        <p:nvSpPr>
          <p:cNvPr id="41" name="A5|wipeL|dim4"/>
          <p:cNvSpPr txBox="1"/>
          <p:nvPr/>
        </p:nvSpPr>
        <p:spPr>
          <a:xfrm>
            <a:off x="1333500" y="40767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300" dirty="0"/>
          </a:p>
        </p:txBody>
      </p:sp>
      <p:sp>
        <p:nvSpPr>
          <p:cNvPr id="42" name="A5|wipeL|dim4"/>
          <p:cNvSpPr/>
          <p:nvPr/>
        </p:nvSpPr>
        <p:spPr>
          <a:xfrm>
            <a:off x="3492500" y="42037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43" name="A5|wipeL|dim4"/>
          <p:cNvSpPr/>
          <p:nvPr/>
        </p:nvSpPr>
        <p:spPr>
          <a:xfrm>
            <a:off x="3454400" y="41656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4" name="A5|wipeL|dim4"/>
          <p:cNvSpPr/>
          <p:nvPr/>
        </p:nvSpPr>
        <p:spPr>
          <a:xfrm>
            <a:off x="5740400" y="41656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5" name="A5|wipeL|dim4"/>
          <p:cNvSpPr/>
          <p:nvPr/>
        </p:nvSpPr>
        <p:spPr>
          <a:xfrm>
            <a:off x="4546600" y="41148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A5|wipeL|dim4"/>
          <p:cNvSpPr txBox="1"/>
          <p:nvPr/>
        </p:nvSpPr>
        <p:spPr>
          <a:xfrm>
            <a:off x="6032500" y="40767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fechado</a:t>
            </a:r>
            <a:endParaRPr lang="en-US" sz="1300" dirty="0"/>
          </a:p>
        </p:txBody>
      </p:sp>
      <p:sp>
        <p:nvSpPr>
          <p:cNvPr id="47" name="A5|wipeL|dim4"/>
          <p:cNvSpPr txBox="1"/>
          <p:nvPr/>
        </p:nvSpPr>
        <p:spPr>
          <a:xfrm>
            <a:off x="8001000" y="40767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48" name="A6|wipeL|dim5"/>
          <p:cNvSpPr/>
          <p:nvPr/>
        </p:nvSpPr>
        <p:spPr>
          <a:xfrm>
            <a:off x="812800" y="45212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9" name="A6|wipeL|dim5"/>
          <p:cNvSpPr txBox="1"/>
          <p:nvPr/>
        </p:nvSpPr>
        <p:spPr>
          <a:xfrm>
            <a:off x="952500" y="46609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1200" dirty="0"/>
          </a:p>
        </p:txBody>
      </p:sp>
      <p:sp>
        <p:nvSpPr>
          <p:cNvPr id="50" name="A6|wipeL|dim5"/>
          <p:cNvSpPr txBox="1"/>
          <p:nvPr/>
        </p:nvSpPr>
        <p:spPr>
          <a:xfrm>
            <a:off x="1333500" y="4635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flexível</a:t>
            </a:r>
            <a:endParaRPr lang="en-US" sz="1300" dirty="0"/>
          </a:p>
        </p:txBody>
      </p:sp>
      <p:sp>
        <p:nvSpPr>
          <p:cNvPr id="51" name="A6|wipeL|dim5"/>
          <p:cNvSpPr/>
          <p:nvPr/>
        </p:nvSpPr>
        <p:spPr>
          <a:xfrm>
            <a:off x="3492500" y="47625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52" name="A6|wipeL|dim5"/>
          <p:cNvSpPr/>
          <p:nvPr/>
        </p:nvSpPr>
        <p:spPr>
          <a:xfrm>
            <a:off x="3454400" y="47244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3" name="A6|wipeL|dim5"/>
          <p:cNvSpPr/>
          <p:nvPr/>
        </p:nvSpPr>
        <p:spPr>
          <a:xfrm>
            <a:off x="5740400" y="47244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4" name="A6|wipeL|dim5"/>
          <p:cNvSpPr/>
          <p:nvPr/>
        </p:nvSpPr>
        <p:spPr>
          <a:xfrm>
            <a:off x="4546600" y="46736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A6|wipeL|dim5"/>
          <p:cNvSpPr txBox="1"/>
          <p:nvPr/>
        </p:nvSpPr>
        <p:spPr>
          <a:xfrm>
            <a:off x="6032500" y="46355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apertado</a:t>
            </a:r>
            <a:endParaRPr lang="en-US" sz="1300" dirty="0"/>
          </a:p>
        </p:txBody>
      </p:sp>
      <p:sp>
        <p:nvSpPr>
          <p:cNvPr id="56" name="A6|wipeL|dim5"/>
          <p:cNvSpPr txBox="1"/>
          <p:nvPr/>
        </p:nvSpPr>
        <p:spPr>
          <a:xfrm>
            <a:off x="8001000" y="4635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57" name="A7|wipeL|dim6"/>
          <p:cNvSpPr/>
          <p:nvPr/>
        </p:nvSpPr>
        <p:spPr>
          <a:xfrm>
            <a:off x="812800" y="50800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58" name="A7|wipeL|dim6"/>
          <p:cNvSpPr txBox="1"/>
          <p:nvPr/>
        </p:nvSpPr>
        <p:spPr>
          <a:xfrm>
            <a:off x="952500" y="52197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</a:t>
            </a:r>
            <a:endParaRPr lang="en-US" sz="1200" dirty="0"/>
          </a:p>
        </p:txBody>
      </p:sp>
      <p:sp>
        <p:nvSpPr>
          <p:cNvPr id="59" name="A7|wipeL|dim6"/>
          <p:cNvSpPr txBox="1"/>
          <p:nvPr/>
        </p:nvSpPr>
        <p:spPr>
          <a:xfrm>
            <a:off x="1333500" y="51943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Normativa</a:t>
            </a:r>
            <a:endParaRPr lang="en-US" sz="1300" dirty="0"/>
          </a:p>
        </p:txBody>
      </p:sp>
      <p:sp>
        <p:nvSpPr>
          <p:cNvPr id="60" name="A7|wipeL|dim6"/>
          <p:cNvSpPr/>
          <p:nvPr/>
        </p:nvSpPr>
        <p:spPr>
          <a:xfrm>
            <a:off x="3492500" y="53213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61" name="A7|wipeL|dim6"/>
          <p:cNvSpPr/>
          <p:nvPr/>
        </p:nvSpPr>
        <p:spPr>
          <a:xfrm>
            <a:off x="3454400" y="52832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2" name="A7|wipeL|dim6"/>
          <p:cNvSpPr/>
          <p:nvPr/>
        </p:nvSpPr>
        <p:spPr>
          <a:xfrm>
            <a:off x="5740400" y="52832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3" name="A7|wipeL|dim6"/>
          <p:cNvSpPr/>
          <p:nvPr/>
        </p:nvSpPr>
        <p:spPr>
          <a:xfrm>
            <a:off x="4546600" y="52324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A7|wipeL|dim6"/>
          <p:cNvSpPr txBox="1"/>
          <p:nvPr/>
        </p:nvSpPr>
        <p:spPr>
          <a:xfrm>
            <a:off x="6032500" y="51943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Pragmática</a:t>
            </a:r>
            <a:endParaRPr lang="en-US" sz="1300" dirty="0"/>
          </a:p>
        </p:txBody>
      </p:sp>
      <p:sp>
        <p:nvSpPr>
          <p:cNvPr id="65" name="A7|wipeL|dim6"/>
          <p:cNvSpPr txBox="1"/>
          <p:nvPr/>
        </p:nvSpPr>
        <p:spPr>
          <a:xfrm>
            <a:off x="8001000" y="51943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66" name="A8|fade|nota"/>
          <p:cNvSpPr txBox="1"/>
          <p:nvPr/>
        </p:nvSpPr>
        <p:spPr>
          <a:xfrm>
            <a:off x="812800" y="5676900"/>
            <a:ext cx="1056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Arrastar cada ● para a posição da Nata Lisboa. Confirmar os nomes das 6 dimensões com o PDF do Tópico 2.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2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3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2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2 ·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CULTURA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colaboradores aprendem a cultura sobretudo no dia a dia e na integração (socialização). Robbins &amp; Coulter destacam quatro formas de transmissão. Uma cultura é forte quando os valores-chave são intensamente partilhados e aceites por todos.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Histórias</a:t>
            </a:r>
            <a:endParaRPr lang="en-US" sz="14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705100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Narrativas sobre pessoas e acontecimentos marcantes — fundadores, crises, sucessos — que mostram o que a organização valoriza.</a:t>
            </a:r>
            <a:endParaRPr lang="en-US" sz="1150" dirty="0"/>
          </a:p>
        </p:txBody>
      </p:sp>
      <p:sp>
        <p:nvSpPr>
          <p:cNvPr id="11" name="A3|rise|item1"/>
          <p:cNvSpPr/>
          <p:nvPr/>
        </p:nvSpPr>
        <p:spPr>
          <a:xfrm>
            <a:off x="41656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3|rise|item1"/>
          <p:cNvSpPr txBox="1"/>
          <p:nvPr/>
        </p:nvSpPr>
        <p:spPr>
          <a:xfrm>
            <a:off x="4292600" y="24447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</a:t>
            </a:r>
            <a:endParaRPr lang="en-US" sz="1400" dirty="0"/>
          </a:p>
        </p:txBody>
      </p:sp>
      <p:sp>
        <p:nvSpPr>
          <p:cNvPr id="13" name="A3|rise|item1"/>
          <p:cNvSpPr txBox="1"/>
          <p:nvPr/>
        </p:nvSpPr>
        <p:spPr>
          <a:xfrm>
            <a:off x="4292600" y="2705100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Sequências repetidas de atividades que reforçam os valores-chave: reuniões, formações, celebrações e prémios.</a:t>
            </a:r>
            <a:endParaRPr lang="en-US" sz="1150" dirty="0"/>
          </a:p>
        </p:txBody>
      </p:sp>
      <p:sp>
        <p:nvSpPr>
          <p:cNvPr id="14" name="A4|rise|item2"/>
          <p:cNvSpPr/>
          <p:nvPr/>
        </p:nvSpPr>
        <p:spPr>
          <a:xfrm>
            <a:off x="8128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4|rise|item2"/>
          <p:cNvSpPr txBox="1"/>
          <p:nvPr/>
        </p:nvSpPr>
        <p:spPr>
          <a:xfrm>
            <a:off x="939800" y="36988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 materiais</a:t>
            </a:r>
            <a:endParaRPr lang="en-US" sz="1400" dirty="0"/>
          </a:p>
        </p:txBody>
      </p:sp>
      <p:sp>
        <p:nvSpPr>
          <p:cNvPr id="16" name="A4|rise|item2"/>
          <p:cNvSpPr txBox="1"/>
          <p:nvPr/>
        </p:nvSpPr>
        <p:spPr>
          <a:xfrm>
            <a:off x="939800" y="3959225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Espaço, decoração, fardas e objetos comunicam o que é importante e o tipo de comportamento esperado.</a:t>
            </a:r>
            <a:endParaRPr lang="en-US" sz="1150" dirty="0"/>
          </a:p>
        </p:txBody>
      </p:sp>
      <p:sp>
        <p:nvSpPr>
          <p:cNvPr id="17" name="A5|rise|item3"/>
          <p:cNvSpPr/>
          <p:nvPr/>
        </p:nvSpPr>
        <p:spPr>
          <a:xfrm>
            <a:off x="41656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8" name="A5|rise|item3"/>
          <p:cNvSpPr txBox="1"/>
          <p:nvPr/>
        </p:nvSpPr>
        <p:spPr>
          <a:xfrm>
            <a:off x="4292600" y="36988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</a:t>
            </a:r>
            <a:endParaRPr lang="en-US" sz="1400" dirty="0"/>
          </a:p>
        </p:txBody>
      </p:sp>
      <p:sp>
        <p:nvSpPr>
          <p:cNvPr id="19" name="A5|rise|item3"/>
          <p:cNvSpPr txBox="1"/>
          <p:nvPr/>
        </p:nvSpPr>
        <p:spPr>
          <a:xfrm>
            <a:off x="4292600" y="3959225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Termos, siglas e expressões próprias que identificam os membros e os unem à cultura da organização.</a:t>
            </a:r>
            <a:endParaRPr lang="en-US" sz="1150" dirty="0"/>
          </a:p>
        </p:txBody>
      </p:sp>
      <p:sp>
        <p:nvSpPr>
          <p:cNvPr id="20" name="A6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1" name="A6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2" name="A6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Símbolos: o nome «NATA» e a assinatura «The world needs nata» ligam a marca a Lisboa e ao mundo.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[Histórias: a fundação da marca, um cliente marcante]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Rituais: formação integral assegurada pelo franqueador a quem abre ou trabalha numa loja.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[Linguagem: expressões usadas pela equipa]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[Cultura forte ou fraca? Porquê]</a:t>
            </a:r>
            <a:endParaRPr lang="en-US" sz="1100" dirty="0"/>
          </a:p>
        </p:txBody>
      </p:sp>
      <p:sp>
        <p:nvSpPr>
          <p:cNvPr id="23" name="A6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Fontes: natalisboa.com · APF · Portugal Resident</a:t>
            </a:r>
            <a:endParaRPr lang="en-US" sz="800" dirty="0"/>
          </a:p>
        </p:txBody>
      </p:sp>
      <p:sp>
        <p:nvSpPr>
          <p:cNvPr id="24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a integração de novos colaboradores.]”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A7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6" name="A7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7" name="A7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um colaborador novo aprende na primeira semana.]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1 · OS GESTORES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intro"/>
          <p:cNvSpPr txBox="1"/>
          <p:nvPr/>
        </p:nvSpPr>
        <p:spPr>
          <a:xfrm>
            <a:off x="812800" y="15240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Numa estrutura tradicional (piramidal), os gestores distribuem-se por três níveis. Quanto mais alto o nível, mais as decisões são estratégicas e de longo prazo; quanto mais baixo, mais operacionais e do dia a dia.</a:t>
            </a:r>
            <a:endParaRPr lang="en-US" sz="1200" dirty="0"/>
          </a:p>
        </p:txBody>
      </p:sp>
      <p:pic>
        <p:nvPicPr>
          <p:cNvPr id="8" name="A2|zoom|piramide" descr="Pirâmide com os três níveis de gestão: topo, intermédia e primeira li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2095500"/>
            <a:ext cx="3556000" cy="2997200"/>
          </a:xfrm>
          <a:prstGeom prst="rect">
            <a:avLst/>
          </a:prstGeom>
        </p:spPr>
      </p:pic>
      <p:sp>
        <p:nvSpPr>
          <p:cNvPr id="9" name="A2|zoom|piramide"/>
          <p:cNvSpPr txBox="1"/>
          <p:nvPr/>
        </p:nvSpPr>
        <p:spPr>
          <a:xfrm>
            <a:off x="2463800" y="2603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</a:t>
            </a:r>
            <a:endParaRPr lang="en-US" sz="1300" dirty="0"/>
          </a:p>
        </p:txBody>
      </p:sp>
      <p:sp>
        <p:nvSpPr>
          <p:cNvPr id="10" name="A2|zoom|piramide"/>
          <p:cNvSpPr txBox="1"/>
          <p:nvPr/>
        </p:nvSpPr>
        <p:spPr>
          <a:xfrm>
            <a:off x="1701800" y="33655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INTERMÉDIA</a:t>
            </a:r>
            <a:endParaRPr lang="en-US" sz="1400" dirty="0"/>
          </a:p>
        </p:txBody>
      </p:sp>
      <p:sp>
        <p:nvSpPr>
          <p:cNvPr id="11" name="A2|zoom|piramide"/>
          <p:cNvSpPr txBox="1"/>
          <p:nvPr/>
        </p:nvSpPr>
        <p:spPr>
          <a:xfrm>
            <a:off x="1416050" y="434340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LINHA</a:t>
            </a:r>
            <a:endParaRPr lang="en-US" sz="1400" dirty="0"/>
          </a:p>
        </p:txBody>
      </p:sp>
      <p:sp>
        <p:nvSpPr>
          <p:cNvPr id="12" name="A2|zoom|piramide"/>
          <p:cNvSpPr txBox="1"/>
          <p:nvPr/>
        </p:nvSpPr>
        <p:spPr>
          <a:xfrm>
            <a:off x="812800" y="5118100"/>
            <a:ext cx="406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OPERACIONAIS: </a:t>
            </a:r>
            <a:pPr algn="ctr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[n.º aprox.]</a:t>
            </a:r>
            <a:endParaRPr lang="en-US" sz="1050" dirty="0"/>
          </a:p>
        </p:txBody>
      </p:sp>
      <p:sp>
        <p:nvSpPr>
          <p:cNvPr id="13" name="A3|rise|nivel0"/>
          <p:cNvSpPr/>
          <p:nvPr/>
        </p:nvSpPr>
        <p:spPr>
          <a:xfrm>
            <a:off x="5334000" y="2095500"/>
            <a:ext cx="6045200" cy="8509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3|rise|nivel0"/>
          <p:cNvSpPr txBox="1"/>
          <p:nvPr/>
        </p:nvSpPr>
        <p:spPr>
          <a:xfrm>
            <a:off x="5511800" y="2184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TOPO</a:t>
            </a:r>
            <a:endParaRPr lang="en-US" sz="1100" dirty="0"/>
          </a:p>
        </p:txBody>
      </p:sp>
      <p:sp>
        <p:nvSpPr>
          <p:cNvPr id="15" name="A3|rise|nivel0"/>
          <p:cNvSpPr txBox="1"/>
          <p:nvPr/>
        </p:nvSpPr>
        <p:spPr>
          <a:xfrm>
            <a:off x="5511800" y="23876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estratégicas: missão, objetivos e políticas para toda a organização.</a:t>
            </a:r>
            <a:endParaRPr lang="en-US" sz="1150" dirty="0"/>
          </a:p>
        </p:txBody>
      </p:sp>
      <p:sp>
        <p:nvSpPr>
          <p:cNvPr id="16" name="A3|rise|nivel0"/>
          <p:cNvSpPr txBox="1"/>
          <p:nvPr/>
        </p:nvSpPr>
        <p:spPr>
          <a:xfrm>
            <a:off x="5511800" y="26416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</a:t>
            </a:r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 na Nata Lisboa: sede / franchisado]</a:t>
            </a:r>
            <a:endParaRPr lang="en-US" sz="1150" dirty="0"/>
          </a:p>
        </p:txBody>
      </p:sp>
      <p:sp>
        <p:nvSpPr>
          <p:cNvPr id="17" name="A4|rise|nivel1"/>
          <p:cNvSpPr/>
          <p:nvPr/>
        </p:nvSpPr>
        <p:spPr>
          <a:xfrm>
            <a:off x="5334000" y="3035300"/>
            <a:ext cx="6045200" cy="8509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8" name="A4|rise|nivel1"/>
          <p:cNvSpPr txBox="1"/>
          <p:nvPr/>
        </p:nvSpPr>
        <p:spPr>
          <a:xfrm>
            <a:off x="5511800" y="3124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INTERMÉDIA</a:t>
            </a:r>
            <a:endParaRPr lang="en-US" sz="1100" dirty="0"/>
          </a:p>
        </p:txBody>
      </p:sp>
      <p:sp>
        <p:nvSpPr>
          <p:cNvPr id="19" name="A4|rise|nivel1"/>
          <p:cNvSpPr txBox="1"/>
          <p:nvPr/>
        </p:nvSpPr>
        <p:spPr>
          <a:xfrm>
            <a:off x="5511800" y="33274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Traduzem a estratégia em planos e coordenam outros gestores.</a:t>
            </a:r>
            <a:endParaRPr lang="en-US" sz="1150" dirty="0"/>
          </a:p>
        </p:txBody>
      </p:sp>
      <p:sp>
        <p:nvSpPr>
          <p:cNvPr id="20" name="A4|rise|nivel1"/>
          <p:cNvSpPr txBox="1"/>
          <p:nvPr/>
        </p:nvSpPr>
        <p:spPr>
          <a:xfrm>
            <a:off x="5511800" y="35814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</a:t>
            </a:r>
            <a:pPr algn="l" indent="0" marL="0">
              <a:buNone/>
            </a:pPr>
            <a:r>
              <a:rPr lang="en-US" sz="115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1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Gerente Operacional </a:t>
            </a:r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[confirmar]</a:t>
            </a:r>
            <a:endParaRPr lang="en-US" sz="1150" dirty="0"/>
          </a:p>
        </p:txBody>
      </p:sp>
      <p:sp>
        <p:nvSpPr>
          <p:cNvPr id="21" name="A5|rise|nivel2"/>
          <p:cNvSpPr/>
          <p:nvPr/>
        </p:nvSpPr>
        <p:spPr>
          <a:xfrm>
            <a:off x="5334000" y="3975100"/>
            <a:ext cx="6045200" cy="8509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5|rise|nivel2"/>
          <p:cNvSpPr txBox="1"/>
          <p:nvPr/>
        </p:nvSpPr>
        <p:spPr>
          <a:xfrm>
            <a:off x="5511800" y="40640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PRIMEIRA LINHA</a:t>
            </a:r>
            <a:endParaRPr lang="en-US" sz="1100" dirty="0"/>
          </a:p>
        </p:txBody>
      </p:sp>
      <p:sp>
        <p:nvSpPr>
          <p:cNvPr id="23" name="A5|rise|nivel2"/>
          <p:cNvSpPr txBox="1"/>
          <p:nvPr/>
        </p:nvSpPr>
        <p:spPr>
          <a:xfrm>
            <a:off x="5511800" y="42672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Dirigem o trabalho diário dos colaboradores operacionais.</a:t>
            </a:r>
            <a:endParaRPr lang="en-US" sz="1150" dirty="0"/>
          </a:p>
        </p:txBody>
      </p:sp>
      <p:sp>
        <p:nvSpPr>
          <p:cNvPr id="24" name="A5|rise|nivel2"/>
          <p:cNvSpPr txBox="1"/>
          <p:nvPr/>
        </p:nvSpPr>
        <p:spPr>
          <a:xfrm>
            <a:off x="5511800" y="45212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</a:t>
            </a:r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responsáveis de turno]</a:t>
            </a:r>
            <a:endParaRPr lang="en-US" sz="1150" dirty="0"/>
          </a:p>
        </p:txBody>
      </p:sp>
      <p:sp>
        <p:nvSpPr>
          <p:cNvPr id="25" name="A6|fade|estrutura"/>
          <p:cNvSpPr txBox="1"/>
          <p:nvPr/>
        </p:nvSpPr>
        <p:spPr>
          <a:xfrm>
            <a:off x="5334000" y="4940300"/>
            <a:ext cx="6045200" cy="3810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Estrutura: </a:t>
            </a:r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[Tradicional (piramidal) ou outra? Justificar]</a:t>
            </a:r>
            <a:endParaRPr lang="en-US" sz="1150" dirty="0"/>
          </a:p>
        </p:txBody>
      </p:sp>
      <p:sp>
        <p:nvSpPr>
          <p:cNvPr id="26" name="K1|rise|citacao"/>
          <p:cNvSpPr txBox="1"/>
          <p:nvPr/>
        </p:nvSpPr>
        <p:spPr>
          <a:xfrm rot="-36000">
            <a:off x="812800" y="5397500"/>
            <a:ext cx="10566400" cy="4826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“[Como a Mônica descreve o seu lugar na hierarquia.]”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1 · OS GESTORES · MÔNICA CARDOSO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FUNÇÕES, PAPÉIS,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COMPETÊNCIAS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descrever o trabalho de um gestor usam-se três perspetivas: as funções que desempenha (Fayol), os papéis que assume no dia a dia (Mintzberg) e as competências de que precisa (Katz).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FUNÇÕES · FAYOL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4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2870200"/>
            <a:ext cx="187960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definir objetivos e o caminho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distribuir tarefas e recursos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Liderar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motivar e orientar pessoas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Controlar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medir e corrigir o desempenho</a:t>
            </a:r>
            <a:endParaRPr lang="en-US" sz="1100" dirty="0"/>
          </a:p>
        </p:txBody>
      </p:sp>
      <p:sp>
        <p:nvSpPr>
          <p:cNvPr id="12" name="A3|rise|item1"/>
          <p:cNvSpPr/>
          <p:nvPr/>
        </p:nvSpPr>
        <p:spPr>
          <a:xfrm>
            <a:off x="30480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31750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PAPÉIS · MINTZBERG</a:t>
            </a:r>
            <a:endParaRPr lang="en-US" sz="9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3175000" y="26098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atua</a:t>
            </a:r>
            <a:endParaRPr lang="en-US" sz="14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3175000" y="2870200"/>
            <a:ext cx="187960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Interpessoais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figura de proa, líder, ligação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Informacionais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monitor, disseminador, porta-voz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Decisionais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empreendedor, gestor de conflitos, distribuidor de recursos, negociador</a:t>
            </a:r>
            <a:endParaRPr lang="en-US" sz="1100" dirty="0"/>
          </a:p>
        </p:txBody>
      </p:sp>
      <p:sp>
        <p:nvSpPr>
          <p:cNvPr id="16" name="A4|rise|item2"/>
          <p:cNvSpPr/>
          <p:nvPr/>
        </p:nvSpPr>
        <p:spPr>
          <a:xfrm>
            <a:off x="52832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4|rise|item2"/>
          <p:cNvSpPr txBox="1"/>
          <p:nvPr/>
        </p:nvSpPr>
        <p:spPr>
          <a:xfrm>
            <a:off x="54102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COMPETÊNCIAS · KATZ</a:t>
            </a:r>
            <a:endParaRPr lang="en-US" sz="900" dirty="0"/>
          </a:p>
        </p:txBody>
      </p:sp>
      <p:sp>
        <p:nvSpPr>
          <p:cNvPr id="18" name="A4|rise|item2"/>
          <p:cNvSpPr txBox="1"/>
          <p:nvPr/>
        </p:nvSpPr>
        <p:spPr>
          <a:xfrm>
            <a:off x="5410200" y="26098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mais usa</a:t>
            </a:r>
            <a:endParaRPr lang="en-US" sz="1400" dirty="0"/>
          </a:p>
        </p:txBody>
      </p:sp>
      <p:sp>
        <p:nvSpPr>
          <p:cNvPr id="19" name="A4|rise|item2"/>
          <p:cNvSpPr txBox="1"/>
          <p:nvPr/>
        </p:nvSpPr>
        <p:spPr>
          <a:xfrm>
            <a:off x="5410200" y="2870200"/>
            <a:ext cx="187960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saber fazer específico, mais usadas na primeira linha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trabalhar com pessoas, importantes em todos os níveis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Conceptuais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ver o todo, mais usadas no topo</a:t>
            </a:r>
            <a:endParaRPr lang="en-US" sz="1100" dirty="0"/>
          </a:p>
        </p:txBody>
      </p:sp>
      <p:sp>
        <p:nvSpPr>
          <p:cNvPr id="20" name="A5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1" name="A5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2" name="A5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[Planear: ex. escalas e encomendas da semana]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[Organizar: ex. distribuir funções no turno]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[Liderar: ex. motivar a equipa em dias de muito movimento]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[Controlar: ex. vendas, desperdício, qualidade]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[Papéis e competências que a Mônica mais usa]</a:t>
            </a:r>
            <a:endParaRPr lang="en-US" sz="1100" dirty="0"/>
          </a:p>
        </p:txBody>
      </p:sp>
      <p:sp>
        <p:nvSpPr>
          <p:cNvPr id="23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descreve o seu dia a dia como gerente operacional.]”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4" name="A6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5" name="A6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6" name="A6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[Um problema que a Mônica resolveu: que papel e competência usou.]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DIVERSIDADE · GLOBALIZAÇÃO · TECNOLOGIA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GESTÃO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gestores atuais enfrentam equipas mais diversas, mercados sem fronteiras e mudanças tecnológicas rápidas. Gerir bem estes desafios é hoje uma fonte de vantagem competitiva.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PESSOAS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1879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diversidade</a:t>
            </a:r>
            <a:endParaRPr lang="en-US" sz="14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3092450"/>
            <a:ext cx="1879600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 visíveis (idade, género, origem) e profundas (valores, personalidade). Boas práticas: recrutamento inclusivo, mentoria, formação e horários que conciliem trabalho e família.</a:t>
            </a:r>
            <a:endParaRPr lang="en-US" sz="1150" dirty="0"/>
          </a:p>
        </p:txBody>
      </p:sp>
      <p:sp>
        <p:nvSpPr>
          <p:cNvPr id="12" name="A3|rise|item1"/>
          <p:cNvSpPr/>
          <p:nvPr/>
        </p:nvSpPr>
        <p:spPr>
          <a:xfrm>
            <a:off x="30480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31750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MERCADOS</a:t>
            </a:r>
            <a:endParaRPr lang="en-US" sz="9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3175000" y="26098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Globalização</a:t>
            </a:r>
            <a:endParaRPr lang="en-US" sz="14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3175000" y="2870200"/>
            <a:ext cx="187960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Mercados, concorrentes e fornecedores sem fronteiras. Atitude dos gestores: etnocêntrica (o nosso modo é o melhor), policêntrica (os locais sabem melhor) ou geocêntrica (o melhor de cada lado).</a:t>
            </a:r>
            <a:endParaRPr lang="en-US" sz="1150" dirty="0"/>
          </a:p>
        </p:txBody>
      </p:sp>
      <p:sp>
        <p:nvSpPr>
          <p:cNvPr id="16" name="A4|rise|item2"/>
          <p:cNvSpPr/>
          <p:nvPr/>
        </p:nvSpPr>
        <p:spPr>
          <a:xfrm>
            <a:off x="52832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4|rise|item2"/>
          <p:cNvSpPr txBox="1"/>
          <p:nvPr/>
        </p:nvSpPr>
        <p:spPr>
          <a:xfrm>
            <a:off x="54102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18" name="A4|rise|item2"/>
          <p:cNvSpPr txBox="1"/>
          <p:nvPr/>
        </p:nvSpPr>
        <p:spPr>
          <a:xfrm>
            <a:off x="5410200" y="2609850"/>
            <a:ext cx="1879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tecnológica</a:t>
            </a:r>
            <a:endParaRPr lang="en-US" sz="1400" dirty="0"/>
          </a:p>
        </p:txBody>
      </p:sp>
      <p:sp>
        <p:nvSpPr>
          <p:cNvPr id="19" name="A4|rise|item2"/>
          <p:cNvSpPr txBox="1"/>
          <p:nvPr/>
        </p:nvSpPr>
        <p:spPr>
          <a:xfrm>
            <a:off x="5410200" y="3092450"/>
            <a:ext cx="1879600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Digitalização, automação e inteligência artificial mudam processos, competências e a relação com o cliente: encomendas online, entregas, pagamentos e redes sociais.</a:t>
            </a:r>
            <a:endParaRPr lang="en-US" sz="1150" dirty="0"/>
          </a:p>
        </p:txBody>
      </p:sp>
      <p:sp>
        <p:nvSpPr>
          <p:cNvPr id="20" name="A5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1" name="A5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2" name="A5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Globalização: lojas em Viena, Bilbau, Frankfurt, Luanda e Talatona; descrita como «a marca portuguesa mais internacionalizada na restauração» (RTP Internacional).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Tecnologia: delivery pela Uber Eats e take away NATA&amp;GO.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[Diversidade: nacionalidades e idades na equipa da loja]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[Práticas de integração e conciliação]</a:t>
            </a:r>
            <a:endParaRPr lang="en-US" sz="1100" dirty="0"/>
          </a:p>
        </p:txBody>
      </p:sp>
      <p:sp>
        <p:nvSpPr>
          <p:cNvPr id="23" name="A5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Fontes: natalisboa.com · APF · Portugal Resident</a:t>
            </a:r>
            <a:endParaRPr lang="en-US" sz="800" dirty="0"/>
          </a:p>
        </p:txBody>
      </p:sp>
      <p:sp>
        <p:nvSpPr>
          <p:cNvPr id="24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diversidade na equipa, expansão ou tecnologia.]”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A6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6" name="A6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7" name="A6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loja lida com clientes e colaboradores de várias nacionalidades.]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FECHO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 DO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</a:t>
            </a:r>
            <a:endParaRPr lang="en-US" sz="3600" dirty="0"/>
          </a:p>
        </p:txBody>
      </p:sp>
      <p:sp>
        <p:nvSpPr>
          <p:cNvPr id="6" name="A1|rise|conc1"/>
          <p:cNvSpPr/>
          <p:nvPr/>
        </p:nvSpPr>
        <p:spPr>
          <a:xfrm>
            <a:off x="8128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nc1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A1|rise|conc1"/>
          <p:cNvSpPr txBox="1"/>
          <p:nvPr/>
        </p:nvSpPr>
        <p:spPr>
          <a:xfrm>
            <a:off x="9906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[Principal conclusão]</a:t>
            </a:r>
            <a:endParaRPr lang="en-US" sz="1400" dirty="0"/>
          </a:p>
        </p:txBody>
      </p:sp>
      <p:sp>
        <p:nvSpPr>
          <p:cNvPr id="9" name="A2|rise|conc2"/>
          <p:cNvSpPr/>
          <p:nvPr/>
        </p:nvSpPr>
        <p:spPr>
          <a:xfrm>
            <a:off x="43307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0" name="A2|rise|conc2"/>
          <p:cNvSpPr txBox="1"/>
          <p:nvPr/>
        </p:nvSpPr>
        <p:spPr>
          <a:xfrm>
            <a:off x="45085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A2|rise|conc2"/>
          <p:cNvSpPr txBox="1"/>
          <p:nvPr/>
        </p:nvSpPr>
        <p:spPr>
          <a:xfrm>
            <a:off x="45085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[Segunda conclusão]</a:t>
            </a:r>
            <a:endParaRPr lang="en-US" sz="1400" dirty="0"/>
          </a:p>
        </p:txBody>
      </p:sp>
      <p:sp>
        <p:nvSpPr>
          <p:cNvPr id="12" name="A3|rise|conc3"/>
          <p:cNvSpPr/>
          <p:nvPr/>
        </p:nvSpPr>
        <p:spPr>
          <a:xfrm>
            <a:off x="78486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conc3"/>
          <p:cNvSpPr txBox="1"/>
          <p:nvPr/>
        </p:nvSpPr>
        <p:spPr>
          <a:xfrm>
            <a:off x="80264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A3|rise|conc3"/>
          <p:cNvSpPr txBox="1"/>
          <p:nvPr/>
        </p:nvSpPr>
        <p:spPr>
          <a:xfrm>
            <a:off x="80264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mais nos surpreendeu]</a:t>
            </a:r>
            <a:endParaRPr lang="en-US" sz="1400" dirty="0"/>
          </a:p>
        </p:txBody>
      </p:sp>
      <p:sp>
        <p:nvSpPr>
          <p:cNvPr id="15" name="A4|rise|teoria"/>
          <p:cNvSpPr/>
          <p:nvPr/>
        </p:nvSpPr>
        <p:spPr>
          <a:xfrm>
            <a:off x="812800" y="3429000"/>
            <a:ext cx="69850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teoria"/>
          <p:cNvSpPr txBox="1"/>
          <p:nvPr/>
        </p:nvSpPr>
        <p:spPr>
          <a:xfrm>
            <a:off x="990600" y="35814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TEORIA × PRÁTICA</a:t>
            </a:r>
            <a:endParaRPr lang="en-US" sz="1100" dirty="0"/>
          </a:p>
        </p:txBody>
      </p:sp>
      <p:sp>
        <p:nvSpPr>
          <p:cNvPr id="17" name="A4|rise|teoria"/>
          <p:cNvSpPr txBox="1"/>
          <p:nvPr/>
        </p:nvSpPr>
        <p:spPr>
          <a:xfrm>
            <a:off x="990600" y="3848100"/>
            <a:ext cx="660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Nata Lisboa confirma a teoria e onde se afasta dela.</a:t>
            </a:r>
            <a:endParaRPr lang="en-US" sz="1300" dirty="0"/>
          </a:p>
        </p:txBody>
      </p:sp>
      <p:sp>
        <p:nvSpPr>
          <p:cNvPr id="18" name="A4|rise|teoria"/>
          <p:cNvSpPr txBox="1"/>
          <p:nvPr/>
        </p:nvSpPr>
        <p:spPr>
          <a:xfrm>
            <a:off x="990600" y="4191000"/>
            <a:ext cx="660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a entrevista à Mônica Cardoso nos mostrou sobre a teoria da UC.]</a:t>
            </a:r>
            <a:endParaRPr lang="en-US" sz="1400" dirty="0"/>
          </a:p>
        </p:txBody>
      </p:sp>
      <p:sp>
        <p:nvSpPr>
          <p:cNvPr id="19" name="K1|rise|citacao"/>
          <p:cNvSpPr txBox="1"/>
          <p:nvPr/>
        </p:nvSpPr>
        <p:spPr>
          <a:xfrm rot="-36000">
            <a:off x="8001000" y="3429000"/>
            <a:ext cx="3378200" cy="1905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final da entrevista para fechar a apresentação.]”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CITAÇÃO ·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APA 7.ª EDIÇÃO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IA</a:t>
            </a:r>
            <a:endParaRPr lang="en-US" sz="3600" dirty="0"/>
          </a:p>
        </p:txBody>
      </p:sp>
      <p:sp>
        <p:nvSpPr>
          <p:cNvPr id="6" name="A1|fade|refs"/>
          <p:cNvSpPr txBox="1"/>
          <p:nvPr/>
        </p:nvSpPr>
        <p:spPr>
          <a:xfrm>
            <a:off x="812800" y="1358900"/>
            <a:ext cx="68580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Duncan, R. B. (1972). Characteristics of organizational environments and perceived environmental uncertainty.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17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(3), 313–327.</a:t>
            </a:r>
            <a:endParaRPr lang="en-US" sz="1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Hofstede, G., Neuijen, B., Ohayv, D. D., &amp; Sanders, G. (1990). Measuring organizational cultures.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35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(2), 286–316.</a:t>
            </a:r>
            <a:endParaRPr lang="en-US" sz="1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D., &amp; Kahn, R. L. (1978).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psychology of organizations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(2.ª ed.). Wiley.</a:t>
            </a:r>
            <a:endParaRPr lang="en-US" sz="1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R. L. (1974). Skills of an effective administrator.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Harvard Business Review, 52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(5), 90–102.</a:t>
            </a:r>
            <a:endParaRPr lang="en-US" sz="1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Mintzberg, H. (1973).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nature of managerial work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Harper &amp; Row.</a:t>
            </a:r>
            <a:endParaRPr lang="en-US" sz="1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Robbins, S. P., &amp; Coulter, M.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[(ano)]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[(n.º ed.) — confirmar a edição usada na UC]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Pearson.</a:t>
            </a:r>
            <a:endParaRPr lang="en-US" sz="1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PDFs das aulas de Gestão das Organizações (2026/2027). ISCA-UA.</a:t>
            </a:r>
            <a:endParaRPr lang="en-US" sz="1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Anthropic. (2026).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[Modelo de linguagem de grande escala]. https://claude.ai</a:t>
            </a:r>
            <a:endParaRPr lang="en-US" sz="1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Portuguesa de Franchising. (s.d.).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Consultado a 5 de outubro de 2026, em https://associacaofranchising.pt/project/nata-lisboa/</a:t>
            </a:r>
            <a:endParaRPr lang="en-US" sz="1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Lisboa. (s.d.).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 – The world needs nata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Consultado a 5 de outubro de 2026, em https://www.natalisboa.com</a:t>
            </a:r>
            <a:endParaRPr lang="en-US" sz="1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Portugal Resident. (2012, 2 de agosto). </a:t>
            </a:r>
            <a:pPr algn="l"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Yummy pastéis de nata to represent Portugal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https://www.portugalresident.com</a:t>
            </a:r>
            <a:endParaRPr lang="en-US" sz="1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Cardoso, M. (2026). 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presencial realizada pelo Grupo 8, 3 de outubro [comunicação pessoal].</a:t>
            </a:r>
            <a:endParaRPr lang="en-US" sz="1000" dirty="0"/>
          </a:p>
        </p:txBody>
      </p:sp>
      <p:sp>
        <p:nvSpPr>
          <p:cNvPr id="7" name="A2|rise|ia"/>
          <p:cNvSpPr/>
          <p:nvPr/>
        </p:nvSpPr>
        <p:spPr>
          <a:xfrm>
            <a:off x="7874000" y="1409700"/>
            <a:ext cx="350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ia"/>
          <p:cNvSpPr txBox="1"/>
          <p:nvPr/>
        </p:nvSpPr>
        <p:spPr>
          <a:xfrm>
            <a:off x="8051800" y="15621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DECLARAÇÃO DE USO DE IA</a:t>
            </a:r>
            <a:endParaRPr lang="en-US" sz="1100" dirty="0"/>
          </a:p>
        </p:txBody>
      </p:sp>
      <p:sp>
        <p:nvSpPr>
          <p:cNvPr id="9" name="A2|rise|ia"/>
          <p:cNvSpPr txBox="1"/>
          <p:nvPr/>
        </p:nvSpPr>
        <p:spPr>
          <a:xfrm>
            <a:off x="8051800" y="1854200"/>
            <a:ext cx="317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(Anthropic)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dos slides, correção ortográfica e revisão do contexto do guião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e análise revistos por todos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7" name="A2|fade|kicker"/>
          <p:cNvSpPr txBox="1"/>
          <p:nvPr/>
        </p:nvSpPr>
        <p:spPr>
          <a:xfrm>
            <a:off x="812800" y="1905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GESTÃO DAS ORGANIZAÇÕES · 89135</a:t>
            </a:r>
            <a:endParaRPr lang="en-US" sz="1300" dirty="0"/>
          </a:p>
        </p:txBody>
      </p:sp>
      <p:sp>
        <p:nvSpPr>
          <p:cNvPr id="8" name="A3|rise|obrigado"/>
          <p:cNvSpPr txBox="1"/>
          <p:nvPr/>
        </p:nvSpPr>
        <p:spPr>
          <a:xfrm>
            <a:off x="812800" y="2222500"/>
            <a:ext cx="762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8400" dirty="0"/>
          </a:p>
        </p:txBody>
      </p:sp>
      <p:pic>
        <p:nvPicPr>
          <p:cNvPr id="9" name="A3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2200" y="2463800"/>
            <a:ext cx="1879600" cy="1917700"/>
          </a:xfrm>
          <a:prstGeom prst="rect">
            <a:avLst/>
          </a:prstGeom>
        </p:spPr>
      </p:pic>
      <p:sp>
        <p:nvSpPr>
          <p:cNvPr id="10" name="A4|fade|perguntas"/>
          <p:cNvSpPr txBox="1"/>
          <p:nvPr/>
        </p:nvSpPr>
        <p:spPr>
          <a:xfrm>
            <a:off x="812800" y="3746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  ·  Nata Lisboa</a:t>
            </a:r>
            <a:endParaRPr lang="en-US" sz="1700" dirty="0"/>
          </a:p>
        </p:txBody>
      </p:sp>
      <p:sp>
        <p:nvSpPr>
          <p:cNvPr id="11" name="A5|fade|agradecimento"/>
          <p:cNvSpPr txBox="1"/>
          <p:nvPr/>
        </p:nvSpPr>
        <p:spPr>
          <a:xfrm>
            <a:off x="812800" y="41910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agradecimento especial a Mônica Cardoso pela disponibilidade.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Nata Lisboa — Gestão das Organizações (89135)</dc:title>
  <dc:subject>Caracterização de uma organização</dc:subject>
  <dc:creator>PptxGenJS</dc:creator>
  <cp:lastModifiedBy>PptxGenJS</cp:lastModifiedBy>
  <cp:revision>1</cp:revision>
  <dcterms:created xsi:type="dcterms:W3CDTF">2026-10-05T19:32:12Z</dcterms:created>
  <dcterms:modified xsi:type="dcterms:W3CDTF">2026-10-05T19:32:12Z</dcterms:modified>
</cp:coreProperties>
</file>