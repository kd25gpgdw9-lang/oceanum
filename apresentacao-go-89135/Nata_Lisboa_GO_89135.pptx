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bb04357-7cc7-2b40-649a-2d7cd88b15db}">
          <p14:sldIdLst>
            <p14:sldId id="256"/>
            <p14:sldId id="257"/>
            <p14:sldId id="258"/>
            <p14:sldId id="259"/>
          </p14:sldIdLst>
        </p14:section>
        <p14:section name="a) Três características" id="{c63b9fba-9230-fb27-c134-3727e10ca06a}">
          <p14:sldIdLst>
            <p14:sldId id="260"/>
          </p14:sldIdLst>
        </p14:section>
        <p14:section name="b) Sistema aberto" id="{ca6e94d8-053c-a943-0d53-2977eef17cf5}">
          <p14:sldIdLst>
            <p14:sldId id="261"/>
          </p14:sldIdLst>
        </p14:section>
        <p14:section name="c) Forças do ambiente externo" id="{41af2498-655b-a977-07d3-a62d75dfcac2}">
          <p14:sldIdLst>
            <p14:sldId id="262"/>
            <p14:sldId id="263"/>
          </p14:sldIdLst>
        </p14:section>
        <p14:section name="d) Complexidade do ambiente" id="{827a8426-070d-8ac9-65c9-3c453f617e89}">
          <p14:sldIdLst>
            <p14:sldId id="264"/>
          </p14:sldIdLst>
        </p14:section>
        <p14:section name="e) Cultura organizacional" id="{7f6e8086-3c62-7288-f724-2c78c9b49455}">
          <p14:sldIdLst>
            <p14:sldId id="265"/>
            <p14:sldId id="266"/>
          </p14:sldIdLst>
        </p14:section>
        <p14:section name="f) Os gestores" id="{e335b0f7-a006-8a9a-d03b-c1de2f816884}">
          <p14:sldIdLst>
            <p14:sldId id="267"/>
            <p14:sldId id="268"/>
          </p14:sldIdLst>
        </p14:section>
        <p14:section name="g) Diversidade, globalização e tecnologia" id="{a6b6d7d3-43de-d9c9-63d3-53636ef7204f}">
          <p14:sldIdLst>
            <p14:sldId id="269"/>
          </p14:sldIdLst>
        </p14:section>
        <p14:section name="Fecho" id="{8ad4e8e7-08e9-5157-126c-d7451be68741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membro1"/>
          <p:cNvSpPr/>
          <p:nvPr/>
        </p:nvSpPr>
        <p:spPr>
          <a:xfrm>
            <a:off x="9906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8" name="A1|rise|membro1"/>
          <p:cNvSpPr txBox="1"/>
          <p:nvPr/>
        </p:nvSpPr>
        <p:spPr>
          <a:xfrm>
            <a:off x="9906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9" name="A1|rise|membro1"/>
          <p:cNvSpPr txBox="1"/>
          <p:nvPr/>
        </p:nvSpPr>
        <p:spPr>
          <a:xfrm>
            <a:off x="9906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14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9906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137142</a:t>
            </a:r>
            <a:endParaRPr lang="en-US" sz="1100" dirty="0"/>
          </a:p>
        </p:txBody>
      </p:sp>
      <p:sp>
        <p:nvSpPr>
          <p:cNvPr id="11" name="A2|rise|membro2"/>
          <p:cNvSpPr/>
          <p:nvPr/>
        </p:nvSpPr>
        <p:spPr>
          <a:xfrm>
            <a:off x="29591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membro2"/>
          <p:cNvSpPr/>
          <p:nvPr/>
        </p:nvSpPr>
        <p:spPr>
          <a:xfrm>
            <a:off x="31369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3" name="A2|rise|membro2"/>
          <p:cNvSpPr txBox="1"/>
          <p:nvPr/>
        </p:nvSpPr>
        <p:spPr>
          <a:xfrm>
            <a:off x="31369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4" name="A2|rise|membro2"/>
          <p:cNvSpPr txBox="1"/>
          <p:nvPr/>
        </p:nvSpPr>
        <p:spPr>
          <a:xfrm>
            <a:off x="31369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14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31369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6" name="A3|rise|membro3"/>
          <p:cNvSpPr/>
          <p:nvPr/>
        </p:nvSpPr>
        <p:spPr>
          <a:xfrm>
            <a:off x="51054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membro3"/>
          <p:cNvSpPr/>
          <p:nvPr/>
        </p:nvSpPr>
        <p:spPr>
          <a:xfrm>
            <a:off x="52832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8" name="A3|rise|membro3"/>
          <p:cNvSpPr txBox="1"/>
          <p:nvPr/>
        </p:nvSpPr>
        <p:spPr>
          <a:xfrm>
            <a:off x="52832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9" name="A3|rise|membro3"/>
          <p:cNvSpPr txBox="1"/>
          <p:nvPr/>
        </p:nvSpPr>
        <p:spPr>
          <a:xfrm>
            <a:off x="52832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0" name="A3|rise|membro3"/>
          <p:cNvSpPr txBox="1"/>
          <p:nvPr/>
        </p:nvSpPr>
        <p:spPr>
          <a:xfrm>
            <a:off x="52832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1" name="A4|rise|membro4"/>
          <p:cNvSpPr/>
          <p:nvPr/>
        </p:nvSpPr>
        <p:spPr>
          <a:xfrm>
            <a:off x="72517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membro4"/>
          <p:cNvSpPr/>
          <p:nvPr/>
        </p:nvSpPr>
        <p:spPr>
          <a:xfrm>
            <a:off x="74295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3" name="A4|rise|membro4"/>
          <p:cNvSpPr txBox="1"/>
          <p:nvPr/>
        </p:nvSpPr>
        <p:spPr>
          <a:xfrm>
            <a:off x="74295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4" name="A4|rise|membro4"/>
          <p:cNvSpPr txBox="1"/>
          <p:nvPr/>
        </p:nvSpPr>
        <p:spPr>
          <a:xfrm>
            <a:off x="74295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5" name="A4|rise|membro4"/>
          <p:cNvSpPr txBox="1"/>
          <p:nvPr/>
        </p:nvSpPr>
        <p:spPr>
          <a:xfrm>
            <a:off x="74295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6" name="A5|rise|membro5"/>
          <p:cNvSpPr/>
          <p:nvPr/>
        </p:nvSpPr>
        <p:spPr>
          <a:xfrm>
            <a:off x="93980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membro5"/>
          <p:cNvSpPr/>
          <p:nvPr/>
        </p:nvSpPr>
        <p:spPr>
          <a:xfrm>
            <a:off x="95758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8" name="A5|rise|membro5"/>
          <p:cNvSpPr txBox="1"/>
          <p:nvPr/>
        </p:nvSpPr>
        <p:spPr>
          <a:xfrm>
            <a:off x="95758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9" name="A5|rise|membro5"/>
          <p:cNvSpPr txBox="1"/>
          <p:nvPr/>
        </p:nvSpPr>
        <p:spPr>
          <a:xfrm>
            <a:off x="95758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30" name="A5|rise|membro5"/>
          <p:cNvSpPr txBox="1"/>
          <p:nvPr/>
        </p:nvSpPr>
        <p:spPr>
          <a:xfrm>
            <a:off x="95758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31" name="A6|rise|escolha"/>
          <p:cNvSpPr/>
          <p:nvPr/>
        </p:nvSpPr>
        <p:spPr>
          <a:xfrm>
            <a:off x="812800" y="3632200"/>
            <a:ext cx="10566400" cy="1079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escolha"/>
          <p:cNvSpPr txBox="1"/>
          <p:nvPr/>
        </p:nvSpPr>
        <p:spPr>
          <a:xfrm>
            <a:off x="990600" y="3784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33" name="A6|rise|escolha"/>
          <p:cNvSpPr txBox="1"/>
          <p:nvPr/>
        </p:nvSpPr>
        <p:spPr>
          <a:xfrm>
            <a:off x="990600" y="4064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400" dirty="0"/>
          </a:p>
        </p:txBody>
      </p:sp>
      <p:sp>
        <p:nvSpPr>
          <p:cNvPr id="34" name="A7|rise|divisao"/>
          <p:cNvSpPr/>
          <p:nvPr/>
        </p:nvSpPr>
        <p:spPr>
          <a:xfrm>
            <a:off x="812800" y="4864100"/>
            <a:ext cx="10566400" cy="88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5" name="A7|rise|divisao"/>
          <p:cNvSpPr txBox="1"/>
          <p:nvPr/>
        </p:nvSpPr>
        <p:spPr>
          <a:xfrm>
            <a:off x="990600" y="50038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APRESENTA O QUÊ</a:t>
            </a:r>
            <a:endParaRPr lang="en-US" sz="1100" dirty="0"/>
          </a:p>
        </p:txBody>
      </p:sp>
      <p:sp>
        <p:nvSpPr>
          <p:cNvPr id="36" name="A7|rise|divisao"/>
          <p:cNvSpPr txBox="1"/>
          <p:nvPr/>
        </p:nvSpPr>
        <p:spPr>
          <a:xfrm>
            <a:off x="990600" y="5270500"/>
            <a:ext cx="1016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[0–a: ______ · b–c: ______ · d–e: ______ · f: ______ · g e conclusões: ______]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Cardoso, gerente operacional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pessoas, estrutura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processo, outputs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e de tarefa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Mudança × complexidade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 e como se aprende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Níveis, funções, papéis, competências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globalização, tecnologia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[dd/mm · __ min]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[Presencial / online]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[sim / não]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[Entrevista realizada pelo grupo, dia/mês]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estrutura e design dos slides]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2026-10-05T13:26:33Z</dcterms:created>
  <dcterms:modified xsi:type="dcterms:W3CDTF">2026-10-05T13:26:33Z</dcterms:modified>
</cp:coreProperties>
</file>