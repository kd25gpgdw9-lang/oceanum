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080fbe7-c060-1f29-0061-9424a8cda089}">
          <p14:sldIdLst>
            <p14:sldId id="256"/>
            <p14:sldId id="257"/>
            <p14:sldId id="258"/>
            <p14:sldId id="259"/>
          </p14:sldIdLst>
        </p14:section>
        <p14:section name="a) Três características" id="{fcdf3bfe-13dc-b2d6-7c61-23cc138ee1d5}">
          <p14:sldIdLst>
            <p14:sldId id="260"/>
          </p14:sldIdLst>
        </p14:section>
        <p14:section name="b) Sistema aberto" id="{d41ba562-1fa2-0656-cf43-d5119cd088b3}">
          <p14:sldIdLst>
            <p14:sldId id="261"/>
          </p14:sldIdLst>
        </p14:section>
        <p14:section name="c) Forças do ambiente externo" id="{045bae98-5dcb-3eba-9adc-b013a41eebb6}">
          <p14:sldIdLst>
            <p14:sldId id="262"/>
            <p14:sldId id="263"/>
          </p14:sldIdLst>
        </p14:section>
        <p14:section name="d) Complexidade do ambiente" id="{1450418b-8830-d01b-1170-a0757e892802}">
          <p14:sldIdLst>
            <p14:sldId id="264"/>
          </p14:sldIdLst>
        </p14:section>
        <p14:section name="e) Cultura organizacional" id="{837ec636-24e0-4765-bc39-9265281a39fb}">
          <p14:sldIdLst>
            <p14:sldId id="265"/>
            <p14:sldId id="266"/>
          </p14:sldIdLst>
        </p14:section>
        <p14:section name="f) Os gestores" id="{3f2c7053-63e2-ee7b-db85-94e12303f309}">
          <p14:sldIdLst>
            <p14:sldId id="267"/>
            <p14:sldId id="268"/>
          </p14:sldIdLst>
        </p14:section>
        <p14:section name="g) Diversidade, globalização e tecnologia" id="{261d9440-54ee-3e58-5318-417b821a6021}">
          <p14:sldIdLst>
            <p14:sldId id="269"/>
          </p14:sldIdLst>
        </p14:section>
        <p14:section name="Fecho" id="{7361f231-da1f-d1ab-4613-1a418a299a0d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(≈30 s)
Apresentar a organização: Nata Lisboa — [setor, ano de fundação, localização]. Explicar que a caracterização se baseia na teoria dos Tópicos 1 e 2 e numa entrevista à Mônica Cardoso, gerente operacional.
Substituir o quadro azul pelo logótipo ou por uma foto da fachada (Inserir &gt; Imagem).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GRUPO (≈20 s)
Cada membro apresenta-se rapidamente. Explicar porque escolhemos a Nata Lisboa e como chegámos à entrevistada. Para as fotos: clicar no círculo e usar Inserir &gt; Imagem, ou apagar o texto FOTO.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(≈15 s)
A apresentação segue as alíneas a) a g) do enunciado. Em cada tema: primeiro a teoria em geral, depois como se verifica na Nata Lisboa e, por fim, um exemplo ou citação da entrevista (caixas creme, que aparecem ao clique).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ENTREVISTA (≈45 s)
Quem foi entrevistada: Mônica Cardoso, gerente operacional da Nata Lisboa. Indicar data, duração e modalidade. Explicar que o guião foi organizado em blocos que correspondem aos temas da apresentação.
Clique: aparece a frase marcante da entrevista.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a) 3 CARACTERÍSTICAS COMUNS (≈1 min)
EM GERAL: qualquer organização é uma entidade com (1) um objetivo distinto, (2) pessoas e (3) uma estrutura deliberada (Robbins &amp; Coulter, Tópico 1).
NA NATA LISBOA: preencher cada caixa tracejada.
Clique: citação da entrevista.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b) SISTEMA ABERTO (≈1 min)
EM GERAL: a abordagem sistémica (Teoria Geral dos Sistemas; Katz &amp; Kahn) vê a organização como um sistema aberto que depende do ambiente: inputs → processo de transformação → outputs, com feedback que permite corrigir.
NA NATA LISBOA: substituir os exemplos [Ex.: …] pelos dados confirmados na entrevista.
Clique: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c) AMBIENTE EXTERNO — EM GERAL (≈45 s)
O ambiente externo são as forças e instituições fora da organização que a podem afetar.
• Ambiente de tarefa (específico): impacto direto e imediato — clientes, fornecedores, concorrentes e grupos de pressão.
• Ambiente geral (contextual): impacto indireto — condições económicas, político-legais, socioculturais, demográficas, tecnológicas e globais.
Confirmar a lista de forças com o PDF do Tópico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c) FORÇAS NA NATA LISBOA (≈1 min)
Para cada força, indicar o que a afeta em concreto. Os textos [Ex.: …] são sugestões a confirmar com a entrevista — substituir ou apagar.
Destacar as 2 ou 3 forças com mais impacto.
Clique: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d) GRAU DE COMPLEXIDADE (≈45 s)
EM GERAL: dois eixos — grau de mudança (estável ↔ dinâmico) e grau de complexidade (poucos ↔ muitos componentes). Da combinação resultam 4 células, da incerteza mais baixa (1) à mais elevada (4).
NA NATA LISBOA: indicar em que célula fica e justificar com as forças do slide anterior. Sugestão: pintar a célula escolhida de laranja.
Clique: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e) CULTURA — 6 DIMENSÕES (≈1 min 15 s)
EM GERAL: cultura organizacional = valores, crenças e práticas partilhadas. Modelo de 6 dimensões (Hofstede et al., 1990):
D1 Processos ↔ Resultados: foco em "como" se faz vs. no resultado.
D2 Colaborador ↔ Tarefa: preocupação com as pessoas vs. apenas com o trabalho feito.
D3 Paroquial ↔ Profissional: identidade ligada à empresa vs. à profissão.
D4 Sistema aberto ↔ fechado: facilidade de integrar pessoas novas.
D5 Controlo flexível ↔ apertado: rigor com custos, horários, regras.
D6 Normativa ↔ Pragmática: seguir regras vs. orientar-se para o cliente.
Se o PDF do Tópico 2 usar outras dimensões, trocar os nomes dos polos.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e) COMO SE APRENDE A CULTURA (≈45 s)
EM GERAL: os colaboradores aprendem a cultura através de histórias, rituais, símbolos materiais e linguagem (Robbins &amp; Coulter). A integração (socialização) dos novos colaboradores é o momento em que isto é mais visível.
Cultura forte: os valores centrais são intensamente partilhados; tem mais influência no comportamento.
Clique: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f) NÍVEIS DE GESTÃO (≈45 s)
EM GERAL: numa estrutura tradicional (piramidal) há gestão de topo (decisões estratégicas), gestão intermédia (planos táticos, coordena gestores) e gestão de primeira linha (supervisiona o trabalho operacional). Na base estão os operacionais, que não gerem ninguém.
NA NATA LISBOA: situar a Mônica Cardoso — como gerente operacional, provavelmente gestão intermédia (confirmar na entrevista se gere outros gestores ou diretamente a equipa).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f) FUNÇÕES, PAPÉIS E COMPETÊNCIAS (≈1 min 15 s)
EM GERAL:
• Funções (Fayol): planear, organizar, liderar e controlar.
• Papéis (Mintzberg): interpessoais, informacionais e decisionais — 10 papéis no total.
• Competências (Katz): técnicas (mais importantes na primeira linha), humanas (importantes em todos os níveis) e conceptuais (mais importantes no topo).
NA NATA LISBOA: ligar cada coluna a exemplos concretos do trabalho da Mônica Cardoso.
Clique: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g) DIVERSIDADE, GLOBALIZAÇÃO E TECNOLOGIA (≈1 min)
EM GERAL:
• Diversidade: diferenças superficiais e profundas entre pessoas; gerir bem traz criatividade e melhor resposta a clientes diferentes.
• Globalização: atitudes etnocêntrica (o nosso modo é o melhor), policêntrica (os locais sabem melhor) e geocêntrica (o melhor de cada lado).
• Tecnologia: novas ferramentas mudam o trabalho e exigem novas competências.
NA NATA LISBOA: práticas concretas e desafios referidos pela Mônica.
Clique: 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CONCLUSÕES (≈45 s)
Três ideias-chave, curtas. Terminar com a ligação teoria × prática e com uma frase da entrevista (clique).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
Confirmar a edição do Robbins &amp; Coulter usada na UC e completar o site da Nata Lisboa e a data da entrevista. Declarar o uso de IA conforme as regras da 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P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UDO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207000" y="6286500"/>
            <a:ext cx="546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7F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GESTÃO DAS ORGANIZAÇÕES (89135) · NATA LISBOA · FOLHA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|zoom|aro"/>
          <p:cNvSpPr/>
          <p:nvPr/>
        </p:nvSpPr>
        <p:spPr>
          <a:xfrm>
            <a:off x="7302500" y="1079500"/>
            <a:ext cx="4699000" cy="46990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3E5C99"/>
            </a:solidFill>
            <a:prstDash val="solid"/>
          </a:ln>
        </p:spPr>
      </p:sp>
      <p:sp>
        <p:nvSpPr>
          <p:cNvPr id="3" name="A1|zoom|aro2"/>
          <p:cNvSpPr/>
          <p:nvPr/>
        </p:nvSpPr>
        <p:spPr>
          <a:xfrm>
            <a:off x="7937500" y="1714500"/>
            <a:ext cx="3429000" cy="34290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3E5C99"/>
            </a:solidFill>
            <a:prstDash val="dash"/>
          </a:ln>
        </p:spPr>
      </p:sp>
      <p:sp>
        <p:nvSpPr>
          <p:cNvPr id="4" name="A2|zoom|ponto"/>
          <p:cNvSpPr/>
          <p:nvPr/>
        </p:nvSpPr>
        <p:spPr>
          <a:xfrm>
            <a:off x="9563100" y="1625600"/>
            <a:ext cx="177800" cy="177800"/>
          </a:xfrm>
          <a:prstGeom prst="ellipse">
            <a:avLst/>
          </a:prstGeom>
          <a:solidFill>
            <a:srgbClr val="F582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12800" y="6858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GESTÃO DAS ORGANIZAÇÕES · 89135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11176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7F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 1:1 · PLANTA GERAL</a:t>
            </a:r>
            <a:endParaRPr lang="en-US" sz="1100" dirty="0"/>
          </a:p>
        </p:txBody>
      </p:sp>
      <p:sp>
        <p:nvSpPr>
          <p:cNvPr id="7" name="A2|wipeL|regua"/>
          <p:cNvSpPr/>
          <p:nvPr/>
        </p:nvSpPr>
        <p:spPr>
          <a:xfrm>
            <a:off x="812800" y="1409700"/>
            <a:ext cx="609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4E6CA8"/>
            </a:solidFill>
            <a:prstDash val="solid"/>
          </a:ln>
        </p:spPr>
      </p:sp>
      <p:sp>
        <p:nvSpPr>
          <p:cNvPr id="8" name="A3|fade|kicker"/>
          <p:cNvSpPr txBox="1"/>
          <p:nvPr/>
        </p:nvSpPr>
        <p:spPr>
          <a:xfrm>
            <a:off x="812800" y="1905000"/>
            <a:ext cx="635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CARACTERIZAÇÃO DE UMA ORGANIZAÇÃO</a:t>
            </a:r>
            <a:endParaRPr lang="en-US" sz="1100" dirty="0"/>
          </a:p>
        </p:txBody>
      </p:sp>
      <p:sp>
        <p:nvSpPr>
          <p:cNvPr id="9" name="A3|rise|titulo"/>
          <p:cNvSpPr txBox="1"/>
          <p:nvPr/>
        </p:nvSpPr>
        <p:spPr>
          <a:xfrm>
            <a:off x="812800" y="2159000"/>
            <a:ext cx="635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000" b="1" dirty="0">
                <a:solidFill>
                  <a:srgbClr val="EEF3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NATA</a:t>
            </a:r>
            <a:endParaRPr lang="en-US" sz="8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8000" b="1" dirty="0">
                <a:solidFill>
                  <a:srgbClr val="EEF3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LISBOA</a:t>
            </a:r>
            <a:endParaRPr lang="en-US" sz="8000" dirty="0"/>
          </a:p>
        </p:txBody>
      </p:sp>
      <p:sp>
        <p:nvSpPr>
          <p:cNvPr id="10" name="A4|wipeL|sublinhado"/>
          <p:cNvSpPr/>
          <p:nvPr/>
        </p:nvSpPr>
        <p:spPr>
          <a:xfrm>
            <a:off x="812800" y="4381500"/>
            <a:ext cx="609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31750">
            <a:solidFill>
              <a:srgbClr val="F5822A"/>
            </a:solidFill>
            <a:prstDash val="dash"/>
          </a:ln>
        </p:spPr>
      </p:sp>
      <p:sp>
        <p:nvSpPr>
          <p:cNvPr id="11" name="A4|fade|subtitulo"/>
          <p:cNvSpPr txBox="1"/>
          <p:nvPr/>
        </p:nvSpPr>
        <p:spPr>
          <a:xfrm>
            <a:off x="812800" y="45339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 a </a:t>
            </a:r>
            <a:pPr algn="l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Mônica Cardoso</a:t>
            </a:r>
            <a:pPr algn="l" indent="0" marL="0">
              <a:buNone/>
            </a:pPr>
            <a:r>
              <a:rPr lang="en-US" sz="15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Gerente Operacional</a:t>
            </a:r>
            <a:endParaRPr lang="en-US" sz="1500" dirty="0"/>
          </a:p>
        </p:txBody>
      </p:sp>
      <p:sp>
        <p:nvSpPr>
          <p:cNvPr id="12" name="A5|zoom|polaroid"/>
          <p:cNvSpPr/>
          <p:nvPr/>
        </p:nvSpPr>
        <p:spPr>
          <a:xfrm>
            <a:off x="8255000" y="2095500"/>
            <a:ext cx="2794000" cy="24130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</p:sp>
      <p:sp>
        <p:nvSpPr>
          <p:cNvPr id="13" name="A5|zoom|polaroid"/>
          <p:cNvSpPr/>
          <p:nvPr/>
        </p:nvSpPr>
        <p:spPr>
          <a:xfrm>
            <a:off x="8382000" y="2222500"/>
            <a:ext cx="2540000" cy="1714500"/>
          </a:xfrm>
          <a:prstGeom prst="rect">
            <a:avLst/>
          </a:prstGeom>
          <a:solidFill>
            <a:srgbClr val="1E3F86"/>
          </a:solidFill>
          <a:ln/>
        </p:spPr>
      </p:sp>
      <p:sp>
        <p:nvSpPr>
          <p:cNvPr id="14" name="A5|zoom|polaroid"/>
          <p:cNvSpPr txBox="1"/>
          <p:nvPr/>
        </p:nvSpPr>
        <p:spPr>
          <a:xfrm>
            <a:off x="8382000" y="2222500"/>
            <a:ext cx="254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B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[inserir logótipo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FB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fachada]</a:t>
            </a:r>
            <a:endParaRPr lang="en-US" sz="1300" dirty="0"/>
          </a:p>
        </p:txBody>
      </p:sp>
      <p:sp>
        <p:nvSpPr>
          <p:cNvPr id="15" name="A5|zoom|polaroid"/>
          <p:cNvSpPr txBox="1"/>
          <p:nvPr/>
        </p:nvSpPr>
        <p:spPr>
          <a:xfrm>
            <a:off x="8255000" y="4000500"/>
            <a:ext cx="279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3341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Nata Lisboa</a:t>
            </a:r>
            <a:endParaRPr lang="en-US" sz="1700" dirty="0"/>
          </a:p>
        </p:txBody>
      </p:sp>
      <p:sp>
        <p:nvSpPr>
          <p:cNvPr id="16" name="A6|rise|ficha"/>
          <p:cNvSpPr/>
          <p:nvPr/>
        </p:nvSpPr>
        <p:spPr>
          <a:xfrm>
            <a:off x="812800" y="5080000"/>
            <a:ext cx="7366000" cy="711200"/>
          </a:xfrm>
          <a:prstGeom prst="rect">
            <a:avLst/>
          </a:prstGeom>
          <a:solidFill>
            <a:srgbClr val="0F2860"/>
          </a:solidFill>
          <a:ln w="15875">
            <a:solidFill>
              <a:srgbClr val="34548F"/>
            </a:solidFill>
            <a:prstDash val="solid"/>
          </a:ln>
        </p:spPr>
      </p:sp>
      <p:sp>
        <p:nvSpPr>
          <p:cNvPr id="17" name="A6|rise|ficha"/>
          <p:cNvSpPr txBox="1"/>
          <p:nvPr/>
        </p:nvSpPr>
        <p:spPr>
          <a:xfrm>
            <a:off x="952500" y="5194300"/>
            <a:ext cx="139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</a:t>
            </a:r>
            <a:endParaRPr lang="en-US" sz="1100" dirty="0"/>
          </a:p>
        </p:txBody>
      </p:sp>
      <p:sp>
        <p:nvSpPr>
          <p:cNvPr id="18" name="A6|rise|ficha"/>
          <p:cNvSpPr txBox="1"/>
          <p:nvPr/>
        </p:nvSpPr>
        <p:spPr>
          <a:xfrm>
            <a:off x="952500" y="54356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[Curso · __]</a:t>
            </a:r>
            <a:endParaRPr lang="en-US" sz="1300" dirty="0"/>
          </a:p>
        </p:txBody>
      </p:sp>
      <p:sp>
        <p:nvSpPr>
          <p:cNvPr id="19" name="A6|rise|ficha"/>
          <p:cNvSpPr/>
          <p:nvPr/>
        </p:nvSpPr>
        <p:spPr>
          <a:xfrm>
            <a:off x="2400300" y="5080000"/>
            <a:ext cx="0" cy="711200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34548F"/>
            </a:solidFill>
            <a:prstDash val="solid"/>
          </a:ln>
        </p:spPr>
      </p:sp>
      <p:sp>
        <p:nvSpPr>
          <p:cNvPr id="20" name="A6|rise|ficha"/>
          <p:cNvSpPr txBox="1"/>
          <p:nvPr/>
        </p:nvSpPr>
        <p:spPr>
          <a:xfrm>
            <a:off x="2540000" y="5194300"/>
            <a:ext cx="88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</a:t>
            </a:r>
            <a:endParaRPr lang="en-US" sz="1100" dirty="0"/>
          </a:p>
        </p:txBody>
      </p:sp>
      <p:sp>
        <p:nvSpPr>
          <p:cNvPr id="21" name="A6|rise|ficha"/>
          <p:cNvSpPr txBox="1"/>
          <p:nvPr/>
        </p:nvSpPr>
        <p:spPr>
          <a:xfrm>
            <a:off x="2540000" y="5435600"/>
            <a:ext cx="88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n.º [__]</a:t>
            </a:r>
            <a:endParaRPr lang="en-US" sz="1300" dirty="0"/>
          </a:p>
        </p:txBody>
      </p:sp>
      <p:sp>
        <p:nvSpPr>
          <p:cNvPr id="22" name="A6|rise|ficha"/>
          <p:cNvSpPr/>
          <p:nvPr/>
        </p:nvSpPr>
        <p:spPr>
          <a:xfrm>
            <a:off x="3479800" y="5080000"/>
            <a:ext cx="0" cy="711200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34548F"/>
            </a:solidFill>
            <a:prstDash val="solid"/>
          </a:ln>
        </p:spPr>
      </p:sp>
      <p:sp>
        <p:nvSpPr>
          <p:cNvPr id="23" name="A6|rise|ficha"/>
          <p:cNvSpPr txBox="1"/>
          <p:nvPr/>
        </p:nvSpPr>
        <p:spPr>
          <a:xfrm>
            <a:off x="3619500" y="5194300"/>
            <a:ext cx="139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1100" dirty="0"/>
          </a:p>
        </p:txBody>
      </p:sp>
      <p:sp>
        <p:nvSpPr>
          <p:cNvPr id="24" name="A6|rise|ficha"/>
          <p:cNvSpPr txBox="1"/>
          <p:nvPr/>
        </p:nvSpPr>
        <p:spPr>
          <a:xfrm>
            <a:off x="3619500" y="54356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[Nome]</a:t>
            </a:r>
            <a:endParaRPr lang="en-US" sz="1300" dirty="0"/>
          </a:p>
        </p:txBody>
      </p:sp>
      <p:sp>
        <p:nvSpPr>
          <p:cNvPr id="25" name="A6|rise|ficha"/>
          <p:cNvSpPr/>
          <p:nvPr/>
        </p:nvSpPr>
        <p:spPr>
          <a:xfrm>
            <a:off x="5067300" y="5080000"/>
            <a:ext cx="0" cy="711200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34548F"/>
            </a:solidFill>
            <a:prstDash val="solid"/>
          </a:ln>
        </p:spPr>
      </p:sp>
      <p:sp>
        <p:nvSpPr>
          <p:cNvPr id="26" name="A6|rise|ficha"/>
          <p:cNvSpPr txBox="1"/>
          <p:nvPr/>
        </p:nvSpPr>
        <p:spPr>
          <a:xfrm>
            <a:off x="5207000" y="5194300"/>
            <a:ext cx="292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INSTITUIÇÃO</a:t>
            </a:r>
            <a:endParaRPr lang="en-US" sz="1100" dirty="0"/>
          </a:p>
        </p:txBody>
      </p:sp>
      <p:sp>
        <p:nvSpPr>
          <p:cNvPr id="27" name="A6|rise|ficha"/>
          <p:cNvSpPr txBox="1"/>
          <p:nvPr/>
        </p:nvSpPr>
        <p:spPr>
          <a:xfrm>
            <a:off x="5207000" y="54356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ISCA · Univ. Aveiro · 2026/27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QUEM SOMOS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GRUPO</a:t>
            </a:r>
            <a:endParaRPr lang="en-US" sz="3600" dirty="0"/>
          </a:p>
        </p:txBody>
      </p:sp>
      <p:sp>
        <p:nvSpPr>
          <p:cNvPr id="6" name="A1|rise|membro1"/>
          <p:cNvSpPr/>
          <p:nvPr/>
        </p:nvSpPr>
        <p:spPr>
          <a:xfrm>
            <a:off x="812800" y="1498600"/>
            <a:ext cx="1981200" cy="1905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7" name="A1|rise|membro1"/>
          <p:cNvSpPr/>
          <p:nvPr/>
        </p:nvSpPr>
        <p:spPr>
          <a:xfrm>
            <a:off x="990600" y="1676400"/>
            <a:ext cx="762000" cy="762000"/>
          </a:xfrm>
          <a:prstGeom prst="ellipse">
            <a:avLst/>
          </a:prstGeom>
          <a:solidFill>
            <a:srgbClr val="2A4C93"/>
          </a:solidFill>
          <a:ln w="15875">
            <a:solidFill>
              <a:srgbClr val="F5822A"/>
            </a:solidFill>
            <a:prstDash val="solid"/>
          </a:ln>
        </p:spPr>
      </p:sp>
      <p:sp>
        <p:nvSpPr>
          <p:cNvPr id="8" name="A1|rise|membro1"/>
          <p:cNvSpPr txBox="1"/>
          <p:nvPr/>
        </p:nvSpPr>
        <p:spPr>
          <a:xfrm>
            <a:off x="990600" y="16764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FB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</a:t>
            </a:r>
            <a:endParaRPr lang="en-US" sz="1100" dirty="0"/>
          </a:p>
        </p:txBody>
      </p:sp>
      <p:sp>
        <p:nvSpPr>
          <p:cNvPr id="9" name="A1|rise|membro1"/>
          <p:cNvSpPr txBox="1"/>
          <p:nvPr/>
        </p:nvSpPr>
        <p:spPr>
          <a:xfrm>
            <a:off x="990600" y="25908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completo]</a:t>
            </a:r>
            <a:endParaRPr lang="en-US" sz="1400" dirty="0"/>
          </a:p>
        </p:txBody>
      </p:sp>
      <p:sp>
        <p:nvSpPr>
          <p:cNvPr id="10" name="A1|rise|membro1"/>
          <p:cNvSpPr txBox="1"/>
          <p:nvPr/>
        </p:nvSpPr>
        <p:spPr>
          <a:xfrm>
            <a:off x="990600" y="2959100"/>
            <a:ext cx="162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N.º MEC. [______]</a:t>
            </a:r>
            <a:endParaRPr lang="en-US" sz="1100" dirty="0"/>
          </a:p>
        </p:txBody>
      </p:sp>
      <p:sp>
        <p:nvSpPr>
          <p:cNvPr id="11" name="A2|rise|membro2"/>
          <p:cNvSpPr/>
          <p:nvPr/>
        </p:nvSpPr>
        <p:spPr>
          <a:xfrm>
            <a:off x="2959100" y="1498600"/>
            <a:ext cx="1981200" cy="1905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2" name="A2|rise|membro2"/>
          <p:cNvSpPr/>
          <p:nvPr/>
        </p:nvSpPr>
        <p:spPr>
          <a:xfrm>
            <a:off x="3136900" y="1676400"/>
            <a:ext cx="762000" cy="762000"/>
          </a:xfrm>
          <a:prstGeom prst="ellipse">
            <a:avLst/>
          </a:prstGeom>
          <a:solidFill>
            <a:srgbClr val="2A4C93"/>
          </a:solidFill>
          <a:ln w="15875">
            <a:solidFill>
              <a:srgbClr val="F5822A"/>
            </a:solidFill>
            <a:prstDash val="solid"/>
          </a:ln>
        </p:spPr>
      </p:sp>
      <p:sp>
        <p:nvSpPr>
          <p:cNvPr id="13" name="A2|rise|membro2"/>
          <p:cNvSpPr txBox="1"/>
          <p:nvPr/>
        </p:nvSpPr>
        <p:spPr>
          <a:xfrm>
            <a:off x="3136900" y="16764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FB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</a:t>
            </a:r>
            <a:endParaRPr lang="en-US" sz="1100" dirty="0"/>
          </a:p>
        </p:txBody>
      </p:sp>
      <p:sp>
        <p:nvSpPr>
          <p:cNvPr id="14" name="A2|rise|membro2"/>
          <p:cNvSpPr txBox="1"/>
          <p:nvPr/>
        </p:nvSpPr>
        <p:spPr>
          <a:xfrm>
            <a:off x="3136900" y="25908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completo]</a:t>
            </a:r>
            <a:endParaRPr lang="en-US" sz="1400" dirty="0"/>
          </a:p>
        </p:txBody>
      </p:sp>
      <p:sp>
        <p:nvSpPr>
          <p:cNvPr id="15" name="A2|rise|membro2"/>
          <p:cNvSpPr txBox="1"/>
          <p:nvPr/>
        </p:nvSpPr>
        <p:spPr>
          <a:xfrm>
            <a:off x="3136900" y="2959100"/>
            <a:ext cx="162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N.º MEC. [______]</a:t>
            </a:r>
            <a:endParaRPr lang="en-US" sz="1100" dirty="0"/>
          </a:p>
        </p:txBody>
      </p:sp>
      <p:sp>
        <p:nvSpPr>
          <p:cNvPr id="16" name="A3|rise|membro3"/>
          <p:cNvSpPr/>
          <p:nvPr/>
        </p:nvSpPr>
        <p:spPr>
          <a:xfrm>
            <a:off x="5105400" y="1498600"/>
            <a:ext cx="1981200" cy="1905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7" name="A3|rise|membro3"/>
          <p:cNvSpPr/>
          <p:nvPr/>
        </p:nvSpPr>
        <p:spPr>
          <a:xfrm>
            <a:off x="5283200" y="1676400"/>
            <a:ext cx="762000" cy="762000"/>
          </a:xfrm>
          <a:prstGeom prst="ellipse">
            <a:avLst/>
          </a:prstGeom>
          <a:solidFill>
            <a:srgbClr val="2A4C93"/>
          </a:solidFill>
          <a:ln w="15875">
            <a:solidFill>
              <a:srgbClr val="F5822A"/>
            </a:solidFill>
            <a:prstDash val="solid"/>
          </a:ln>
        </p:spPr>
      </p:sp>
      <p:sp>
        <p:nvSpPr>
          <p:cNvPr id="18" name="A3|rise|membro3"/>
          <p:cNvSpPr txBox="1"/>
          <p:nvPr/>
        </p:nvSpPr>
        <p:spPr>
          <a:xfrm>
            <a:off x="5283200" y="16764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FB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</a:t>
            </a:r>
            <a:endParaRPr lang="en-US" sz="1100" dirty="0"/>
          </a:p>
        </p:txBody>
      </p:sp>
      <p:sp>
        <p:nvSpPr>
          <p:cNvPr id="19" name="A3|rise|membro3"/>
          <p:cNvSpPr txBox="1"/>
          <p:nvPr/>
        </p:nvSpPr>
        <p:spPr>
          <a:xfrm>
            <a:off x="5283200" y="25908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completo]</a:t>
            </a:r>
            <a:endParaRPr lang="en-US" sz="1400" dirty="0"/>
          </a:p>
        </p:txBody>
      </p:sp>
      <p:sp>
        <p:nvSpPr>
          <p:cNvPr id="20" name="A3|rise|membro3"/>
          <p:cNvSpPr txBox="1"/>
          <p:nvPr/>
        </p:nvSpPr>
        <p:spPr>
          <a:xfrm>
            <a:off x="5283200" y="2959100"/>
            <a:ext cx="162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N.º MEC. [______]</a:t>
            </a:r>
            <a:endParaRPr lang="en-US" sz="1100" dirty="0"/>
          </a:p>
        </p:txBody>
      </p:sp>
      <p:sp>
        <p:nvSpPr>
          <p:cNvPr id="21" name="A4|rise|membro4"/>
          <p:cNvSpPr/>
          <p:nvPr/>
        </p:nvSpPr>
        <p:spPr>
          <a:xfrm>
            <a:off x="7251700" y="1498600"/>
            <a:ext cx="1981200" cy="1905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2" name="A4|rise|membro4"/>
          <p:cNvSpPr/>
          <p:nvPr/>
        </p:nvSpPr>
        <p:spPr>
          <a:xfrm>
            <a:off x="7429500" y="1676400"/>
            <a:ext cx="762000" cy="762000"/>
          </a:xfrm>
          <a:prstGeom prst="ellipse">
            <a:avLst/>
          </a:prstGeom>
          <a:solidFill>
            <a:srgbClr val="2A4C93"/>
          </a:solidFill>
          <a:ln w="15875">
            <a:solidFill>
              <a:srgbClr val="F5822A"/>
            </a:solidFill>
            <a:prstDash val="solid"/>
          </a:ln>
        </p:spPr>
      </p:sp>
      <p:sp>
        <p:nvSpPr>
          <p:cNvPr id="23" name="A4|rise|membro4"/>
          <p:cNvSpPr txBox="1"/>
          <p:nvPr/>
        </p:nvSpPr>
        <p:spPr>
          <a:xfrm>
            <a:off x="7429500" y="16764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FB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</a:t>
            </a:r>
            <a:endParaRPr lang="en-US" sz="1100" dirty="0"/>
          </a:p>
        </p:txBody>
      </p:sp>
      <p:sp>
        <p:nvSpPr>
          <p:cNvPr id="24" name="A4|rise|membro4"/>
          <p:cNvSpPr txBox="1"/>
          <p:nvPr/>
        </p:nvSpPr>
        <p:spPr>
          <a:xfrm>
            <a:off x="7429500" y="25908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completo]</a:t>
            </a:r>
            <a:endParaRPr lang="en-US" sz="1400" dirty="0"/>
          </a:p>
        </p:txBody>
      </p:sp>
      <p:sp>
        <p:nvSpPr>
          <p:cNvPr id="25" name="A4|rise|membro4"/>
          <p:cNvSpPr txBox="1"/>
          <p:nvPr/>
        </p:nvSpPr>
        <p:spPr>
          <a:xfrm>
            <a:off x="7429500" y="2959100"/>
            <a:ext cx="162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N.º MEC. [______]</a:t>
            </a:r>
            <a:endParaRPr lang="en-US" sz="1100" dirty="0"/>
          </a:p>
        </p:txBody>
      </p:sp>
      <p:sp>
        <p:nvSpPr>
          <p:cNvPr id="26" name="A5|rise|membro5"/>
          <p:cNvSpPr/>
          <p:nvPr/>
        </p:nvSpPr>
        <p:spPr>
          <a:xfrm>
            <a:off x="9398000" y="1498600"/>
            <a:ext cx="1981200" cy="1905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7" name="A5|rise|membro5"/>
          <p:cNvSpPr/>
          <p:nvPr/>
        </p:nvSpPr>
        <p:spPr>
          <a:xfrm>
            <a:off x="9575800" y="1676400"/>
            <a:ext cx="762000" cy="762000"/>
          </a:xfrm>
          <a:prstGeom prst="ellipse">
            <a:avLst/>
          </a:prstGeom>
          <a:solidFill>
            <a:srgbClr val="2A4C93"/>
          </a:solidFill>
          <a:ln w="15875">
            <a:solidFill>
              <a:srgbClr val="F5822A"/>
            </a:solidFill>
            <a:prstDash val="solid"/>
          </a:ln>
        </p:spPr>
      </p:sp>
      <p:sp>
        <p:nvSpPr>
          <p:cNvPr id="28" name="A5|rise|membro5"/>
          <p:cNvSpPr txBox="1"/>
          <p:nvPr/>
        </p:nvSpPr>
        <p:spPr>
          <a:xfrm>
            <a:off x="9575800" y="16764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FB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</a:t>
            </a:r>
            <a:endParaRPr lang="en-US" sz="1100" dirty="0"/>
          </a:p>
        </p:txBody>
      </p:sp>
      <p:sp>
        <p:nvSpPr>
          <p:cNvPr id="29" name="A5|rise|membro5"/>
          <p:cNvSpPr txBox="1"/>
          <p:nvPr/>
        </p:nvSpPr>
        <p:spPr>
          <a:xfrm>
            <a:off x="9575800" y="25908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completo]</a:t>
            </a:r>
            <a:endParaRPr lang="en-US" sz="1400" dirty="0"/>
          </a:p>
        </p:txBody>
      </p:sp>
      <p:sp>
        <p:nvSpPr>
          <p:cNvPr id="30" name="A5|rise|membro5"/>
          <p:cNvSpPr txBox="1"/>
          <p:nvPr/>
        </p:nvSpPr>
        <p:spPr>
          <a:xfrm>
            <a:off x="9575800" y="2959100"/>
            <a:ext cx="162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N.º MEC. [______]</a:t>
            </a:r>
            <a:endParaRPr lang="en-US" sz="1100" dirty="0"/>
          </a:p>
        </p:txBody>
      </p:sp>
      <p:sp>
        <p:nvSpPr>
          <p:cNvPr id="31" name="A6|rise|escolha"/>
          <p:cNvSpPr/>
          <p:nvPr/>
        </p:nvSpPr>
        <p:spPr>
          <a:xfrm>
            <a:off x="812800" y="3632200"/>
            <a:ext cx="10566400" cy="10795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2" name="A6|rise|escolha"/>
          <p:cNvSpPr txBox="1"/>
          <p:nvPr/>
        </p:nvSpPr>
        <p:spPr>
          <a:xfrm>
            <a:off x="990600" y="37846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PORQUE ESCOLHEMOS A NATA LISBOA</a:t>
            </a:r>
            <a:endParaRPr lang="en-US" sz="1100" dirty="0"/>
          </a:p>
        </p:txBody>
      </p:sp>
      <p:sp>
        <p:nvSpPr>
          <p:cNvPr id="33" name="A6|rise|escolha"/>
          <p:cNvSpPr txBox="1"/>
          <p:nvPr/>
        </p:nvSpPr>
        <p:spPr>
          <a:xfrm>
            <a:off x="990600" y="4064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[Ligação do grupo à Nata Lisboa e como conseguimos acesso à Mônica Cardoso, gerente operacional.]</a:t>
            </a:r>
            <a:endParaRPr lang="en-US" sz="1400" dirty="0"/>
          </a:p>
        </p:txBody>
      </p:sp>
      <p:sp>
        <p:nvSpPr>
          <p:cNvPr id="34" name="A7|rise|divisao"/>
          <p:cNvSpPr/>
          <p:nvPr/>
        </p:nvSpPr>
        <p:spPr>
          <a:xfrm>
            <a:off x="812800" y="4864100"/>
            <a:ext cx="10566400" cy="889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5" name="A7|rise|divisao"/>
          <p:cNvSpPr txBox="1"/>
          <p:nvPr/>
        </p:nvSpPr>
        <p:spPr>
          <a:xfrm>
            <a:off x="990600" y="5003800"/>
            <a:ext cx="1016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QUEM APRESENTA O QUÊ</a:t>
            </a:r>
            <a:endParaRPr lang="en-US" sz="1100" dirty="0"/>
          </a:p>
        </p:txBody>
      </p:sp>
      <p:sp>
        <p:nvSpPr>
          <p:cNvPr id="36" name="A7|rise|divisao"/>
          <p:cNvSpPr txBox="1"/>
          <p:nvPr/>
        </p:nvSpPr>
        <p:spPr>
          <a:xfrm>
            <a:off x="990600" y="5270500"/>
            <a:ext cx="1016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[0–a: ______ · b–c: ______ · d–e: ______ · f: ______ · g e conclusões: ______]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ROTEIRO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APRESENTAR</a:t>
            </a:r>
            <a:endParaRPr lang="en-US" sz="3600" dirty="0"/>
          </a:p>
        </p:txBody>
      </p:sp>
      <p:sp>
        <p:nvSpPr>
          <p:cNvPr id="6" name="A1|rise|item0"/>
          <p:cNvSpPr/>
          <p:nvPr/>
        </p:nvSpPr>
        <p:spPr>
          <a:xfrm>
            <a:off x="812800" y="1498600"/>
            <a:ext cx="2527300" cy="2006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7" name="A1|rise|item0"/>
          <p:cNvSpPr txBox="1"/>
          <p:nvPr/>
        </p:nvSpPr>
        <p:spPr>
          <a:xfrm>
            <a:off x="990600" y="16129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A1|rise|item0"/>
          <p:cNvSpPr txBox="1"/>
          <p:nvPr/>
        </p:nvSpPr>
        <p:spPr>
          <a:xfrm>
            <a:off x="990600" y="2311400"/>
            <a:ext cx="2171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entrevista</a:t>
            </a:r>
            <a:endParaRPr lang="en-US" sz="1600" dirty="0"/>
          </a:p>
        </p:txBody>
      </p:sp>
      <p:sp>
        <p:nvSpPr>
          <p:cNvPr id="9" name="A1|rise|item0"/>
          <p:cNvSpPr txBox="1"/>
          <p:nvPr/>
        </p:nvSpPr>
        <p:spPr>
          <a:xfrm>
            <a:off x="990600" y="2908300"/>
            <a:ext cx="21717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Mônica Cardoso, gerente operacional</a:t>
            </a:r>
            <a:endParaRPr lang="en-US" sz="1200" dirty="0"/>
          </a:p>
        </p:txBody>
      </p:sp>
      <p:sp>
        <p:nvSpPr>
          <p:cNvPr id="10" name="A2|rise|item1"/>
          <p:cNvSpPr/>
          <p:nvPr/>
        </p:nvSpPr>
        <p:spPr>
          <a:xfrm>
            <a:off x="3492500" y="1498600"/>
            <a:ext cx="2527300" cy="2006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1" name="A2|rise|item1"/>
          <p:cNvSpPr txBox="1"/>
          <p:nvPr/>
        </p:nvSpPr>
        <p:spPr>
          <a:xfrm>
            <a:off x="3670300" y="16129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4000" dirty="0"/>
          </a:p>
        </p:txBody>
      </p:sp>
      <p:sp>
        <p:nvSpPr>
          <p:cNvPr id="12" name="A2|rise|item1"/>
          <p:cNvSpPr txBox="1"/>
          <p:nvPr/>
        </p:nvSpPr>
        <p:spPr>
          <a:xfrm>
            <a:off x="3670300" y="2311400"/>
            <a:ext cx="2171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características comuns</a:t>
            </a:r>
            <a:endParaRPr lang="en-US" sz="1600" dirty="0"/>
          </a:p>
        </p:txBody>
      </p:sp>
      <p:sp>
        <p:nvSpPr>
          <p:cNvPr id="13" name="A2|rise|item1"/>
          <p:cNvSpPr txBox="1"/>
          <p:nvPr/>
        </p:nvSpPr>
        <p:spPr>
          <a:xfrm>
            <a:off x="3670300" y="2908300"/>
            <a:ext cx="21717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Objetivos, pessoas, estrutura</a:t>
            </a:r>
            <a:endParaRPr lang="en-US" sz="1200" dirty="0"/>
          </a:p>
        </p:txBody>
      </p:sp>
      <p:sp>
        <p:nvSpPr>
          <p:cNvPr id="14" name="A3|rise|item2"/>
          <p:cNvSpPr/>
          <p:nvPr/>
        </p:nvSpPr>
        <p:spPr>
          <a:xfrm>
            <a:off x="6172200" y="1498600"/>
            <a:ext cx="2527300" cy="2006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5" name="A3|rise|item2"/>
          <p:cNvSpPr txBox="1"/>
          <p:nvPr/>
        </p:nvSpPr>
        <p:spPr>
          <a:xfrm>
            <a:off x="6350000" y="16129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4000" dirty="0"/>
          </a:p>
        </p:txBody>
      </p:sp>
      <p:sp>
        <p:nvSpPr>
          <p:cNvPr id="16" name="A3|rise|item2"/>
          <p:cNvSpPr txBox="1"/>
          <p:nvPr/>
        </p:nvSpPr>
        <p:spPr>
          <a:xfrm>
            <a:off x="6350000" y="2311400"/>
            <a:ext cx="2171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aberto</a:t>
            </a:r>
            <a:endParaRPr lang="en-US" sz="1600" dirty="0"/>
          </a:p>
        </p:txBody>
      </p:sp>
      <p:sp>
        <p:nvSpPr>
          <p:cNvPr id="17" name="A3|rise|item2"/>
          <p:cNvSpPr txBox="1"/>
          <p:nvPr/>
        </p:nvSpPr>
        <p:spPr>
          <a:xfrm>
            <a:off x="6350000" y="2908300"/>
            <a:ext cx="21717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Inputs, processo, outputs</a:t>
            </a:r>
            <a:endParaRPr lang="en-US" sz="1200" dirty="0"/>
          </a:p>
        </p:txBody>
      </p:sp>
      <p:sp>
        <p:nvSpPr>
          <p:cNvPr id="18" name="A4|rise|item3"/>
          <p:cNvSpPr/>
          <p:nvPr/>
        </p:nvSpPr>
        <p:spPr>
          <a:xfrm>
            <a:off x="8851900" y="1498600"/>
            <a:ext cx="2527300" cy="2006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9" name="A4|rise|item3"/>
          <p:cNvSpPr txBox="1"/>
          <p:nvPr/>
        </p:nvSpPr>
        <p:spPr>
          <a:xfrm>
            <a:off x="9029700" y="16129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4000" dirty="0"/>
          </a:p>
        </p:txBody>
      </p:sp>
      <p:sp>
        <p:nvSpPr>
          <p:cNvPr id="20" name="A4|rise|item3"/>
          <p:cNvSpPr txBox="1"/>
          <p:nvPr/>
        </p:nvSpPr>
        <p:spPr>
          <a:xfrm>
            <a:off x="9029700" y="2311400"/>
            <a:ext cx="2171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Forças do ambiente externo</a:t>
            </a:r>
            <a:endParaRPr lang="en-US" sz="1600" dirty="0"/>
          </a:p>
        </p:txBody>
      </p:sp>
      <p:sp>
        <p:nvSpPr>
          <p:cNvPr id="21" name="A4|rise|item3"/>
          <p:cNvSpPr txBox="1"/>
          <p:nvPr/>
        </p:nvSpPr>
        <p:spPr>
          <a:xfrm>
            <a:off x="9029700" y="2908300"/>
            <a:ext cx="21717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geral e de tarefa</a:t>
            </a:r>
            <a:endParaRPr lang="en-US" sz="1200" dirty="0"/>
          </a:p>
        </p:txBody>
      </p:sp>
      <p:sp>
        <p:nvSpPr>
          <p:cNvPr id="22" name="A5|rise|item4"/>
          <p:cNvSpPr/>
          <p:nvPr/>
        </p:nvSpPr>
        <p:spPr>
          <a:xfrm>
            <a:off x="812800" y="3683000"/>
            <a:ext cx="2527300" cy="2006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3" name="A5|rise|item4"/>
          <p:cNvSpPr txBox="1"/>
          <p:nvPr/>
        </p:nvSpPr>
        <p:spPr>
          <a:xfrm>
            <a:off x="990600" y="37973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4000" dirty="0"/>
          </a:p>
        </p:txBody>
      </p:sp>
      <p:sp>
        <p:nvSpPr>
          <p:cNvPr id="24" name="A5|rise|item4"/>
          <p:cNvSpPr txBox="1"/>
          <p:nvPr/>
        </p:nvSpPr>
        <p:spPr>
          <a:xfrm>
            <a:off x="990600" y="4495800"/>
            <a:ext cx="2171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Complexidade do ambiente</a:t>
            </a:r>
            <a:endParaRPr lang="en-US" sz="1600" dirty="0"/>
          </a:p>
        </p:txBody>
      </p:sp>
      <p:sp>
        <p:nvSpPr>
          <p:cNvPr id="25" name="A5|rise|item4"/>
          <p:cNvSpPr txBox="1"/>
          <p:nvPr/>
        </p:nvSpPr>
        <p:spPr>
          <a:xfrm>
            <a:off x="990600" y="5092700"/>
            <a:ext cx="21717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 × complexidade</a:t>
            </a:r>
            <a:endParaRPr lang="en-US" sz="1200" dirty="0"/>
          </a:p>
        </p:txBody>
      </p:sp>
      <p:sp>
        <p:nvSpPr>
          <p:cNvPr id="26" name="A6|rise|item5"/>
          <p:cNvSpPr/>
          <p:nvPr/>
        </p:nvSpPr>
        <p:spPr>
          <a:xfrm>
            <a:off x="3492500" y="3683000"/>
            <a:ext cx="2527300" cy="2006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7" name="A6|rise|item5"/>
          <p:cNvSpPr txBox="1"/>
          <p:nvPr/>
        </p:nvSpPr>
        <p:spPr>
          <a:xfrm>
            <a:off x="3670300" y="37973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4000" dirty="0"/>
          </a:p>
        </p:txBody>
      </p:sp>
      <p:sp>
        <p:nvSpPr>
          <p:cNvPr id="28" name="A6|rise|item5"/>
          <p:cNvSpPr txBox="1"/>
          <p:nvPr/>
        </p:nvSpPr>
        <p:spPr>
          <a:xfrm>
            <a:off x="3670300" y="4495800"/>
            <a:ext cx="2171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organizacional</a:t>
            </a:r>
            <a:endParaRPr lang="en-US" sz="1600" dirty="0"/>
          </a:p>
        </p:txBody>
      </p:sp>
      <p:sp>
        <p:nvSpPr>
          <p:cNvPr id="29" name="A6|rise|item5"/>
          <p:cNvSpPr txBox="1"/>
          <p:nvPr/>
        </p:nvSpPr>
        <p:spPr>
          <a:xfrm>
            <a:off x="3670300" y="5092700"/>
            <a:ext cx="21717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dimensões e como se aprende</a:t>
            </a:r>
            <a:endParaRPr lang="en-US" sz="1200" dirty="0"/>
          </a:p>
        </p:txBody>
      </p:sp>
      <p:sp>
        <p:nvSpPr>
          <p:cNvPr id="30" name="A7|rise|item6"/>
          <p:cNvSpPr/>
          <p:nvPr/>
        </p:nvSpPr>
        <p:spPr>
          <a:xfrm>
            <a:off x="6172200" y="3683000"/>
            <a:ext cx="2527300" cy="2006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1" name="A7|rise|item6"/>
          <p:cNvSpPr txBox="1"/>
          <p:nvPr/>
        </p:nvSpPr>
        <p:spPr>
          <a:xfrm>
            <a:off x="6350000" y="37973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endParaRPr lang="en-US" sz="4000" dirty="0"/>
          </a:p>
        </p:txBody>
      </p:sp>
      <p:sp>
        <p:nvSpPr>
          <p:cNvPr id="32" name="A7|rise|item6"/>
          <p:cNvSpPr txBox="1"/>
          <p:nvPr/>
        </p:nvSpPr>
        <p:spPr>
          <a:xfrm>
            <a:off x="6350000" y="4495800"/>
            <a:ext cx="2171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gestores</a:t>
            </a:r>
            <a:endParaRPr lang="en-US" sz="1600" dirty="0"/>
          </a:p>
        </p:txBody>
      </p:sp>
      <p:sp>
        <p:nvSpPr>
          <p:cNvPr id="33" name="A7|rise|item6"/>
          <p:cNvSpPr txBox="1"/>
          <p:nvPr/>
        </p:nvSpPr>
        <p:spPr>
          <a:xfrm>
            <a:off x="6350000" y="5092700"/>
            <a:ext cx="21717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Níveis, funções, papéis, competências</a:t>
            </a:r>
            <a:endParaRPr lang="en-US" sz="1200" dirty="0"/>
          </a:p>
        </p:txBody>
      </p:sp>
      <p:sp>
        <p:nvSpPr>
          <p:cNvPr id="34" name="A8|rise|item7"/>
          <p:cNvSpPr/>
          <p:nvPr/>
        </p:nvSpPr>
        <p:spPr>
          <a:xfrm>
            <a:off x="8851900" y="3683000"/>
            <a:ext cx="2527300" cy="20066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5" name="A8|rise|item7"/>
          <p:cNvSpPr txBox="1"/>
          <p:nvPr/>
        </p:nvSpPr>
        <p:spPr>
          <a:xfrm>
            <a:off x="9029700" y="37973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endParaRPr lang="en-US" sz="4000" dirty="0"/>
          </a:p>
        </p:txBody>
      </p:sp>
      <p:sp>
        <p:nvSpPr>
          <p:cNvPr id="36" name="A8|rise|item7"/>
          <p:cNvSpPr txBox="1"/>
          <p:nvPr/>
        </p:nvSpPr>
        <p:spPr>
          <a:xfrm>
            <a:off x="9029700" y="4495800"/>
            <a:ext cx="2171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 da gestão</a:t>
            </a:r>
            <a:endParaRPr lang="en-US" sz="1600" dirty="0"/>
          </a:p>
        </p:txBody>
      </p:sp>
      <p:sp>
        <p:nvSpPr>
          <p:cNvPr id="37" name="A8|rise|item7"/>
          <p:cNvSpPr txBox="1"/>
          <p:nvPr/>
        </p:nvSpPr>
        <p:spPr>
          <a:xfrm>
            <a:off x="9029700" y="5092700"/>
            <a:ext cx="21717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Diversidade, globalização, tecnologia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METODOLOGIA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</a:t>
            </a:r>
            <a:endParaRPr lang="en-US" sz="3600" dirty="0"/>
          </a:p>
        </p:txBody>
      </p:sp>
      <p:sp>
        <p:nvSpPr>
          <p:cNvPr id="6" name="A1|zoom|icone"/>
          <p:cNvSpPr/>
          <p:nvPr/>
        </p:nvSpPr>
        <p:spPr>
          <a:xfrm>
            <a:off x="812800" y="1498600"/>
            <a:ext cx="1397000" cy="1397000"/>
          </a:xfrm>
          <a:prstGeom prst="rect">
            <a:avLst/>
          </a:prstGeom>
          <a:solidFill>
            <a:srgbClr val="1E3F86"/>
          </a:solidFill>
          <a:ln w="12700">
            <a:solidFill>
              <a:srgbClr val="2C4C8C"/>
            </a:solidFill>
            <a:prstDash val="solid"/>
          </a:ln>
        </p:spPr>
      </p:sp>
      <p:sp>
        <p:nvSpPr>
          <p:cNvPr id="7" name="A1|zoom|icone"/>
          <p:cNvSpPr/>
          <p:nvPr/>
        </p:nvSpPr>
        <p:spPr>
          <a:xfrm>
            <a:off x="1066800" y="1778000"/>
            <a:ext cx="889000" cy="609600"/>
          </a:xfrm>
          <a:prstGeom prst="rect">
            <a:avLst/>
          </a:prstGeom>
          <a:solidFill>
            <a:srgbClr val="F5822A"/>
          </a:solidFill>
          <a:ln/>
        </p:spPr>
      </p:sp>
      <p:sp>
        <p:nvSpPr>
          <p:cNvPr id="8" name="A1|zoom|icone"/>
          <p:cNvSpPr txBox="1"/>
          <p:nvPr/>
        </p:nvSpPr>
        <p:spPr>
          <a:xfrm>
            <a:off x="1066800" y="1778000"/>
            <a:ext cx="889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• •</a:t>
            </a:r>
            <a:endParaRPr lang="en-US" sz="1800" dirty="0"/>
          </a:p>
        </p:txBody>
      </p:sp>
      <p:sp>
        <p:nvSpPr>
          <p:cNvPr id="9" name="A1|zoom|icone"/>
          <p:cNvSpPr/>
          <p:nvPr/>
        </p:nvSpPr>
        <p:spPr>
          <a:xfrm>
            <a:off x="1270000" y="2489200"/>
            <a:ext cx="762000" cy="203200"/>
          </a:xfrm>
          <a:prstGeom prst="roundRect">
            <a:avLst>
              <a:gd name="adj" fmla="val 45000"/>
            </a:avLst>
          </a:prstGeom>
          <a:solidFill>
            <a:srgbClr val="8FB0EE"/>
          </a:solidFill>
          <a:ln/>
        </p:spPr>
      </p:sp>
      <p:sp>
        <p:nvSpPr>
          <p:cNvPr id="10" name="A2|rise|ficha"/>
          <p:cNvSpPr/>
          <p:nvPr/>
        </p:nvSpPr>
        <p:spPr>
          <a:xfrm>
            <a:off x="2362200" y="1498600"/>
            <a:ext cx="4191000" cy="1397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1" name="A2|rise|ficha"/>
          <p:cNvSpPr txBox="1"/>
          <p:nvPr/>
        </p:nvSpPr>
        <p:spPr>
          <a:xfrm>
            <a:off x="2540000" y="16383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ENTREVISTADA</a:t>
            </a:r>
            <a:endParaRPr lang="en-US" sz="1100" dirty="0"/>
          </a:p>
        </p:txBody>
      </p:sp>
      <p:sp>
        <p:nvSpPr>
          <p:cNvPr id="12" name="A2|rise|ficha"/>
          <p:cNvSpPr txBox="1"/>
          <p:nvPr/>
        </p:nvSpPr>
        <p:spPr>
          <a:xfrm>
            <a:off x="2540000" y="18669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Mônica Cardoso</a:t>
            </a:r>
            <a:endParaRPr lang="en-US" sz="1400" dirty="0"/>
          </a:p>
        </p:txBody>
      </p:sp>
      <p:sp>
        <p:nvSpPr>
          <p:cNvPr id="13" name="A2|rise|ficha"/>
          <p:cNvSpPr txBox="1"/>
          <p:nvPr/>
        </p:nvSpPr>
        <p:spPr>
          <a:xfrm>
            <a:off x="4572000" y="16383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/ NÍVEL</a:t>
            </a:r>
            <a:endParaRPr lang="en-US" sz="1100" dirty="0"/>
          </a:p>
        </p:txBody>
      </p:sp>
      <p:sp>
        <p:nvSpPr>
          <p:cNvPr id="14" name="A2|rise|ficha"/>
          <p:cNvSpPr txBox="1"/>
          <p:nvPr/>
        </p:nvSpPr>
        <p:spPr>
          <a:xfrm>
            <a:off x="4572000" y="18669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Operacional</a:t>
            </a:r>
            <a:endParaRPr lang="en-US" sz="1400" dirty="0"/>
          </a:p>
        </p:txBody>
      </p:sp>
      <p:sp>
        <p:nvSpPr>
          <p:cNvPr id="15" name="A2|rise|ficha"/>
          <p:cNvSpPr txBox="1"/>
          <p:nvPr/>
        </p:nvSpPr>
        <p:spPr>
          <a:xfrm>
            <a:off x="2540000" y="22606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· DURAÇÃO</a:t>
            </a:r>
            <a:endParaRPr lang="en-US" sz="1100" dirty="0"/>
          </a:p>
        </p:txBody>
      </p:sp>
      <p:sp>
        <p:nvSpPr>
          <p:cNvPr id="16" name="A2|rise|ficha"/>
          <p:cNvSpPr txBox="1"/>
          <p:nvPr/>
        </p:nvSpPr>
        <p:spPr>
          <a:xfrm>
            <a:off x="2540000" y="24892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[dd/mm · __ min]</a:t>
            </a:r>
            <a:endParaRPr lang="en-US" sz="1400" dirty="0"/>
          </a:p>
        </p:txBody>
      </p:sp>
      <p:sp>
        <p:nvSpPr>
          <p:cNvPr id="17" name="A2|rise|ficha"/>
          <p:cNvSpPr txBox="1"/>
          <p:nvPr/>
        </p:nvSpPr>
        <p:spPr>
          <a:xfrm>
            <a:off x="4572000" y="22606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MODALIDADE</a:t>
            </a:r>
            <a:endParaRPr lang="en-US" sz="1100" dirty="0"/>
          </a:p>
        </p:txBody>
      </p:sp>
      <p:sp>
        <p:nvSpPr>
          <p:cNvPr id="18" name="A2|rise|ficha"/>
          <p:cNvSpPr txBox="1"/>
          <p:nvPr/>
        </p:nvSpPr>
        <p:spPr>
          <a:xfrm>
            <a:off x="4572000" y="24892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[Presencial / online]</a:t>
            </a:r>
            <a:endParaRPr lang="en-US" sz="1400" dirty="0"/>
          </a:p>
        </p:txBody>
      </p:sp>
      <p:sp>
        <p:nvSpPr>
          <p:cNvPr id="19" name="A3|fade|porque"/>
          <p:cNvSpPr txBox="1"/>
          <p:nvPr/>
        </p:nvSpPr>
        <p:spPr>
          <a:xfrm>
            <a:off x="812800" y="31242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PORQUÊ UMA ENTREVISTA</a:t>
            </a:r>
            <a:endParaRPr lang="en-US" sz="1100" dirty="0"/>
          </a:p>
        </p:txBody>
      </p:sp>
      <p:sp>
        <p:nvSpPr>
          <p:cNvPr id="20" name="A3|fade|porque"/>
          <p:cNvSpPr txBox="1"/>
          <p:nvPr/>
        </p:nvSpPr>
        <p:spPr>
          <a:xfrm>
            <a:off x="812800" y="3365500"/>
            <a:ext cx="574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Ouvir quem gere o dia a dia da organização permite confrontar a teoria dos Tópicos 1 e 2 com a prática real da Nata Lisboa.</a:t>
            </a:r>
            <a:endParaRPr lang="en-US" sz="1300" dirty="0"/>
          </a:p>
        </p:txBody>
      </p:sp>
      <p:sp>
        <p:nvSpPr>
          <p:cNvPr id="21" name="A4|fade|blocos"/>
          <p:cNvSpPr txBox="1"/>
          <p:nvPr/>
        </p:nvSpPr>
        <p:spPr>
          <a:xfrm>
            <a:off x="812800" y="41021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BLOCOS DO GUIÃO</a:t>
            </a:r>
            <a:endParaRPr lang="en-US" sz="1100" dirty="0"/>
          </a:p>
        </p:txBody>
      </p:sp>
      <p:sp>
        <p:nvSpPr>
          <p:cNvPr id="22" name="A5|rise|bloco0"/>
          <p:cNvSpPr txBox="1"/>
          <p:nvPr/>
        </p:nvSpPr>
        <p:spPr>
          <a:xfrm>
            <a:off x="812800" y="4368800"/>
            <a:ext cx="1841500" cy="355600"/>
          </a:xfrm>
          <a:prstGeom prst="rect">
            <a:avLst/>
          </a:prstGeom>
          <a:solidFill>
            <a:srgbClr val="102A63"/>
          </a:solidFill>
          <a:ln w="12700">
            <a:solidFill>
              <a:srgbClr val="2C4C8C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Caracterização</a:t>
            </a:r>
            <a:endParaRPr lang="en-US" sz="1200" dirty="0"/>
          </a:p>
        </p:txBody>
      </p:sp>
      <p:sp>
        <p:nvSpPr>
          <p:cNvPr id="23" name="A6|rise|bloco1"/>
          <p:cNvSpPr txBox="1"/>
          <p:nvPr/>
        </p:nvSpPr>
        <p:spPr>
          <a:xfrm>
            <a:off x="2755900" y="4368800"/>
            <a:ext cx="1841500" cy="355600"/>
          </a:xfrm>
          <a:prstGeom prst="rect">
            <a:avLst/>
          </a:prstGeom>
          <a:solidFill>
            <a:srgbClr val="102A63"/>
          </a:solidFill>
          <a:ln w="12700">
            <a:solidFill>
              <a:srgbClr val="2C4C8C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24" name="A7|rise|bloco2"/>
          <p:cNvSpPr txBox="1"/>
          <p:nvPr/>
        </p:nvSpPr>
        <p:spPr>
          <a:xfrm>
            <a:off x="4699000" y="4368800"/>
            <a:ext cx="1841500" cy="355600"/>
          </a:xfrm>
          <a:prstGeom prst="rect">
            <a:avLst/>
          </a:prstGeom>
          <a:solidFill>
            <a:srgbClr val="102A63"/>
          </a:solidFill>
          <a:ln w="12700">
            <a:solidFill>
              <a:srgbClr val="2C4C8C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externo</a:t>
            </a:r>
            <a:endParaRPr lang="en-US" sz="1200" dirty="0"/>
          </a:p>
        </p:txBody>
      </p:sp>
      <p:sp>
        <p:nvSpPr>
          <p:cNvPr id="25" name="A8|rise|bloco3"/>
          <p:cNvSpPr txBox="1"/>
          <p:nvPr/>
        </p:nvSpPr>
        <p:spPr>
          <a:xfrm>
            <a:off x="812800" y="4826000"/>
            <a:ext cx="1841500" cy="355600"/>
          </a:xfrm>
          <a:prstGeom prst="rect">
            <a:avLst/>
          </a:prstGeom>
          <a:solidFill>
            <a:srgbClr val="102A63"/>
          </a:solidFill>
          <a:ln w="12700">
            <a:solidFill>
              <a:srgbClr val="2C4C8C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</a:t>
            </a:r>
            <a:endParaRPr lang="en-US" sz="1200" dirty="0"/>
          </a:p>
        </p:txBody>
      </p:sp>
      <p:sp>
        <p:nvSpPr>
          <p:cNvPr id="26" name="A9|rise|bloco4"/>
          <p:cNvSpPr txBox="1"/>
          <p:nvPr/>
        </p:nvSpPr>
        <p:spPr>
          <a:xfrm>
            <a:off x="2755900" y="4826000"/>
            <a:ext cx="1841500" cy="355600"/>
          </a:xfrm>
          <a:prstGeom prst="rect">
            <a:avLst/>
          </a:prstGeom>
          <a:solidFill>
            <a:srgbClr val="102A63"/>
          </a:solidFill>
          <a:ln w="12700">
            <a:solidFill>
              <a:srgbClr val="2C4C8C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 liderança</a:t>
            </a:r>
            <a:endParaRPr lang="en-US" sz="1200" dirty="0"/>
          </a:p>
        </p:txBody>
      </p:sp>
      <p:sp>
        <p:nvSpPr>
          <p:cNvPr id="27" name="A10|rise|bloco5"/>
          <p:cNvSpPr txBox="1"/>
          <p:nvPr/>
        </p:nvSpPr>
        <p:spPr>
          <a:xfrm>
            <a:off x="4699000" y="4826000"/>
            <a:ext cx="1841500" cy="355600"/>
          </a:xfrm>
          <a:prstGeom prst="rect">
            <a:avLst/>
          </a:prstGeom>
          <a:solidFill>
            <a:srgbClr val="102A63"/>
          </a:solidFill>
          <a:ln w="12700">
            <a:solidFill>
              <a:srgbClr val="2C4C8C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Diversidade e futuro</a:t>
            </a:r>
            <a:endParaRPr lang="en-US" sz="1200" dirty="0"/>
          </a:p>
        </p:txBody>
      </p:sp>
      <p:sp>
        <p:nvSpPr>
          <p:cNvPr id="28" name="K1|rise|citacao"/>
          <p:cNvSpPr txBox="1"/>
          <p:nvPr/>
        </p:nvSpPr>
        <p:spPr>
          <a:xfrm rot="-36000">
            <a:off x="6807200" y="1498600"/>
            <a:ext cx="4572000" cy="12700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“[Frase marcante da Mônica Cardoso, tal como foi dita.]”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EXCERTO DA ENTREVISTA</a:t>
            </a:r>
            <a:endParaRPr lang="en-US" sz="1400" dirty="0"/>
          </a:p>
        </p:txBody>
      </p:sp>
      <p:sp>
        <p:nvSpPr>
          <p:cNvPr id="29" name="A11|rise|tratamento"/>
          <p:cNvSpPr/>
          <p:nvPr/>
        </p:nvSpPr>
        <p:spPr>
          <a:xfrm>
            <a:off x="6807200" y="3048000"/>
            <a:ext cx="4572000" cy="20955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0" name="A11|rise|tratamento"/>
          <p:cNvSpPr txBox="1"/>
          <p:nvPr/>
        </p:nvSpPr>
        <p:spPr>
          <a:xfrm>
            <a:off x="6985000" y="32004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TRATAMENTO DA INFORMAÇÃO</a:t>
            </a:r>
            <a:endParaRPr lang="en-US" sz="1100" dirty="0"/>
          </a:p>
        </p:txBody>
      </p:sp>
      <p:sp>
        <p:nvSpPr>
          <p:cNvPr id="31" name="A11|rise|tratamento"/>
          <p:cNvSpPr txBox="1"/>
          <p:nvPr/>
        </p:nvSpPr>
        <p:spPr>
          <a:xfrm>
            <a:off x="6985000" y="3492500"/>
            <a:ext cx="425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Gravação com consentimento: </a:t>
            </a:r>
            <a:pPr algn="l"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[sim / não]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Transcrição revista pelo grupo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Excertos organizados por bloco do guião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Citações destacadas nas caixas creme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IDENTIFICAÇÃO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CARACTERÍSTICAS</a:t>
            </a:r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COMUNS</a:t>
            </a:r>
            <a:endParaRPr lang="en-US" sz="3600" dirty="0"/>
          </a:p>
        </p:txBody>
      </p:sp>
      <p:sp>
        <p:nvSpPr>
          <p:cNvPr id="6" name="A1|fade|intro"/>
          <p:cNvSpPr txBox="1"/>
          <p:nvPr/>
        </p:nvSpPr>
        <p:spPr>
          <a:xfrm>
            <a:off x="812800" y="13081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Robbins &amp; Coulter, todas as organizações — qualquer que seja o setor ou a dimensão — partilham três características.</a:t>
            </a:r>
            <a:endParaRPr lang="en-US" sz="1300" dirty="0"/>
          </a:p>
        </p:txBody>
      </p:sp>
      <p:sp>
        <p:nvSpPr>
          <p:cNvPr id="7" name="A2|rise|car1"/>
          <p:cNvSpPr/>
          <p:nvPr/>
        </p:nvSpPr>
        <p:spPr>
          <a:xfrm>
            <a:off x="812800" y="1714500"/>
            <a:ext cx="3416300" cy="3048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8" name="A2|rise|car1"/>
          <p:cNvSpPr txBox="1"/>
          <p:nvPr/>
        </p:nvSpPr>
        <p:spPr>
          <a:xfrm>
            <a:off x="990600" y="18288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A2|rise|car1"/>
          <p:cNvSpPr txBox="1"/>
          <p:nvPr/>
        </p:nvSpPr>
        <p:spPr>
          <a:xfrm>
            <a:off x="990600" y="2463800"/>
            <a:ext cx="306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distinto</a:t>
            </a:r>
            <a:endParaRPr lang="en-US" sz="1800" dirty="0"/>
          </a:p>
        </p:txBody>
      </p:sp>
      <p:sp>
        <p:nvSpPr>
          <p:cNvPr id="10" name="A2|rise|car1"/>
          <p:cNvSpPr txBox="1"/>
          <p:nvPr/>
        </p:nvSpPr>
        <p:spPr>
          <a:xfrm>
            <a:off x="990600" y="2832100"/>
            <a:ext cx="3060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 organização existe para alcançar algo: a sua razão de ser, expressa na missão e em metas concretas.</a:t>
            </a:r>
            <a:endParaRPr lang="en-US" sz="1300" dirty="0"/>
          </a:p>
        </p:txBody>
      </p:sp>
      <p:sp>
        <p:nvSpPr>
          <p:cNvPr id="11" name="A2|rise|car1"/>
          <p:cNvSpPr/>
          <p:nvPr/>
        </p:nvSpPr>
        <p:spPr>
          <a:xfrm>
            <a:off x="939800" y="3683000"/>
            <a:ext cx="3162300" cy="9525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12" name="A2|rise|car1"/>
          <p:cNvSpPr txBox="1"/>
          <p:nvPr/>
        </p:nvSpPr>
        <p:spPr>
          <a:xfrm>
            <a:off x="1066800" y="3784600"/>
            <a:ext cx="290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13" name="A2|rise|car1"/>
          <p:cNvSpPr txBox="1"/>
          <p:nvPr/>
        </p:nvSpPr>
        <p:spPr>
          <a:xfrm>
            <a:off x="1066800" y="4013200"/>
            <a:ext cx="29083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[Missão / objetivo principal da Nata Lisboa]</a:t>
            </a:r>
            <a:endParaRPr lang="en-US" sz="1250" dirty="0"/>
          </a:p>
        </p:txBody>
      </p:sp>
      <p:sp>
        <p:nvSpPr>
          <p:cNvPr id="14" name="A3|rise|car2"/>
          <p:cNvSpPr/>
          <p:nvPr/>
        </p:nvSpPr>
        <p:spPr>
          <a:xfrm>
            <a:off x="4330700" y="1714500"/>
            <a:ext cx="3416300" cy="3048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5" name="A3|rise|car2"/>
          <p:cNvSpPr txBox="1"/>
          <p:nvPr/>
        </p:nvSpPr>
        <p:spPr>
          <a:xfrm>
            <a:off x="4508500" y="18288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6" name="A3|rise|car2"/>
          <p:cNvSpPr txBox="1"/>
          <p:nvPr/>
        </p:nvSpPr>
        <p:spPr>
          <a:xfrm>
            <a:off x="4508500" y="2463800"/>
            <a:ext cx="306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</a:t>
            </a:r>
            <a:endParaRPr lang="en-US" sz="1800" dirty="0"/>
          </a:p>
        </p:txBody>
      </p:sp>
      <p:sp>
        <p:nvSpPr>
          <p:cNvPr id="17" name="A3|rise|car2"/>
          <p:cNvSpPr txBox="1"/>
          <p:nvPr/>
        </p:nvSpPr>
        <p:spPr>
          <a:xfrm>
            <a:off x="4508500" y="2832100"/>
            <a:ext cx="3060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objetivos não se cumprem sozinhos: são as pessoas que tomam decisões e realizam o trabalho.</a:t>
            </a:r>
            <a:endParaRPr lang="en-US" sz="1300" dirty="0"/>
          </a:p>
        </p:txBody>
      </p:sp>
      <p:sp>
        <p:nvSpPr>
          <p:cNvPr id="18" name="A3|rise|car2"/>
          <p:cNvSpPr/>
          <p:nvPr/>
        </p:nvSpPr>
        <p:spPr>
          <a:xfrm>
            <a:off x="4457700" y="3683000"/>
            <a:ext cx="3162300" cy="9525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19" name="A3|rise|car2"/>
          <p:cNvSpPr txBox="1"/>
          <p:nvPr/>
        </p:nvSpPr>
        <p:spPr>
          <a:xfrm>
            <a:off x="4584700" y="3784600"/>
            <a:ext cx="290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20" name="A3|rise|car2"/>
          <p:cNvSpPr txBox="1"/>
          <p:nvPr/>
        </p:nvSpPr>
        <p:spPr>
          <a:xfrm>
            <a:off x="4584700" y="4013200"/>
            <a:ext cx="29083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[N.º aproximado de colaboradores e principais funções]</a:t>
            </a:r>
            <a:endParaRPr lang="en-US" sz="1250" dirty="0"/>
          </a:p>
        </p:txBody>
      </p:sp>
      <p:sp>
        <p:nvSpPr>
          <p:cNvPr id="21" name="A4|rise|car3"/>
          <p:cNvSpPr/>
          <p:nvPr/>
        </p:nvSpPr>
        <p:spPr>
          <a:xfrm>
            <a:off x="7848600" y="1714500"/>
            <a:ext cx="3416300" cy="3048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2" name="A4|rise|car3"/>
          <p:cNvSpPr txBox="1"/>
          <p:nvPr/>
        </p:nvSpPr>
        <p:spPr>
          <a:xfrm>
            <a:off x="8026400" y="18288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23" name="A4|rise|car3"/>
          <p:cNvSpPr txBox="1"/>
          <p:nvPr/>
        </p:nvSpPr>
        <p:spPr>
          <a:xfrm>
            <a:off x="8026400" y="2463800"/>
            <a:ext cx="306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deliberada</a:t>
            </a:r>
            <a:endParaRPr lang="en-US" sz="1800" dirty="0"/>
          </a:p>
        </p:txBody>
      </p:sp>
      <p:sp>
        <p:nvSpPr>
          <p:cNvPr id="24" name="A4|rise|car3"/>
          <p:cNvSpPr txBox="1"/>
          <p:nvPr/>
        </p:nvSpPr>
        <p:spPr>
          <a:xfrm>
            <a:off x="8026400" y="2832100"/>
            <a:ext cx="3060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Regras, funções e relações de autoridade definem quem faz o quê e como o trabalho se coordena.</a:t>
            </a:r>
            <a:endParaRPr lang="en-US" sz="1300" dirty="0"/>
          </a:p>
        </p:txBody>
      </p:sp>
      <p:sp>
        <p:nvSpPr>
          <p:cNvPr id="25" name="A4|rise|car3"/>
          <p:cNvSpPr/>
          <p:nvPr/>
        </p:nvSpPr>
        <p:spPr>
          <a:xfrm>
            <a:off x="7975600" y="3683000"/>
            <a:ext cx="3162300" cy="9525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26" name="A4|rise|car3"/>
          <p:cNvSpPr txBox="1"/>
          <p:nvPr/>
        </p:nvSpPr>
        <p:spPr>
          <a:xfrm>
            <a:off x="8102600" y="3784600"/>
            <a:ext cx="290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27" name="A4|rise|car3"/>
          <p:cNvSpPr txBox="1"/>
          <p:nvPr/>
        </p:nvSpPr>
        <p:spPr>
          <a:xfrm>
            <a:off x="8102600" y="4013200"/>
            <a:ext cx="29083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[Como está organizada: lojas, equipas, hierarquia]</a:t>
            </a:r>
            <a:endParaRPr lang="en-US" sz="1250" dirty="0"/>
          </a:p>
        </p:txBody>
      </p:sp>
      <p:sp>
        <p:nvSpPr>
          <p:cNvPr id="28" name="K1|rise|citacao"/>
          <p:cNvSpPr txBox="1"/>
          <p:nvPr/>
        </p:nvSpPr>
        <p:spPr>
          <a:xfrm rot="-36000">
            <a:off x="812800" y="4978400"/>
            <a:ext cx="10566400" cy="7620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“[Excerto da entrevista que mostra uma destas características na Nata Lisboa.]”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CITAÇÃO · MÔNICA CARDOSO, GERENTE OPERACIONAL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ABORDAGEM SISTÉMICA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ABERTO</a:t>
            </a:r>
            <a:endParaRPr lang="en-US" sz="3600" dirty="0"/>
          </a:p>
        </p:txBody>
      </p:sp>
      <p:sp>
        <p:nvSpPr>
          <p:cNvPr id="6" name="A1|fade|intro"/>
          <p:cNvSpPr txBox="1"/>
          <p:nvPr/>
        </p:nvSpPr>
        <p:spPr>
          <a:xfrm>
            <a:off x="812800" y="1308100"/>
            <a:ext cx="1056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organização troca continuamente recursos e informação com o ambiente: recebe entradas, transforma-as e devolve saídas — e ajusta-se com base no feedback.</a:t>
            </a:r>
            <a:endParaRPr lang="en-US" sz="1300" dirty="0"/>
          </a:p>
        </p:txBody>
      </p:sp>
      <p:sp>
        <p:nvSpPr>
          <p:cNvPr id="7" name="A2|rise|bloco0"/>
          <p:cNvSpPr/>
          <p:nvPr/>
        </p:nvSpPr>
        <p:spPr>
          <a:xfrm>
            <a:off x="812800" y="1879600"/>
            <a:ext cx="3251200" cy="26035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8" name="A2|rise|bloco0"/>
          <p:cNvSpPr txBox="1"/>
          <p:nvPr/>
        </p:nvSpPr>
        <p:spPr>
          <a:xfrm>
            <a:off x="990600" y="201930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ENTRADAS</a:t>
            </a:r>
            <a:endParaRPr lang="en-US" sz="1100" dirty="0"/>
          </a:p>
        </p:txBody>
      </p:sp>
      <p:sp>
        <p:nvSpPr>
          <p:cNvPr id="9" name="A2|rise|bloco0"/>
          <p:cNvSpPr txBox="1"/>
          <p:nvPr/>
        </p:nvSpPr>
        <p:spPr>
          <a:xfrm>
            <a:off x="990600" y="2235200"/>
            <a:ext cx="2895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2000" dirty="0"/>
          </a:p>
        </p:txBody>
      </p:sp>
      <p:sp>
        <p:nvSpPr>
          <p:cNvPr id="10" name="A2|rise|bloco0"/>
          <p:cNvSpPr txBox="1"/>
          <p:nvPr/>
        </p:nvSpPr>
        <p:spPr>
          <a:xfrm>
            <a:off x="990600" y="2616200"/>
            <a:ext cx="2895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obtidos do ambiente: pessoas, matérias-primas, capital, informação e tecnologia.</a:t>
            </a:r>
            <a:endParaRPr lang="en-US" sz="1200" dirty="0"/>
          </a:p>
        </p:txBody>
      </p:sp>
      <p:sp>
        <p:nvSpPr>
          <p:cNvPr id="11" name="A2|rise|bloco0"/>
          <p:cNvSpPr/>
          <p:nvPr/>
        </p:nvSpPr>
        <p:spPr>
          <a:xfrm>
            <a:off x="939800" y="3403600"/>
            <a:ext cx="2997200" cy="9525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12" name="A2|rise|bloco0"/>
          <p:cNvSpPr txBox="1"/>
          <p:nvPr/>
        </p:nvSpPr>
        <p:spPr>
          <a:xfrm>
            <a:off x="1066800" y="3505200"/>
            <a:ext cx="274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13" name="A2|rise|bloco0"/>
          <p:cNvSpPr txBox="1"/>
          <p:nvPr/>
        </p:nvSpPr>
        <p:spPr>
          <a:xfrm>
            <a:off x="1066800" y="3733800"/>
            <a:ext cx="27432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[Ex.: farinha, ovos, leite, açúcar, colaboradores, fornos]</a:t>
            </a:r>
            <a:endParaRPr lang="en-US" sz="1250" dirty="0"/>
          </a:p>
        </p:txBody>
      </p:sp>
      <p:sp>
        <p:nvSpPr>
          <p:cNvPr id="14" name="A3|wipeL|seta0"/>
          <p:cNvSpPr/>
          <p:nvPr/>
        </p:nvSpPr>
        <p:spPr>
          <a:xfrm>
            <a:off x="4140200" y="3022600"/>
            <a:ext cx="254000" cy="317500"/>
          </a:xfrm>
          <a:prstGeom prst="rightArrow">
            <a:avLst/>
          </a:prstGeom>
          <a:solidFill>
            <a:srgbClr val="F5822A"/>
          </a:solidFill>
          <a:ln/>
        </p:spPr>
      </p:sp>
      <p:sp>
        <p:nvSpPr>
          <p:cNvPr id="15" name="A4|rise|bloco1"/>
          <p:cNvSpPr/>
          <p:nvPr/>
        </p:nvSpPr>
        <p:spPr>
          <a:xfrm>
            <a:off x="4470400" y="1879600"/>
            <a:ext cx="3251200" cy="2603500"/>
          </a:xfrm>
          <a:prstGeom prst="rect">
            <a:avLst/>
          </a:prstGeom>
          <a:solidFill>
            <a:srgbClr val="1A3C80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6" name="A4|rise|bloco1"/>
          <p:cNvSpPr txBox="1"/>
          <p:nvPr/>
        </p:nvSpPr>
        <p:spPr>
          <a:xfrm>
            <a:off x="4648200" y="201930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TRANSFORMAÇÃO</a:t>
            </a:r>
            <a:endParaRPr lang="en-US" sz="1100" dirty="0"/>
          </a:p>
        </p:txBody>
      </p:sp>
      <p:sp>
        <p:nvSpPr>
          <p:cNvPr id="17" name="A4|rise|bloco1"/>
          <p:cNvSpPr txBox="1"/>
          <p:nvPr/>
        </p:nvSpPr>
        <p:spPr>
          <a:xfrm>
            <a:off x="4648200" y="2235200"/>
            <a:ext cx="2895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</a:t>
            </a:r>
            <a:endParaRPr lang="en-US" sz="2000" dirty="0"/>
          </a:p>
        </p:txBody>
      </p:sp>
      <p:sp>
        <p:nvSpPr>
          <p:cNvPr id="18" name="A4|rise|bloco1"/>
          <p:cNvSpPr txBox="1"/>
          <p:nvPr/>
        </p:nvSpPr>
        <p:spPr>
          <a:xfrm>
            <a:off x="4648200" y="2616200"/>
            <a:ext cx="2895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Atividades que transformam as entradas: produção, operações, trabalho das equipas e gestão.</a:t>
            </a:r>
            <a:endParaRPr lang="en-US" sz="1200" dirty="0"/>
          </a:p>
        </p:txBody>
      </p:sp>
      <p:sp>
        <p:nvSpPr>
          <p:cNvPr id="19" name="A4|rise|bloco1"/>
          <p:cNvSpPr/>
          <p:nvPr/>
        </p:nvSpPr>
        <p:spPr>
          <a:xfrm>
            <a:off x="4597400" y="3403600"/>
            <a:ext cx="2997200" cy="9525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20" name="A4|rise|bloco1"/>
          <p:cNvSpPr txBox="1"/>
          <p:nvPr/>
        </p:nvSpPr>
        <p:spPr>
          <a:xfrm>
            <a:off x="4724400" y="3505200"/>
            <a:ext cx="274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21" name="A4|rise|bloco1"/>
          <p:cNvSpPr txBox="1"/>
          <p:nvPr/>
        </p:nvSpPr>
        <p:spPr>
          <a:xfrm>
            <a:off x="4724400" y="3733800"/>
            <a:ext cx="27432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[Ex.: produção dos pastéis, atendimento, gestão da loja]</a:t>
            </a:r>
            <a:endParaRPr lang="en-US" sz="1250" dirty="0"/>
          </a:p>
        </p:txBody>
      </p:sp>
      <p:sp>
        <p:nvSpPr>
          <p:cNvPr id="22" name="A5|wipeL|seta1"/>
          <p:cNvSpPr/>
          <p:nvPr/>
        </p:nvSpPr>
        <p:spPr>
          <a:xfrm>
            <a:off x="7797800" y="3022600"/>
            <a:ext cx="254000" cy="317500"/>
          </a:xfrm>
          <a:prstGeom prst="rightArrow">
            <a:avLst/>
          </a:prstGeom>
          <a:solidFill>
            <a:srgbClr val="F5822A"/>
          </a:solidFill>
          <a:ln/>
        </p:spPr>
      </p:sp>
      <p:sp>
        <p:nvSpPr>
          <p:cNvPr id="23" name="A6|rise|bloco2"/>
          <p:cNvSpPr/>
          <p:nvPr/>
        </p:nvSpPr>
        <p:spPr>
          <a:xfrm>
            <a:off x="8128000" y="1879600"/>
            <a:ext cx="3251200" cy="26035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4" name="A6|rise|bloco2"/>
          <p:cNvSpPr txBox="1"/>
          <p:nvPr/>
        </p:nvSpPr>
        <p:spPr>
          <a:xfrm>
            <a:off x="8305800" y="2019300"/>
            <a:ext cx="289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SAÍDAS</a:t>
            </a:r>
            <a:endParaRPr lang="en-US" sz="1100" dirty="0"/>
          </a:p>
        </p:txBody>
      </p:sp>
      <p:sp>
        <p:nvSpPr>
          <p:cNvPr id="25" name="A6|rise|bloco2"/>
          <p:cNvSpPr txBox="1"/>
          <p:nvPr/>
        </p:nvSpPr>
        <p:spPr>
          <a:xfrm>
            <a:off x="8305800" y="2235200"/>
            <a:ext cx="2895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2000" dirty="0"/>
          </a:p>
        </p:txBody>
      </p:sp>
      <p:sp>
        <p:nvSpPr>
          <p:cNvPr id="26" name="A6|rise|bloco2"/>
          <p:cNvSpPr txBox="1"/>
          <p:nvPr/>
        </p:nvSpPr>
        <p:spPr>
          <a:xfrm>
            <a:off x="8305800" y="2616200"/>
            <a:ext cx="2895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devolve ao ambiente: produtos e serviços, resultados financeiros, emprego e impacto social.</a:t>
            </a:r>
            <a:endParaRPr lang="en-US" sz="1200" dirty="0"/>
          </a:p>
        </p:txBody>
      </p:sp>
      <p:sp>
        <p:nvSpPr>
          <p:cNvPr id="27" name="A6|rise|bloco2"/>
          <p:cNvSpPr/>
          <p:nvPr/>
        </p:nvSpPr>
        <p:spPr>
          <a:xfrm>
            <a:off x="8255000" y="3403600"/>
            <a:ext cx="2997200" cy="9525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28" name="A6|rise|bloco2"/>
          <p:cNvSpPr txBox="1"/>
          <p:nvPr/>
        </p:nvSpPr>
        <p:spPr>
          <a:xfrm>
            <a:off x="8382000" y="3505200"/>
            <a:ext cx="274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29" name="A6|rise|bloco2"/>
          <p:cNvSpPr txBox="1"/>
          <p:nvPr/>
        </p:nvSpPr>
        <p:spPr>
          <a:xfrm>
            <a:off x="8382000" y="3733800"/>
            <a:ext cx="27432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[Ex.: pastéis de nata, cafés, experiência do cliente, lucro]</a:t>
            </a:r>
            <a:endParaRPr lang="en-US" sz="1250" dirty="0"/>
          </a:p>
        </p:txBody>
      </p:sp>
      <p:sp>
        <p:nvSpPr>
          <p:cNvPr id="30" name="A7|fade|feedback"/>
          <p:cNvSpPr txBox="1"/>
          <p:nvPr/>
        </p:nvSpPr>
        <p:spPr>
          <a:xfrm>
            <a:off x="812800" y="4597400"/>
            <a:ext cx="10566400" cy="469900"/>
          </a:xfrm>
          <a:prstGeom prst="rect">
            <a:avLst/>
          </a:prstGeom>
          <a:noFill/>
          <a:ln w="12700">
            <a:solidFill>
              <a:srgbClr val="7F96C2"/>
            </a:solidFill>
            <a:prstDash val="dash"/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 FEEDBACK  </a:t>
            </a:r>
            <a:pPr algn="l" indent="0" marL="0"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reações do ambiente (clientes, vendas, avaliações) voltam a entrar no sistema e permitem ajustar.  </a:t>
            </a:r>
            <a:pPr algn="l" indent="0" marL="0">
              <a:buNone/>
            </a:pPr>
            <a:r>
              <a:rPr lang="en-US" sz="12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[Como a Nata Lisboa recebe retorno e se ajusta]</a:t>
            </a:r>
            <a:endParaRPr lang="en-US" sz="1200" dirty="0"/>
          </a:p>
        </p:txBody>
      </p:sp>
      <p:sp>
        <p:nvSpPr>
          <p:cNvPr id="31" name="K1|rise|citacao"/>
          <p:cNvSpPr txBox="1"/>
          <p:nvPr/>
        </p:nvSpPr>
        <p:spPr>
          <a:xfrm rot="-36000">
            <a:off x="812800" y="5194300"/>
            <a:ext cx="10566400" cy="6604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“[Excerto da entrevista sobre o funcionamento da Nata Lisboa.]”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CITAÇÃO · MÔNICA CARDOSO, GERENTE OPERACIONAL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AMBIENTE EXTERNO · EM GERAL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EXTERNO</a:t>
            </a:r>
            <a:endParaRPr lang="en-US" sz="3600" dirty="0"/>
          </a:p>
        </p:txBody>
      </p:sp>
      <p:sp>
        <p:nvSpPr>
          <p:cNvPr id="6" name="A1|zoom|geral"/>
          <p:cNvSpPr/>
          <p:nvPr/>
        </p:nvSpPr>
        <p:spPr>
          <a:xfrm>
            <a:off x="889000" y="1587500"/>
            <a:ext cx="4064000" cy="40640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6F8DC7"/>
            </a:solidFill>
            <a:prstDash val="dash"/>
          </a:ln>
        </p:spPr>
      </p:sp>
      <p:sp>
        <p:nvSpPr>
          <p:cNvPr id="7" name="A1|zoom|geral"/>
          <p:cNvSpPr txBox="1"/>
          <p:nvPr/>
        </p:nvSpPr>
        <p:spPr>
          <a:xfrm>
            <a:off x="1968500" y="18415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AMBIENTE GERAL</a:t>
            </a:r>
            <a:endParaRPr lang="en-US" sz="1100" dirty="0"/>
          </a:p>
        </p:txBody>
      </p:sp>
      <p:sp>
        <p:nvSpPr>
          <p:cNvPr id="8" name="A2|zoom|tarefa"/>
          <p:cNvSpPr/>
          <p:nvPr/>
        </p:nvSpPr>
        <p:spPr>
          <a:xfrm>
            <a:off x="1714500" y="2413000"/>
            <a:ext cx="2413000" cy="2413000"/>
          </a:xfrm>
          <a:prstGeom prst="ellipse">
            <a:avLst/>
          </a:prstGeom>
          <a:solidFill>
            <a:srgbClr val="F5822A">
              <a:alpha val="10000"/>
            </a:srgbClr>
          </a:solidFill>
          <a:ln w="19050">
            <a:solidFill>
              <a:srgbClr val="F5822A"/>
            </a:solidFill>
            <a:prstDash val="solid"/>
          </a:ln>
        </p:spPr>
      </p:sp>
      <p:sp>
        <p:nvSpPr>
          <p:cNvPr id="9" name="A2|zoom|tarefa"/>
          <p:cNvSpPr txBox="1"/>
          <p:nvPr/>
        </p:nvSpPr>
        <p:spPr>
          <a:xfrm>
            <a:off x="1968500" y="26289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AMBIENTE DE TAREFA</a:t>
            </a:r>
            <a:endParaRPr lang="en-US" sz="1000" dirty="0"/>
          </a:p>
        </p:txBody>
      </p:sp>
      <p:sp>
        <p:nvSpPr>
          <p:cNvPr id="10" name="A3|zoom|org"/>
          <p:cNvSpPr/>
          <p:nvPr/>
        </p:nvSpPr>
        <p:spPr>
          <a:xfrm>
            <a:off x="2349500" y="3048000"/>
            <a:ext cx="1143000" cy="1143000"/>
          </a:xfrm>
          <a:prstGeom prst="ellipse">
            <a:avLst/>
          </a:prstGeom>
          <a:solidFill>
            <a:srgbClr val="F5822A"/>
          </a:solidFill>
          <a:ln/>
        </p:spPr>
      </p:sp>
      <p:sp>
        <p:nvSpPr>
          <p:cNvPr id="11" name="A3|zoom|org"/>
          <p:cNvSpPr txBox="1"/>
          <p:nvPr/>
        </p:nvSpPr>
        <p:spPr>
          <a:xfrm>
            <a:off x="2349500" y="30480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LISBOA</a:t>
            </a:r>
            <a:endParaRPr lang="en-US" sz="1400" dirty="0"/>
          </a:p>
        </p:txBody>
      </p:sp>
      <p:sp>
        <p:nvSpPr>
          <p:cNvPr id="12" name="A4|rise|cardTarefa"/>
          <p:cNvSpPr/>
          <p:nvPr/>
        </p:nvSpPr>
        <p:spPr>
          <a:xfrm>
            <a:off x="5334000" y="1587500"/>
            <a:ext cx="6045200" cy="1905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3" name="A4|rise|cardTarefa"/>
          <p:cNvSpPr txBox="1"/>
          <p:nvPr/>
        </p:nvSpPr>
        <p:spPr>
          <a:xfrm>
            <a:off x="5511800" y="17399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AMBIENTE DE TAREFA (ESPECÍFICO) · IMPACTO DIRETO</a:t>
            </a:r>
            <a:endParaRPr lang="en-US" sz="1100" dirty="0"/>
          </a:p>
        </p:txBody>
      </p:sp>
      <p:sp>
        <p:nvSpPr>
          <p:cNvPr id="14" name="A4|rise|cardTarefa"/>
          <p:cNvSpPr txBox="1"/>
          <p:nvPr/>
        </p:nvSpPr>
        <p:spPr>
          <a:xfrm>
            <a:off x="5511800" y="2019300"/>
            <a:ext cx="568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com que a organização interage diretamente e que afetam, de imediato, o cumprimento dos seus objetivos.</a:t>
            </a:r>
            <a:endParaRPr lang="en-US" sz="1300" dirty="0"/>
          </a:p>
        </p:txBody>
      </p:sp>
      <p:sp>
        <p:nvSpPr>
          <p:cNvPr id="15" name="A4|rise|cardTarefa"/>
          <p:cNvSpPr txBox="1"/>
          <p:nvPr/>
        </p:nvSpPr>
        <p:spPr>
          <a:xfrm>
            <a:off x="5511800" y="2984500"/>
            <a:ext cx="895350" cy="292100"/>
          </a:xfrm>
          <a:prstGeom prst="rect">
            <a:avLst/>
          </a:prstGeom>
          <a:noFill/>
          <a:ln w="12700">
            <a:solidFill>
              <a:srgbClr val="F5822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endParaRPr lang="en-US" sz="1100" dirty="0"/>
          </a:p>
        </p:txBody>
      </p:sp>
      <p:sp>
        <p:nvSpPr>
          <p:cNvPr id="16" name="A4|rise|cardTarefa"/>
          <p:cNvSpPr txBox="1"/>
          <p:nvPr/>
        </p:nvSpPr>
        <p:spPr>
          <a:xfrm>
            <a:off x="6496050" y="2984500"/>
            <a:ext cx="1212850" cy="292100"/>
          </a:xfrm>
          <a:prstGeom prst="rect">
            <a:avLst/>
          </a:prstGeom>
          <a:noFill/>
          <a:ln w="12700">
            <a:solidFill>
              <a:srgbClr val="F5822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Fornecedores</a:t>
            </a:r>
            <a:endParaRPr lang="en-US" sz="1100" dirty="0"/>
          </a:p>
        </p:txBody>
      </p:sp>
      <p:sp>
        <p:nvSpPr>
          <p:cNvPr id="17" name="A4|rise|cardTarefa"/>
          <p:cNvSpPr txBox="1"/>
          <p:nvPr/>
        </p:nvSpPr>
        <p:spPr>
          <a:xfrm>
            <a:off x="7797800" y="2984500"/>
            <a:ext cx="1212850" cy="292100"/>
          </a:xfrm>
          <a:prstGeom prst="rect">
            <a:avLst/>
          </a:prstGeom>
          <a:noFill/>
          <a:ln w="12700">
            <a:solidFill>
              <a:srgbClr val="F5822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Concorrentes</a:t>
            </a:r>
            <a:endParaRPr lang="en-US" sz="1100" dirty="0"/>
          </a:p>
        </p:txBody>
      </p:sp>
      <p:sp>
        <p:nvSpPr>
          <p:cNvPr id="18" name="A4|rise|cardTarefa"/>
          <p:cNvSpPr txBox="1"/>
          <p:nvPr/>
        </p:nvSpPr>
        <p:spPr>
          <a:xfrm>
            <a:off x="9099550" y="2984500"/>
            <a:ext cx="1612900" cy="292100"/>
          </a:xfrm>
          <a:prstGeom prst="rect">
            <a:avLst/>
          </a:prstGeom>
          <a:noFill/>
          <a:ln w="12700">
            <a:solidFill>
              <a:srgbClr val="F5822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Grupos de pressão</a:t>
            </a:r>
            <a:endParaRPr lang="en-US" sz="1100" dirty="0"/>
          </a:p>
        </p:txBody>
      </p:sp>
      <p:sp>
        <p:nvSpPr>
          <p:cNvPr id="19" name="A5|rise|cardGeral"/>
          <p:cNvSpPr/>
          <p:nvPr/>
        </p:nvSpPr>
        <p:spPr>
          <a:xfrm>
            <a:off x="5334000" y="3670300"/>
            <a:ext cx="6045200" cy="19812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0" name="A5|rise|cardGeral"/>
          <p:cNvSpPr txBox="1"/>
          <p:nvPr/>
        </p:nvSpPr>
        <p:spPr>
          <a:xfrm>
            <a:off x="5511800" y="38227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AMBIENTE GERAL (CONTEXTUAL) · IMPACTO INDIRETO</a:t>
            </a:r>
            <a:endParaRPr lang="en-US" sz="1100" dirty="0"/>
          </a:p>
        </p:txBody>
      </p:sp>
      <p:sp>
        <p:nvSpPr>
          <p:cNvPr id="21" name="A5|rise|cardGeral"/>
          <p:cNvSpPr txBox="1"/>
          <p:nvPr/>
        </p:nvSpPr>
        <p:spPr>
          <a:xfrm>
            <a:off x="5511800" y="4102100"/>
            <a:ext cx="568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Condições amplas, fora do controlo da organização, que afetam todas as organizações do setor.</a:t>
            </a:r>
            <a:endParaRPr lang="en-US" sz="1300" dirty="0"/>
          </a:p>
        </p:txBody>
      </p:sp>
      <p:sp>
        <p:nvSpPr>
          <p:cNvPr id="22" name="A5|rise|cardGeral"/>
          <p:cNvSpPr txBox="1"/>
          <p:nvPr/>
        </p:nvSpPr>
        <p:spPr>
          <a:xfrm>
            <a:off x="5511800" y="4724400"/>
            <a:ext cx="1054100" cy="292100"/>
          </a:xfrm>
          <a:prstGeom prst="rect">
            <a:avLst/>
          </a:prstGeom>
          <a:noFill/>
          <a:ln w="12700">
            <a:solidFill>
              <a:srgbClr val="9FB4D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Económicas</a:t>
            </a:r>
            <a:endParaRPr lang="en-US" sz="1100" dirty="0"/>
          </a:p>
        </p:txBody>
      </p:sp>
      <p:sp>
        <p:nvSpPr>
          <p:cNvPr id="23" name="A5|rise|cardGeral"/>
          <p:cNvSpPr txBox="1"/>
          <p:nvPr/>
        </p:nvSpPr>
        <p:spPr>
          <a:xfrm>
            <a:off x="6654800" y="4724400"/>
            <a:ext cx="1454150" cy="292100"/>
          </a:xfrm>
          <a:prstGeom prst="rect">
            <a:avLst/>
          </a:prstGeom>
          <a:noFill/>
          <a:ln w="12700">
            <a:solidFill>
              <a:srgbClr val="9FB4D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Político-legais</a:t>
            </a:r>
            <a:endParaRPr lang="en-US" sz="1100" dirty="0"/>
          </a:p>
        </p:txBody>
      </p:sp>
      <p:sp>
        <p:nvSpPr>
          <p:cNvPr id="24" name="A5|rise|cardGeral"/>
          <p:cNvSpPr txBox="1"/>
          <p:nvPr/>
        </p:nvSpPr>
        <p:spPr>
          <a:xfrm>
            <a:off x="8197850" y="4724400"/>
            <a:ext cx="1371600" cy="292100"/>
          </a:xfrm>
          <a:prstGeom prst="rect">
            <a:avLst/>
          </a:prstGeom>
          <a:noFill/>
          <a:ln w="12700">
            <a:solidFill>
              <a:srgbClr val="9FB4D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Socioculturais</a:t>
            </a:r>
            <a:endParaRPr lang="en-US" sz="1100" dirty="0"/>
          </a:p>
        </p:txBody>
      </p:sp>
      <p:sp>
        <p:nvSpPr>
          <p:cNvPr id="25" name="A5|rise|cardGeral"/>
          <p:cNvSpPr txBox="1"/>
          <p:nvPr/>
        </p:nvSpPr>
        <p:spPr>
          <a:xfrm>
            <a:off x="5511800" y="5118100"/>
            <a:ext cx="1212850" cy="292100"/>
          </a:xfrm>
          <a:prstGeom prst="rect">
            <a:avLst/>
          </a:prstGeom>
          <a:noFill/>
          <a:ln w="12700">
            <a:solidFill>
              <a:srgbClr val="9FB4D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Demográficas</a:t>
            </a:r>
            <a:endParaRPr lang="en-US" sz="1100" dirty="0"/>
          </a:p>
        </p:txBody>
      </p:sp>
      <p:sp>
        <p:nvSpPr>
          <p:cNvPr id="26" name="A5|rise|cardGeral"/>
          <p:cNvSpPr txBox="1"/>
          <p:nvPr/>
        </p:nvSpPr>
        <p:spPr>
          <a:xfrm>
            <a:off x="6813550" y="5118100"/>
            <a:ext cx="1212850" cy="292100"/>
          </a:xfrm>
          <a:prstGeom prst="rect">
            <a:avLst/>
          </a:prstGeom>
          <a:noFill/>
          <a:ln w="12700">
            <a:solidFill>
              <a:srgbClr val="9FB4D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Tecnológicas</a:t>
            </a:r>
            <a:endParaRPr lang="en-US" sz="1100" dirty="0"/>
          </a:p>
        </p:txBody>
      </p:sp>
      <p:sp>
        <p:nvSpPr>
          <p:cNvPr id="27" name="A5|rise|cardGeral"/>
          <p:cNvSpPr txBox="1"/>
          <p:nvPr/>
        </p:nvSpPr>
        <p:spPr>
          <a:xfrm>
            <a:off x="8115300" y="5118100"/>
            <a:ext cx="812800" cy="292100"/>
          </a:xfrm>
          <a:prstGeom prst="rect">
            <a:avLst/>
          </a:prstGeom>
          <a:noFill/>
          <a:ln w="12700">
            <a:solidFill>
              <a:srgbClr val="9FB4D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Globais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AMBIENTE EXTERNO · NA NATA LISBOA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FORÇAS NA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NATA LISBOA</a:t>
            </a:r>
            <a:endParaRPr lang="en-US" sz="3600" dirty="0"/>
          </a:p>
        </p:txBody>
      </p:sp>
      <p:sp>
        <p:nvSpPr>
          <p:cNvPr id="6" name="A1|fade|lblTarefa"/>
          <p:cNvSpPr txBox="1"/>
          <p:nvPr/>
        </p:nvSpPr>
        <p:spPr>
          <a:xfrm>
            <a:off x="812800" y="13589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FORÇAS DE TAREFA · IMPACTO DIRETO</a:t>
            </a:r>
            <a:endParaRPr lang="en-US" sz="1100" dirty="0"/>
          </a:p>
        </p:txBody>
      </p:sp>
      <p:sp>
        <p:nvSpPr>
          <p:cNvPr id="7" name="A2|rise|tarefa0"/>
          <p:cNvSpPr/>
          <p:nvPr/>
        </p:nvSpPr>
        <p:spPr>
          <a:xfrm>
            <a:off x="812800" y="1612900"/>
            <a:ext cx="2565400" cy="1016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8" name="A2|rise|tarefa0"/>
          <p:cNvSpPr txBox="1"/>
          <p:nvPr/>
        </p:nvSpPr>
        <p:spPr>
          <a:xfrm>
            <a:off x="952500" y="17272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endParaRPr lang="en-US" sz="1100" dirty="0"/>
          </a:p>
        </p:txBody>
      </p:sp>
      <p:sp>
        <p:nvSpPr>
          <p:cNvPr id="9" name="A2|rise|tarefa0"/>
          <p:cNvSpPr txBox="1"/>
          <p:nvPr/>
        </p:nvSpPr>
        <p:spPr>
          <a:xfrm>
            <a:off x="952500" y="19685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[Quem são: turistas, residentes, empresas…?]</a:t>
            </a:r>
            <a:endParaRPr lang="en-US" sz="1250" dirty="0"/>
          </a:p>
        </p:txBody>
      </p:sp>
      <p:sp>
        <p:nvSpPr>
          <p:cNvPr id="10" name="A3|rise|tarefa1"/>
          <p:cNvSpPr/>
          <p:nvPr/>
        </p:nvSpPr>
        <p:spPr>
          <a:xfrm>
            <a:off x="3479800" y="1612900"/>
            <a:ext cx="2565400" cy="1016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1" name="A3|rise|tarefa1"/>
          <p:cNvSpPr txBox="1"/>
          <p:nvPr/>
        </p:nvSpPr>
        <p:spPr>
          <a:xfrm>
            <a:off x="3619500" y="17272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FORNECEDORES</a:t>
            </a:r>
            <a:endParaRPr lang="en-US" sz="1100" dirty="0"/>
          </a:p>
        </p:txBody>
      </p:sp>
      <p:sp>
        <p:nvSpPr>
          <p:cNvPr id="12" name="A3|rise|tarefa1"/>
          <p:cNvSpPr txBox="1"/>
          <p:nvPr/>
        </p:nvSpPr>
        <p:spPr>
          <a:xfrm>
            <a:off x="3619500" y="19685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[Principais: matérias-primas, embalagens, café…]</a:t>
            </a:r>
            <a:endParaRPr lang="en-US" sz="1250" dirty="0"/>
          </a:p>
        </p:txBody>
      </p:sp>
      <p:sp>
        <p:nvSpPr>
          <p:cNvPr id="13" name="A4|rise|tarefa2"/>
          <p:cNvSpPr/>
          <p:nvPr/>
        </p:nvSpPr>
        <p:spPr>
          <a:xfrm>
            <a:off x="6146800" y="1612900"/>
            <a:ext cx="2565400" cy="1016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4" name="A4|rise|tarefa2"/>
          <p:cNvSpPr txBox="1"/>
          <p:nvPr/>
        </p:nvSpPr>
        <p:spPr>
          <a:xfrm>
            <a:off x="6286500" y="17272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CONCORRENTES</a:t>
            </a:r>
            <a:endParaRPr lang="en-US" sz="1100" dirty="0"/>
          </a:p>
        </p:txBody>
      </p:sp>
      <p:sp>
        <p:nvSpPr>
          <p:cNvPr id="15" name="A4|rise|tarefa2"/>
          <p:cNvSpPr txBox="1"/>
          <p:nvPr/>
        </p:nvSpPr>
        <p:spPr>
          <a:xfrm>
            <a:off x="6286500" y="19685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[Outras pastelarias e cadeias de pastéis de nata]</a:t>
            </a:r>
            <a:endParaRPr lang="en-US" sz="1250" dirty="0"/>
          </a:p>
        </p:txBody>
      </p:sp>
      <p:sp>
        <p:nvSpPr>
          <p:cNvPr id="16" name="A5|rise|tarefa3"/>
          <p:cNvSpPr/>
          <p:nvPr/>
        </p:nvSpPr>
        <p:spPr>
          <a:xfrm>
            <a:off x="8813800" y="1612900"/>
            <a:ext cx="2565400" cy="1016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7" name="A5|rise|tarefa3"/>
          <p:cNvSpPr txBox="1"/>
          <p:nvPr/>
        </p:nvSpPr>
        <p:spPr>
          <a:xfrm>
            <a:off x="8953500" y="17272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GRUPOS DE PRESSÃO</a:t>
            </a:r>
            <a:endParaRPr lang="en-US" sz="1100" dirty="0"/>
          </a:p>
        </p:txBody>
      </p:sp>
      <p:sp>
        <p:nvSpPr>
          <p:cNvPr id="18" name="A5|rise|tarefa3"/>
          <p:cNvSpPr txBox="1"/>
          <p:nvPr/>
        </p:nvSpPr>
        <p:spPr>
          <a:xfrm>
            <a:off x="8953500" y="1968500"/>
            <a:ext cx="228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[ASAE, autarquia, media, avaliações online…]</a:t>
            </a:r>
            <a:endParaRPr lang="en-US" sz="1250" dirty="0"/>
          </a:p>
        </p:txBody>
      </p:sp>
      <p:sp>
        <p:nvSpPr>
          <p:cNvPr id="19" name="A6|fade|lblGeral"/>
          <p:cNvSpPr txBox="1"/>
          <p:nvPr/>
        </p:nvSpPr>
        <p:spPr>
          <a:xfrm>
            <a:off x="812800" y="28194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FORÇAS GERAIS · IMPACTO INDIRETO</a:t>
            </a:r>
            <a:endParaRPr lang="en-US" sz="1100" dirty="0"/>
          </a:p>
        </p:txBody>
      </p:sp>
      <p:sp>
        <p:nvSpPr>
          <p:cNvPr id="20" name="A7|rise|geral0"/>
          <p:cNvSpPr/>
          <p:nvPr/>
        </p:nvSpPr>
        <p:spPr>
          <a:xfrm>
            <a:off x="812800" y="3073400"/>
            <a:ext cx="3454400" cy="7747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1" name="A7|rise|geral0"/>
          <p:cNvSpPr txBox="1"/>
          <p:nvPr/>
        </p:nvSpPr>
        <p:spPr>
          <a:xfrm>
            <a:off x="952500" y="31750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ECONÓMICAS</a:t>
            </a:r>
            <a:endParaRPr lang="en-US" sz="1100" dirty="0"/>
          </a:p>
        </p:txBody>
      </p:sp>
      <p:sp>
        <p:nvSpPr>
          <p:cNvPr id="22" name="A7|rise|geral0"/>
          <p:cNvSpPr txBox="1"/>
          <p:nvPr/>
        </p:nvSpPr>
        <p:spPr>
          <a:xfrm>
            <a:off x="952500" y="34036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[Ex.: inflação, preço dos ovos e da energia, turismo]</a:t>
            </a:r>
            <a:endParaRPr lang="en-US" sz="1250" dirty="0"/>
          </a:p>
        </p:txBody>
      </p:sp>
      <p:sp>
        <p:nvSpPr>
          <p:cNvPr id="23" name="A8|rise|geral1"/>
          <p:cNvSpPr/>
          <p:nvPr/>
        </p:nvSpPr>
        <p:spPr>
          <a:xfrm>
            <a:off x="4368800" y="3073400"/>
            <a:ext cx="3454400" cy="7747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4" name="A8|rise|geral1"/>
          <p:cNvSpPr txBox="1"/>
          <p:nvPr/>
        </p:nvSpPr>
        <p:spPr>
          <a:xfrm>
            <a:off x="4508500" y="31750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POLÍTICO-LEGAIS</a:t>
            </a:r>
            <a:endParaRPr lang="en-US" sz="1100" dirty="0"/>
          </a:p>
        </p:txBody>
      </p:sp>
      <p:sp>
        <p:nvSpPr>
          <p:cNvPr id="25" name="A8|rise|geral1"/>
          <p:cNvSpPr txBox="1"/>
          <p:nvPr/>
        </p:nvSpPr>
        <p:spPr>
          <a:xfrm>
            <a:off x="4508500" y="34036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[Ex.: segurança alimentar, leis laborais, IVA]</a:t>
            </a:r>
            <a:endParaRPr lang="en-US" sz="1250" dirty="0"/>
          </a:p>
        </p:txBody>
      </p:sp>
      <p:sp>
        <p:nvSpPr>
          <p:cNvPr id="26" name="A9|rise|geral2"/>
          <p:cNvSpPr/>
          <p:nvPr/>
        </p:nvSpPr>
        <p:spPr>
          <a:xfrm>
            <a:off x="7924800" y="3073400"/>
            <a:ext cx="3454400" cy="7747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7" name="A9|rise|geral2"/>
          <p:cNvSpPr txBox="1"/>
          <p:nvPr/>
        </p:nvSpPr>
        <p:spPr>
          <a:xfrm>
            <a:off x="8064500" y="31750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SOCIOCULTURAIS</a:t>
            </a:r>
            <a:endParaRPr lang="en-US" sz="1100" dirty="0"/>
          </a:p>
        </p:txBody>
      </p:sp>
      <p:sp>
        <p:nvSpPr>
          <p:cNvPr id="28" name="A9|rise|geral2"/>
          <p:cNvSpPr txBox="1"/>
          <p:nvPr/>
        </p:nvSpPr>
        <p:spPr>
          <a:xfrm>
            <a:off x="8064500" y="34036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[Ex.: hábitos de consumo, tradição do pastel de nata]</a:t>
            </a:r>
            <a:endParaRPr lang="en-US" sz="1250" dirty="0"/>
          </a:p>
        </p:txBody>
      </p:sp>
      <p:sp>
        <p:nvSpPr>
          <p:cNvPr id="29" name="A10|rise|geral3"/>
          <p:cNvSpPr/>
          <p:nvPr/>
        </p:nvSpPr>
        <p:spPr>
          <a:xfrm>
            <a:off x="812800" y="3937000"/>
            <a:ext cx="3454400" cy="7747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0" name="A10|rise|geral3"/>
          <p:cNvSpPr txBox="1"/>
          <p:nvPr/>
        </p:nvSpPr>
        <p:spPr>
          <a:xfrm>
            <a:off x="952500" y="40386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DEMOGRÁFICAS</a:t>
            </a:r>
            <a:endParaRPr lang="en-US" sz="1100" dirty="0"/>
          </a:p>
        </p:txBody>
      </p:sp>
      <p:sp>
        <p:nvSpPr>
          <p:cNvPr id="31" name="A10|rise|geral3"/>
          <p:cNvSpPr txBox="1"/>
          <p:nvPr/>
        </p:nvSpPr>
        <p:spPr>
          <a:xfrm>
            <a:off x="952500" y="42672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[Ex.: turistas vs. residentes, faixa etária]</a:t>
            </a:r>
            <a:endParaRPr lang="en-US" sz="1250" dirty="0"/>
          </a:p>
        </p:txBody>
      </p:sp>
      <p:sp>
        <p:nvSpPr>
          <p:cNvPr id="32" name="A11|rise|geral4"/>
          <p:cNvSpPr/>
          <p:nvPr/>
        </p:nvSpPr>
        <p:spPr>
          <a:xfrm>
            <a:off x="4368800" y="3937000"/>
            <a:ext cx="3454400" cy="7747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3" name="A11|rise|geral4"/>
          <p:cNvSpPr txBox="1"/>
          <p:nvPr/>
        </p:nvSpPr>
        <p:spPr>
          <a:xfrm>
            <a:off x="4508500" y="40386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TECNOLÓGICAS</a:t>
            </a:r>
            <a:endParaRPr lang="en-US" sz="1100" dirty="0"/>
          </a:p>
        </p:txBody>
      </p:sp>
      <p:sp>
        <p:nvSpPr>
          <p:cNvPr id="34" name="A11|rise|geral4"/>
          <p:cNvSpPr txBox="1"/>
          <p:nvPr/>
        </p:nvSpPr>
        <p:spPr>
          <a:xfrm>
            <a:off x="4508500" y="42672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[Ex.: entregas por app, pagamentos, redes sociais]</a:t>
            </a:r>
            <a:endParaRPr lang="en-US" sz="1250" dirty="0"/>
          </a:p>
        </p:txBody>
      </p:sp>
      <p:sp>
        <p:nvSpPr>
          <p:cNvPr id="35" name="A12|rise|geral5"/>
          <p:cNvSpPr/>
          <p:nvPr/>
        </p:nvSpPr>
        <p:spPr>
          <a:xfrm>
            <a:off x="7924800" y="3937000"/>
            <a:ext cx="3454400" cy="7747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6" name="A12|rise|geral5"/>
          <p:cNvSpPr txBox="1"/>
          <p:nvPr/>
        </p:nvSpPr>
        <p:spPr>
          <a:xfrm>
            <a:off x="8064500" y="40386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GLOBAIS</a:t>
            </a:r>
            <a:endParaRPr lang="en-US" sz="1100" dirty="0"/>
          </a:p>
        </p:txBody>
      </p:sp>
      <p:sp>
        <p:nvSpPr>
          <p:cNvPr id="37" name="A12|rise|geral5"/>
          <p:cNvSpPr txBox="1"/>
          <p:nvPr/>
        </p:nvSpPr>
        <p:spPr>
          <a:xfrm>
            <a:off x="8064500" y="42672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[Ex.: presença internacional, turismo global]</a:t>
            </a:r>
            <a:endParaRPr lang="en-US" sz="1250" dirty="0"/>
          </a:p>
        </p:txBody>
      </p:sp>
      <p:sp>
        <p:nvSpPr>
          <p:cNvPr id="38" name="K1|rise|citacao"/>
          <p:cNvSpPr txBox="1"/>
          <p:nvPr/>
        </p:nvSpPr>
        <p:spPr>
          <a:xfrm rot="-36000">
            <a:off x="812800" y="4940300"/>
            <a:ext cx="10566400" cy="7620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“[Excerto em que a Mônica fala de clientes, concorrência ou mercado.]”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CITAÇÃO · MÔNICA CARDOSO, GERENTE OPERACIONAL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AMBIENTE EXTERNO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GRAU DE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COMPLEXIDADE</a:t>
            </a:r>
            <a:endParaRPr lang="en-US" sz="3600" dirty="0"/>
          </a:p>
        </p:txBody>
      </p:sp>
      <p:sp>
        <p:nvSpPr>
          <p:cNvPr id="6" name="A1|fade|eixos"/>
          <p:cNvSpPr txBox="1"/>
          <p:nvPr/>
        </p:nvSpPr>
        <p:spPr>
          <a:xfrm>
            <a:off x="2019300" y="1409700"/>
            <a:ext cx="393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GRAU DE MUDANÇA →</a:t>
            </a:r>
            <a:endParaRPr lang="en-US" sz="1100" dirty="0"/>
          </a:p>
        </p:txBody>
      </p:sp>
      <p:sp>
        <p:nvSpPr>
          <p:cNvPr id="7" name="A1|fade|eixos"/>
          <p:cNvSpPr txBox="1"/>
          <p:nvPr/>
        </p:nvSpPr>
        <p:spPr>
          <a:xfrm>
            <a:off x="2019300" y="1663700"/>
            <a:ext cx="1968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Estável</a:t>
            </a:r>
            <a:endParaRPr lang="en-US" sz="1400" dirty="0"/>
          </a:p>
        </p:txBody>
      </p:sp>
      <p:sp>
        <p:nvSpPr>
          <p:cNvPr id="8" name="A1|fade|eixos"/>
          <p:cNvSpPr txBox="1"/>
          <p:nvPr/>
        </p:nvSpPr>
        <p:spPr>
          <a:xfrm>
            <a:off x="3987800" y="1663700"/>
            <a:ext cx="1968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Dinâmico</a:t>
            </a:r>
            <a:endParaRPr lang="en-US" sz="1400" dirty="0"/>
          </a:p>
        </p:txBody>
      </p:sp>
      <p:sp>
        <p:nvSpPr>
          <p:cNvPr id="9" name="A1|fade|eixos"/>
          <p:cNvSpPr txBox="1"/>
          <p:nvPr/>
        </p:nvSpPr>
        <p:spPr>
          <a:xfrm>
            <a:off x="812800" y="17145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COMPLEXIDADE ↓</a:t>
            </a:r>
            <a:endParaRPr lang="en-US" sz="1000" dirty="0"/>
          </a:p>
        </p:txBody>
      </p:sp>
      <p:sp>
        <p:nvSpPr>
          <p:cNvPr id="10" name="A1|fade|eixos"/>
          <p:cNvSpPr txBox="1"/>
          <p:nvPr/>
        </p:nvSpPr>
        <p:spPr>
          <a:xfrm>
            <a:off x="812800" y="1993900"/>
            <a:ext cx="1143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</a:t>
            </a:r>
            <a:endParaRPr lang="en-US" sz="1400" dirty="0"/>
          </a:p>
        </p:txBody>
      </p:sp>
      <p:sp>
        <p:nvSpPr>
          <p:cNvPr id="11" name="A1|fade|eixos"/>
          <p:cNvSpPr txBox="1"/>
          <p:nvPr/>
        </p:nvSpPr>
        <p:spPr>
          <a:xfrm>
            <a:off x="812800" y="3454400"/>
            <a:ext cx="1143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</a:t>
            </a:r>
            <a:endParaRPr lang="en-US" sz="1400" dirty="0"/>
          </a:p>
        </p:txBody>
      </p:sp>
      <p:sp>
        <p:nvSpPr>
          <p:cNvPr id="12" name="A2|zoom|cel1"/>
          <p:cNvSpPr/>
          <p:nvPr/>
        </p:nvSpPr>
        <p:spPr>
          <a:xfrm>
            <a:off x="2019300" y="1993900"/>
            <a:ext cx="1968500" cy="1460500"/>
          </a:xfrm>
          <a:prstGeom prst="rect">
            <a:avLst/>
          </a:prstGeom>
          <a:solidFill>
            <a:srgbClr val="13306E"/>
          </a:solidFill>
          <a:ln w="15875">
            <a:solidFill>
              <a:srgbClr val="4E6CA8"/>
            </a:solidFill>
            <a:prstDash val="solid"/>
          </a:ln>
        </p:spPr>
      </p:sp>
      <p:sp>
        <p:nvSpPr>
          <p:cNvPr id="13" name="A2|zoom|cel1"/>
          <p:cNvSpPr txBox="1"/>
          <p:nvPr/>
        </p:nvSpPr>
        <p:spPr>
          <a:xfrm>
            <a:off x="2171700" y="2108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A2|zoom|cel1"/>
          <p:cNvSpPr txBox="1"/>
          <p:nvPr/>
        </p:nvSpPr>
        <p:spPr>
          <a:xfrm>
            <a:off x="2171700" y="26289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Estável e simples</a:t>
            </a:r>
            <a:endParaRPr lang="en-US" sz="1250" dirty="0"/>
          </a:p>
        </p:txBody>
      </p:sp>
      <p:sp>
        <p:nvSpPr>
          <p:cNvPr id="15" name="A2|zoom|cel1"/>
          <p:cNvSpPr txBox="1"/>
          <p:nvPr/>
        </p:nvSpPr>
        <p:spPr>
          <a:xfrm>
            <a:off x="2171700" y="29210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Incerteza BAIXA</a:t>
            </a:r>
            <a:endParaRPr lang="en-US" sz="1250" dirty="0"/>
          </a:p>
        </p:txBody>
      </p:sp>
      <p:sp>
        <p:nvSpPr>
          <p:cNvPr id="16" name="A3|zoom|cel2"/>
          <p:cNvSpPr/>
          <p:nvPr/>
        </p:nvSpPr>
        <p:spPr>
          <a:xfrm>
            <a:off x="3987800" y="1993900"/>
            <a:ext cx="1968500" cy="1460500"/>
          </a:xfrm>
          <a:prstGeom prst="rect">
            <a:avLst/>
          </a:prstGeom>
          <a:solidFill>
            <a:srgbClr val="1A3C80"/>
          </a:solidFill>
          <a:ln w="15875">
            <a:solidFill>
              <a:srgbClr val="4E6CA8"/>
            </a:solidFill>
            <a:prstDash val="solid"/>
          </a:ln>
        </p:spPr>
      </p:sp>
      <p:sp>
        <p:nvSpPr>
          <p:cNvPr id="17" name="A3|zoom|cel2"/>
          <p:cNvSpPr txBox="1"/>
          <p:nvPr/>
        </p:nvSpPr>
        <p:spPr>
          <a:xfrm>
            <a:off x="4140200" y="21082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A3|zoom|cel2"/>
          <p:cNvSpPr txBox="1"/>
          <p:nvPr/>
        </p:nvSpPr>
        <p:spPr>
          <a:xfrm>
            <a:off x="4140200" y="26289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Dinâmico e simples</a:t>
            </a:r>
            <a:endParaRPr lang="en-US" sz="1250" dirty="0"/>
          </a:p>
        </p:txBody>
      </p:sp>
      <p:sp>
        <p:nvSpPr>
          <p:cNvPr id="19" name="A3|zoom|cel2"/>
          <p:cNvSpPr txBox="1"/>
          <p:nvPr/>
        </p:nvSpPr>
        <p:spPr>
          <a:xfrm>
            <a:off x="4140200" y="29210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Incerteza MODERADA</a:t>
            </a:r>
            <a:endParaRPr lang="en-US" sz="1250" dirty="0"/>
          </a:p>
        </p:txBody>
      </p:sp>
      <p:sp>
        <p:nvSpPr>
          <p:cNvPr id="20" name="A4|zoom|cel3"/>
          <p:cNvSpPr/>
          <p:nvPr/>
        </p:nvSpPr>
        <p:spPr>
          <a:xfrm>
            <a:off x="2019300" y="3454400"/>
            <a:ext cx="1968500" cy="1460500"/>
          </a:xfrm>
          <a:prstGeom prst="rect">
            <a:avLst/>
          </a:prstGeom>
          <a:solidFill>
            <a:srgbClr val="1A3C80"/>
          </a:solidFill>
          <a:ln w="15875">
            <a:solidFill>
              <a:srgbClr val="4E6CA8"/>
            </a:solidFill>
            <a:prstDash val="solid"/>
          </a:ln>
        </p:spPr>
      </p:sp>
      <p:sp>
        <p:nvSpPr>
          <p:cNvPr id="21" name="A4|zoom|cel3"/>
          <p:cNvSpPr txBox="1"/>
          <p:nvPr/>
        </p:nvSpPr>
        <p:spPr>
          <a:xfrm>
            <a:off x="2171700" y="35687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A4|zoom|cel3"/>
          <p:cNvSpPr txBox="1"/>
          <p:nvPr/>
        </p:nvSpPr>
        <p:spPr>
          <a:xfrm>
            <a:off x="2171700" y="40894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Estável e complexo</a:t>
            </a:r>
            <a:endParaRPr lang="en-US" sz="1250" dirty="0"/>
          </a:p>
        </p:txBody>
      </p:sp>
      <p:sp>
        <p:nvSpPr>
          <p:cNvPr id="23" name="A4|zoom|cel3"/>
          <p:cNvSpPr txBox="1"/>
          <p:nvPr/>
        </p:nvSpPr>
        <p:spPr>
          <a:xfrm>
            <a:off x="2171700" y="43815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Incerteza MODERADA</a:t>
            </a:r>
            <a:endParaRPr lang="en-US" sz="1250" dirty="0"/>
          </a:p>
        </p:txBody>
      </p:sp>
      <p:sp>
        <p:nvSpPr>
          <p:cNvPr id="24" name="A5|zoom|cel4"/>
          <p:cNvSpPr/>
          <p:nvPr/>
        </p:nvSpPr>
        <p:spPr>
          <a:xfrm>
            <a:off x="3987800" y="3454400"/>
            <a:ext cx="1968500" cy="1460500"/>
          </a:xfrm>
          <a:prstGeom prst="rect">
            <a:avLst/>
          </a:prstGeom>
          <a:solidFill>
            <a:srgbClr val="254C96"/>
          </a:solidFill>
          <a:ln w="15875">
            <a:solidFill>
              <a:srgbClr val="4E6CA8"/>
            </a:solidFill>
            <a:prstDash val="solid"/>
          </a:ln>
        </p:spPr>
      </p:sp>
      <p:sp>
        <p:nvSpPr>
          <p:cNvPr id="25" name="A5|zoom|cel4"/>
          <p:cNvSpPr txBox="1"/>
          <p:nvPr/>
        </p:nvSpPr>
        <p:spPr>
          <a:xfrm>
            <a:off x="4140200" y="35687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A5|zoom|cel4"/>
          <p:cNvSpPr txBox="1"/>
          <p:nvPr/>
        </p:nvSpPr>
        <p:spPr>
          <a:xfrm>
            <a:off x="4140200" y="40894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Dinâmico e complexo</a:t>
            </a:r>
            <a:endParaRPr lang="en-US" sz="1250" dirty="0"/>
          </a:p>
        </p:txBody>
      </p:sp>
      <p:sp>
        <p:nvSpPr>
          <p:cNvPr id="27" name="A5|zoom|cel4"/>
          <p:cNvSpPr txBox="1"/>
          <p:nvPr/>
        </p:nvSpPr>
        <p:spPr>
          <a:xfrm>
            <a:off x="4140200" y="43815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Incerteza ELEVADA</a:t>
            </a:r>
            <a:endParaRPr lang="en-US" sz="1250" dirty="0"/>
          </a:p>
        </p:txBody>
      </p:sp>
      <p:sp>
        <p:nvSpPr>
          <p:cNvPr id="28" name="A5|fade|fonte"/>
          <p:cNvSpPr txBox="1"/>
          <p:nvPr/>
        </p:nvSpPr>
        <p:spPr>
          <a:xfrm>
            <a:off x="812800" y="5080000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F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 de incerteza ambiental (Duncan, 1972)</a:t>
            </a:r>
            <a:endParaRPr lang="en-US" sz="1000" dirty="0"/>
          </a:p>
        </p:txBody>
      </p:sp>
      <p:sp>
        <p:nvSpPr>
          <p:cNvPr id="29" name="A6|fade|geral"/>
          <p:cNvSpPr txBox="1"/>
          <p:nvPr/>
        </p:nvSpPr>
        <p:spPr>
          <a:xfrm>
            <a:off x="6350000" y="1409700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 GERAL</a:t>
            </a:r>
            <a:endParaRPr lang="en-US" sz="1100" dirty="0"/>
          </a:p>
        </p:txBody>
      </p:sp>
      <p:sp>
        <p:nvSpPr>
          <p:cNvPr id="30" name="A6|fade|geral"/>
          <p:cNvSpPr txBox="1"/>
          <p:nvPr/>
        </p:nvSpPr>
        <p:spPr>
          <a:xfrm>
            <a:off x="6350000" y="1651000"/>
            <a:ext cx="5029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complexidade mede quantos componentes do ambiente afetam a organização; a mudança, a rapidez com que esses fatores se alteram. Juntos determinam o grau de incerteza que os gestores enfrentam.</a:t>
            </a:r>
            <a:endParaRPr lang="en-US" sz="1300" dirty="0"/>
          </a:p>
        </p:txBody>
      </p:sp>
      <p:sp>
        <p:nvSpPr>
          <p:cNvPr id="31" name="A7|rise|especifico"/>
          <p:cNvSpPr/>
          <p:nvPr/>
        </p:nvSpPr>
        <p:spPr>
          <a:xfrm>
            <a:off x="6350000" y="2768600"/>
            <a:ext cx="5029200" cy="14605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32" name="A7|rise|especifico"/>
          <p:cNvSpPr txBox="1"/>
          <p:nvPr/>
        </p:nvSpPr>
        <p:spPr>
          <a:xfrm>
            <a:off x="6477000" y="2870200"/>
            <a:ext cx="477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33" name="A7|rise|especifico"/>
          <p:cNvSpPr txBox="1"/>
          <p:nvPr/>
        </p:nvSpPr>
        <p:spPr>
          <a:xfrm>
            <a:off x="6477000" y="3136900"/>
            <a:ext cx="4775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N.º de componentes: </a:t>
            </a:r>
            <a:pPr algn="l"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[poucos / muitos — quais?]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Ritmo de mudança: </a:t>
            </a:r>
            <a:pPr algn="l"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[lento / rápido — porquê?]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Conclusão: </a:t>
            </a:r>
            <a:pPr algn="l" indent="0" marL="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[Célula _ · incerteza ______]</a:t>
            </a:r>
            <a:endParaRPr lang="en-US" sz="1300" dirty="0"/>
          </a:p>
        </p:txBody>
      </p:sp>
      <p:sp>
        <p:nvSpPr>
          <p:cNvPr id="34" name="K1|rise|citacao"/>
          <p:cNvSpPr txBox="1"/>
          <p:nvPr/>
        </p:nvSpPr>
        <p:spPr>
          <a:xfrm rot="-36000">
            <a:off x="6350000" y="4419600"/>
            <a:ext cx="5029200" cy="10795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“[Excerto em que a Mônica fala de mudanças no mercado ou na concorrência.]”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CITAÇÃO · MÔNICA CARDOSO, GERENTE OPERACIONAL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CULTURA ORGANIZACIONAL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CULTURA: AS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DIMENSÕES</a:t>
            </a:r>
            <a:endParaRPr lang="en-US" sz="3600" dirty="0"/>
          </a:p>
        </p:txBody>
      </p:sp>
      <p:sp>
        <p:nvSpPr>
          <p:cNvPr id="6" name="A1|fade|intro"/>
          <p:cNvSpPr txBox="1"/>
          <p:nvPr/>
        </p:nvSpPr>
        <p:spPr>
          <a:xfrm>
            <a:off x="812800" y="1308100"/>
            <a:ext cx="1056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Valores, crenças e práticas partilhadas que orientam o comportamento dos membros. Cada dimensão é um contínuo entre dois polos — o ● marca onde a Nata Lisboa se situa.</a:t>
            </a:r>
            <a:endParaRPr lang="en-US" sz="1250" dirty="0"/>
          </a:p>
        </p:txBody>
      </p:sp>
      <p:sp>
        <p:nvSpPr>
          <p:cNvPr id="7" name="A1|fade|intro"/>
          <p:cNvSpPr txBox="1"/>
          <p:nvPr/>
        </p:nvSpPr>
        <p:spPr>
          <a:xfrm>
            <a:off x="1460500" y="1854200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POLO A</a:t>
            </a:r>
            <a:endParaRPr lang="en-US" sz="1000" dirty="0"/>
          </a:p>
        </p:txBody>
      </p:sp>
      <p:sp>
        <p:nvSpPr>
          <p:cNvPr id="8" name="A1|fade|intro"/>
          <p:cNvSpPr txBox="1"/>
          <p:nvPr/>
        </p:nvSpPr>
        <p:spPr>
          <a:xfrm>
            <a:off x="3492500" y="185420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POSIÇÃO NA NATA LISBOA</a:t>
            </a:r>
            <a:endParaRPr lang="en-US" sz="1000" dirty="0"/>
          </a:p>
        </p:txBody>
      </p:sp>
      <p:sp>
        <p:nvSpPr>
          <p:cNvPr id="9" name="A1|fade|intro"/>
          <p:cNvSpPr txBox="1"/>
          <p:nvPr/>
        </p:nvSpPr>
        <p:spPr>
          <a:xfrm>
            <a:off x="6032500" y="1854200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POLO B</a:t>
            </a:r>
            <a:endParaRPr lang="en-US" sz="1000" dirty="0"/>
          </a:p>
        </p:txBody>
      </p:sp>
      <p:sp>
        <p:nvSpPr>
          <p:cNvPr id="10" name="A1|fade|intro"/>
          <p:cNvSpPr txBox="1"/>
          <p:nvPr/>
        </p:nvSpPr>
        <p:spPr>
          <a:xfrm>
            <a:off x="8001000" y="1854200"/>
            <a:ext cx="330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EVIDÊNCIA (OBSERVADO / DITO)</a:t>
            </a:r>
            <a:endParaRPr lang="en-US" sz="1000" dirty="0"/>
          </a:p>
        </p:txBody>
      </p:sp>
      <p:sp>
        <p:nvSpPr>
          <p:cNvPr id="11" name="A2|wipeL|dim1"/>
          <p:cNvSpPr/>
          <p:nvPr/>
        </p:nvSpPr>
        <p:spPr>
          <a:xfrm>
            <a:off x="812800" y="2108200"/>
            <a:ext cx="10566400" cy="508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2" name="A2|wipeL|dim1"/>
          <p:cNvSpPr txBox="1"/>
          <p:nvPr/>
        </p:nvSpPr>
        <p:spPr>
          <a:xfrm>
            <a:off x="952500" y="22606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endParaRPr lang="en-US" sz="1200" dirty="0"/>
          </a:p>
        </p:txBody>
      </p:sp>
      <p:sp>
        <p:nvSpPr>
          <p:cNvPr id="13" name="A2|wipeL|dim1"/>
          <p:cNvSpPr txBox="1"/>
          <p:nvPr/>
        </p:nvSpPr>
        <p:spPr>
          <a:xfrm>
            <a:off x="1333500" y="22352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</a:t>
            </a:r>
            <a:endParaRPr lang="en-US" sz="1300" dirty="0"/>
          </a:p>
        </p:txBody>
      </p:sp>
      <p:sp>
        <p:nvSpPr>
          <p:cNvPr id="14" name="A2|wipeL|dim1"/>
          <p:cNvSpPr/>
          <p:nvPr/>
        </p:nvSpPr>
        <p:spPr>
          <a:xfrm>
            <a:off x="3492500" y="2362200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F8DC7"/>
            </a:solidFill>
            <a:prstDash val="solid"/>
          </a:ln>
        </p:spPr>
      </p:sp>
      <p:sp>
        <p:nvSpPr>
          <p:cNvPr id="15" name="A2|wipeL|dim1"/>
          <p:cNvSpPr/>
          <p:nvPr/>
        </p:nvSpPr>
        <p:spPr>
          <a:xfrm>
            <a:off x="3454400" y="23241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16" name="A2|wipeL|dim1"/>
          <p:cNvSpPr/>
          <p:nvPr/>
        </p:nvSpPr>
        <p:spPr>
          <a:xfrm>
            <a:off x="5740400" y="23241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17" name="A2|wipeL|dim1"/>
          <p:cNvSpPr/>
          <p:nvPr/>
        </p:nvSpPr>
        <p:spPr>
          <a:xfrm>
            <a:off x="4546600" y="2273300"/>
            <a:ext cx="177800" cy="177800"/>
          </a:xfrm>
          <a:prstGeom prst="ellipse">
            <a:avLst/>
          </a:prstGeom>
          <a:solidFill>
            <a:srgbClr val="F582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A2|wipeL|dim1"/>
          <p:cNvSpPr txBox="1"/>
          <p:nvPr/>
        </p:nvSpPr>
        <p:spPr>
          <a:xfrm>
            <a:off x="6032500" y="22352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19" name="A2|wipeL|dim1"/>
          <p:cNvSpPr txBox="1"/>
          <p:nvPr/>
        </p:nvSpPr>
        <p:spPr>
          <a:xfrm>
            <a:off x="8001000" y="22352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observámos / o que foi dito]</a:t>
            </a:r>
            <a:endParaRPr lang="en-US" sz="1200" dirty="0"/>
          </a:p>
        </p:txBody>
      </p:sp>
      <p:sp>
        <p:nvSpPr>
          <p:cNvPr id="20" name="A3|wipeL|dim2"/>
          <p:cNvSpPr/>
          <p:nvPr/>
        </p:nvSpPr>
        <p:spPr>
          <a:xfrm>
            <a:off x="812800" y="2692400"/>
            <a:ext cx="10566400" cy="508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1" name="A3|wipeL|dim2"/>
          <p:cNvSpPr txBox="1"/>
          <p:nvPr/>
        </p:nvSpPr>
        <p:spPr>
          <a:xfrm>
            <a:off x="952500" y="28448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</a:t>
            </a:r>
            <a:endParaRPr lang="en-US" sz="1200" dirty="0"/>
          </a:p>
        </p:txBody>
      </p:sp>
      <p:sp>
        <p:nvSpPr>
          <p:cNvPr id="22" name="A3|wipeL|dim2"/>
          <p:cNvSpPr txBox="1"/>
          <p:nvPr/>
        </p:nvSpPr>
        <p:spPr>
          <a:xfrm>
            <a:off x="1333500" y="28194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</a:t>
            </a:r>
            <a:endParaRPr lang="en-US" sz="1300" dirty="0"/>
          </a:p>
        </p:txBody>
      </p:sp>
      <p:sp>
        <p:nvSpPr>
          <p:cNvPr id="23" name="A3|wipeL|dim2"/>
          <p:cNvSpPr/>
          <p:nvPr/>
        </p:nvSpPr>
        <p:spPr>
          <a:xfrm>
            <a:off x="3492500" y="2946400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F8DC7"/>
            </a:solidFill>
            <a:prstDash val="solid"/>
          </a:ln>
        </p:spPr>
      </p:sp>
      <p:sp>
        <p:nvSpPr>
          <p:cNvPr id="24" name="A3|wipeL|dim2"/>
          <p:cNvSpPr/>
          <p:nvPr/>
        </p:nvSpPr>
        <p:spPr>
          <a:xfrm>
            <a:off x="3454400" y="29083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25" name="A3|wipeL|dim2"/>
          <p:cNvSpPr/>
          <p:nvPr/>
        </p:nvSpPr>
        <p:spPr>
          <a:xfrm>
            <a:off x="5740400" y="29083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26" name="A3|wipeL|dim2"/>
          <p:cNvSpPr/>
          <p:nvPr/>
        </p:nvSpPr>
        <p:spPr>
          <a:xfrm>
            <a:off x="4546600" y="2857500"/>
            <a:ext cx="177800" cy="177800"/>
          </a:xfrm>
          <a:prstGeom prst="ellipse">
            <a:avLst/>
          </a:prstGeom>
          <a:solidFill>
            <a:srgbClr val="F582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A3|wipeL|dim2"/>
          <p:cNvSpPr txBox="1"/>
          <p:nvPr/>
        </p:nvSpPr>
        <p:spPr>
          <a:xfrm>
            <a:off x="6032500" y="28194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</a:t>
            </a:r>
            <a:endParaRPr lang="en-US" sz="1300" dirty="0"/>
          </a:p>
        </p:txBody>
      </p:sp>
      <p:sp>
        <p:nvSpPr>
          <p:cNvPr id="28" name="A3|wipeL|dim2"/>
          <p:cNvSpPr txBox="1"/>
          <p:nvPr/>
        </p:nvSpPr>
        <p:spPr>
          <a:xfrm>
            <a:off x="8001000" y="28194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observámos / o que foi dito]</a:t>
            </a:r>
            <a:endParaRPr lang="en-US" sz="1200" dirty="0"/>
          </a:p>
        </p:txBody>
      </p:sp>
      <p:sp>
        <p:nvSpPr>
          <p:cNvPr id="29" name="A4|wipeL|dim3"/>
          <p:cNvSpPr/>
          <p:nvPr/>
        </p:nvSpPr>
        <p:spPr>
          <a:xfrm>
            <a:off x="812800" y="3276600"/>
            <a:ext cx="10566400" cy="508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0" name="A4|wipeL|dim3"/>
          <p:cNvSpPr txBox="1"/>
          <p:nvPr/>
        </p:nvSpPr>
        <p:spPr>
          <a:xfrm>
            <a:off x="952500" y="34290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</a:t>
            </a:r>
            <a:endParaRPr lang="en-US" sz="1200" dirty="0"/>
          </a:p>
        </p:txBody>
      </p:sp>
      <p:sp>
        <p:nvSpPr>
          <p:cNvPr id="31" name="A4|wipeL|dim3"/>
          <p:cNvSpPr txBox="1"/>
          <p:nvPr/>
        </p:nvSpPr>
        <p:spPr>
          <a:xfrm>
            <a:off x="1333500" y="34036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Paroquial</a:t>
            </a:r>
            <a:endParaRPr lang="en-US" sz="1300" dirty="0"/>
          </a:p>
        </p:txBody>
      </p:sp>
      <p:sp>
        <p:nvSpPr>
          <p:cNvPr id="32" name="A4|wipeL|dim3"/>
          <p:cNvSpPr/>
          <p:nvPr/>
        </p:nvSpPr>
        <p:spPr>
          <a:xfrm>
            <a:off x="3492500" y="3530600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F8DC7"/>
            </a:solidFill>
            <a:prstDash val="solid"/>
          </a:ln>
        </p:spPr>
      </p:sp>
      <p:sp>
        <p:nvSpPr>
          <p:cNvPr id="33" name="A4|wipeL|dim3"/>
          <p:cNvSpPr/>
          <p:nvPr/>
        </p:nvSpPr>
        <p:spPr>
          <a:xfrm>
            <a:off x="3454400" y="34925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34" name="A4|wipeL|dim3"/>
          <p:cNvSpPr/>
          <p:nvPr/>
        </p:nvSpPr>
        <p:spPr>
          <a:xfrm>
            <a:off x="5740400" y="34925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35" name="A4|wipeL|dim3"/>
          <p:cNvSpPr/>
          <p:nvPr/>
        </p:nvSpPr>
        <p:spPr>
          <a:xfrm>
            <a:off x="4546600" y="3441700"/>
            <a:ext cx="177800" cy="177800"/>
          </a:xfrm>
          <a:prstGeom prst="ellipse">
            <a:avLst/>
          </a:prstGeom>
          <a:solidFill>
            <a:srgbClr val="F582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A4|wipeL|dim3"/>
          <p:cNvSpPr txBox="1"/>
          <p:nvPr/>
        </p:nvSpPr>
        <p:spPr>
          <a:xfrm>
            <a:off x="6032500" y="34036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Profissional</a:t>
            </a:r>
            <a:endParaRPr lang="en-US" sz="1300" dirty="0"/>
          </a:p>
        </p:txBody>
      </p:sp>
      <p:sp>
        <p:nvSpPr>
          <p:cNvPr id="37" name="A4|wipeL|dim3"/>
          <p:cNvSpPr txBox="1"/>
          <p:nvPr/>
        </p:nvSpPr>
        <p:spPr>
          <a:xfrm>
            <a:off x="8001000" y="34036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observámos / o que foi dito]</a:t>
            </a:r>
            <a:endParaRPr lang="en-US" sz="1200" dirty="0"/>
          </a:p>
        </p:txBody>
      </p:sp>
      <p:sp>
        <p:nvSpPr>
          <p:cNvPr id="38" name="A5|wipeL|dim4"/>
          <p:cNvSpPr/>
          <p:nvPr/>
        </p:nvSpPr>
        <p:spPr>
          <a:xfrm>
            <a:off x="812800" y="3860800"/>
            <a:ext cx="10566400" cy="508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9" name="A5|wipeL|dim4"/>
          <p:cNvSpPr txBox="1"/>
          <p:nvPr/>
        </p:nvSpPr>
        <p:spPr>
          <a:xfrm>
            <a:off x="952500" y="40132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</a:t>
            </a:r>
            <a:endParaRPr lang="en-US" sz="1200" dirty="0"/>
          </a:p>
        </p:txBody>
      </p:sp>
      <p:sp>
        <p:nvSpPr>
          <p:cNvPr id="40" name="A5|wipeL|dim4"/>
          <p:cNvSpPr txBox="1"/>
          <p:nvPr/>
        </p:nvSpPr>
        <p:spPr>
          <a:xfrm>
            <a:off x="1333500" y="39878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aberto</a:t>
            </a:r>
            <a:endParaRPr lang="en-US" sz="1300" dirty="0"/>
          </a:p>
        </p:txBody>
      </p:sp>
      <p:sp>
        <p:nvSpPr>
          <p:cNvPr id="41" name="A5|wipeL|dim4"/>
          <p:cNvSpPr/>
          <p:nvPr/>
        </p:nvSpPr>
        <p:spPr>
          <a:xfrm>
            <a:off x="3492500" y="4114800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F8DC7"/>
            </a:solidFill>
            <a:prstDash val="solid"/>
          </a:ln>
        </p:spPr>
      </p:sp>
      <p:sp>
        <p:nvSpPr>
          <p:cNvPr id="42" name="A5|wipeL|dim4"/>
          <p:cNvSpPr/>
          <p:nvPr/>
        </p:nvSpPr>
        <p:spPr>
          <a:xfrm>
            <a:off x="3454400" y="40767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43" name="A5|wipeL|dim4"/>
          <p:cNvSpPr/>
          <p:nvPr/>
        </p:nvSpPr>
        <p:spPr>
          <a:xfrm>
            <a:off x="5740400" y="40767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44" name="A5|wipeL|dim4"/>
          <p:cNvSpPr/>
          <p:nvPr/>
        </p:nvSpPr>
        <p:spPr>
          <a:xfrm>
            <a:off x="4546600" y="4025900"/>
            <a:ext cx="177800" cy="177800"/>
          </a:xfrm>
          <a:prstGeom prst="ellipse">
            <a:avLst/>
          </a:prstGeom>
          <a:solidFill>
            <a:srgbClr val="F582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A5|wipeL|dim4"/>
          <p:cNvSpPr txBox="1"/>
          <p:nvPr/>
        </p:nvSpPr>
        <p:spPr>
          <a:xfrm>
            <a:off x="6032500" y="39878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fechado</a:t>
            </a:r>
            <a:endParaRPr lang="en-US" sz="1300" dirty="0"/>
          </a:p>
        </p:txBody>
      </p:sp>
      <p:sp>
        <p:nvSpPr>
          <p:cNvPr id="46" name="A5|wipeL|dim4"/>
          <p:cNvSpPr txBox="1"/>
          <p:nvPr/>
        </p:nvSpPr>
        <p:spPr>
          <a:xfrm>
            <a:off x="8001000" y="39878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observámos / o que foi dito]</a:t>
            </a:r>
            <a:endParaRPr lang="en-US" sz="1200" dirty="0"/>
          </a:p>
        </p:txBody>
      </p:sp>
      <p:sp>
        <p:nvSpPr>
          <p:cNvPr id="47" name="A6|wipeL|dim5"/>
          <p:cNvSpPr/>
          <p:nvPr/>
        </p:nvSpPr>
        <p:spPr>
          <a:xfrm>
            <a:off x="812800" y="4445000"/>
            <a:ext cx="10566400" cy="508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48" name="A6|wipeL|dim5"/>
          <p:cNvSpPr txBox="1"/>
          <p:nvPr/>
        </p:nvSpPr>
        <p:spPr>
          <a:xfrm>
            <a:off x="952500" y="45974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</a:t>
            </a:r>
            <a:endParaRPr lang="en-US" sz="1200" dirty="0"/>
          </a:p>
        </p:txBody>
      </p:sp>
      <p:sp>
        <p:nvSpPr>
          <p:cNvPr id="49" name="A6|wipeL|dim5"/>
          <p:cNvSpPr txBox="1"/>
          <p:nvPr/>
        </p:nvSpPr>
        <p:spPr>
          <a:xfrm>
            <a:off x="1333500" y="45720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flexível</a:t>
            </a:r>
            <a:endParaRPr lang="en-US" sz="1300" dirty="0"/>
          </a:p>
        </p:txBody>
      </p:sp>
      <p:sp>
        <p:nvSpPr>
          <p:cNvPr id="50" name="A6|wipeL|dim5"/>
          <p:cNvSpPr/>
          <p:nvPr/>
        </p:nvSpPr>
        <p:spPr>
          <a:xfrm>
            <a:off x="3492500" y="4699000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F8DC7"/>
            </a:solidFill>
            <a:prstDash val="solid"/>
          </a:ln>
        </p:spPr>
      </p:sp>
      <p:sp>
        <p:nvSpPr>
          <p:cNvPr id="51" name="A6|wipeL|dim5"/>
          <p:cNvSpPr/>
          <p:nvPr/>
        </p:nvSpPr>
        <p:spPr>
          <a:xfrm>
            <a:off x="3454400" y="46609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52" name="A6|wipeL|dim5"/>
          <p:cNvSpPr/>
          <p:nvPr/>
        </p:nvSpPr>
        <p:spPr>
          <a:xfrm>
            <a:off x="5740400" y="46609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53" name="A6|wipeL|dim5"/>
          <p:cNvSpPr/>
          <p:nvPr/>
        </p:nvSpPr>
        <p:spPr>
          <a:xfrm>
            <a:off x="4546600" y="4610100"/>
            <a:ext cx="177800" cy="177800"/>
          </a:xfrm>
          <a:prstGeom prst="ellipse">
            <a:avLst/>
          </a:prstGeom>
          <a:solidFill>
            <a:srgbClr val="F582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A6|wipeL|dim5"/>
          <p:cNvSpPr txBox="1"/>
          <p:nvPr/>
        </p:nvSpPr>
        <p:spPr>
          <a:xfrm>
            <a:off x="6032500" y="45720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apertado</a:t>
            </a:r>
            <a:endParaRPr lang="en-US" sz="1300" dirty="0"/>
          </a:p>
        </p:txBody>
      </p:sp>
      <p:sp>
        <p:nvSpPr>
          <p:cNvPr id="55" name="A6|wipeL|dim5"/>
          <p:cNvSpPr txBox="1"/>
          <p:nvPr/>
        </p:nvSpPr>
        <p:spPr>
          <a:xfrm>
            <a:off x="8001000" y="4572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observámos / o que foi dito]</a:t>
            </a:r>
            <a:endParaRPr lang="en-US" sz="1200" dirty="0"/>
          </a:p>
        </p:txBody>
      </p:sp>
      <p:sp>
        <p:nvSpPr>
          <p:cNvPr id="56" name="A7|wipeL|dim6"/>
          <p:cNvSpPr/>
          <p:nvPr/>
        </p:nvSpPr>
        <p:spPr>
          <a:xfrm>
            <a:off x="812800" y="5029200"/>
            <a:ext cx="10566400" cy="508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57" name="A7|wipeL|dim6"/>
          <p:cNvSpPr txBox="1"/>
          <p:nvPr/>
        </p:nvSpPr>
        <p:spPr>
          <a:xfrm>
            <a:off x="952500" y="51816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D6</a:t>
            </a:r>
            <a:endParaRPr lang="en-US" sz="1200" dirty="0"/>
          </a:p>
        </p:txBody>
      </p:sp>
      <p:sp>
        <p:nvSpPr>
          <p:cNvPr id="58" name="A7|wipeL|dim6"/>
          <p:cNvSpPr txBox="1"/>
          <p:nvPr/>
        </p:nvSpPr>
        <p:spPr>
          <a:xfrm>
            <a:off x="1333500" y="51562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Normativa</a:t>
            </a:r>
            <a:endParaRPr lang="en-US" sz="1300" dirty="0"/>
          </a:p>
        </p:txBody>
      </p:sp>
      <p:sp>
        <p:nvSpPr>
          <p:cNvPr id="59" name="A7|wipeL|dim6"/>
          <p:cNvSpPr/>
          <p:nvPr/>
        </p:nvSpPr>
        <p:spPr>
          <a:xfrm>
            <a:off x="3492500" y="5283200"/>
            <a:ext cx="228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6F8DC7"/>
            </a:solidFill>
            <a:prstDash val="solid"/>
          </a:ln>
        </p:spPr>
      </p:sp>
      <p:sp>
        <p:nvSpPr>
          <p:cNvPr id="60" name="A7|wipeL|dim6"/>
          <p:cNvSpPr/>
          <p:nvPr/>
        </p:nvSpPr>
        <p:spPr>
          <a:xfrm>
            <a:off x="3454400" y="52451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61" name="A7|wipeL|dim6"/>
          <p:cNvSpPr/>
          <p:nvPr/>
        </p:nvSpPr>
        <p:spPr>
          <a:xfrm>
            <a:off x="5740400" y="5245100"/>
            <a:ext cx="76200" cy="76200"/>
          </a:xfrm>
          <a:prstGeom prst="ellipse">
            <a:avLst/>
          </a:prstGeom>
          <a:solidFill>
            <a:srgbClr val="6F8DC7"/>
          </a:solidFill>
          <a:ln/>
        </p:spPr>
      </p:sp>
      <p:sp>
        <p:nvSpPr>
          <p:cNvPr id="62" name="A7|wipeL|dim6"/>
          <p:cNvSpPr/>
          <p:nvPr/>
        </p:nvSpPr>
        <p:spPr>
          <a:xfrm>
            <a:off x="4546600" y="5194300"/>
            <a:ext cx="177800" cy="177800"/>
          </a:xfrm>
          <a:prstGeom prst="ellipse">
            <a:avLst/>
          </a:prstGeom>
          <a:solidFill>
            <a:srgbClr val="F582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A7|wipeL|dim6"/>
          <p:cNvSpPr txBox="1"/>
          <p:nvPr/>
        </p:nvSpPr>
        <p:spPr>
          <a:xfrm>
            <a:off x="6032500" y="51562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Pragmática</a:t>
            </a:r>
            <a:endParaRPr lang="en-US" sz="1300" dirty="0"/>
          </a:p>
        </p:txBody>
      </p:sp>
      <p:sp>
        <p:nvSpPr>
          <p:cNvPr id="64" name="A7|wipeL|dim6"/>
          <p:cNvSpPr txBox="1"/>
          <p:nvPr/>
        </p:nvSpPr>
        <p:spPr>
          <a:xfrm>
            <a:off x="8001000" y="51562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observámos / o que foi dito]</a:t>
            </a:r>
            <a:endParaRPr lang="en-US" sz="1200" dirty="0"/>
          </a:p>
        </p:txBody>
      </p:sp>
      <p:sp>
        <p:nvSpPr>
          <p:cNvPr id="65" name="A8|fade|nota"/>
          <p:cNvSpPr txBox="1"/>
          <p:nvPr/>
        </p:nvSpPr>
        <p:spPr>
          <a:xfrm>
            <a:off x="812800" y="5664200"/>
            <a:ext cx="1056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↳ Arrastar cada ● para a posição certa. Confirmar os nomes das 6 dimensões com o PDF do Tópico 2.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CULTURA ORGANIZACIONAL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</a:t>
            </a:r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CULTURA</a:t>
            </a:r>
            <a:endParaRPr lang="en-US" sz="3600" dirty="0"/>
          </a:p>
        </p:txBody>
      </p:sp>
      <p:sp>
        <p:nvSpPr>
          <p:cNvPr id="6" name="A1|rise|forma0"/>
          <p:cNvSpPr/>
          <p:nvPr/>
        </p:nvSpPr>
        <p:spPr>
          <a:xfrm>
            <a:off x="812800" y="1409700"/>
            <a:ext cx="2527300" cy="33274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7" name="A1|rise|forma0"/>
          <p:cNvSpPr/>
          <p:nvPr/>
        </p:nvSpPr>
        <p:spPr>
          <a:xfrm>
            <a:off x="990600" y="1574800"/>
            <a:ext cx="406400" cy="4064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5822A"/>
            </a:solidFill>
            <a:prstDash val="solid"/>
          </a:ln>
        </p:spPr>
      </p:sp>
      <p:sp>
        <p:nvSpPr>
          <p:cNvPr id="8" name="A1|rise|forma0"/>
          <p:cNvSpPr txBox="1"/>
          <p:nvPr/>
        </p:nvSpPr>
        <p:spPr>
          <a:xfrm>
            <a:off x="990600" y="15748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A1|rise|forma0"/>
          <p:cNvSpPr txBox="1"/>
          <p:nvPr/>
        </p:nvSpPr>
        <p:spPr>
          <a:xfrm>
            <a:off x="990600" y="2095500"/>
            <a:ext cx="222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Histórias</a:t>
            </a:r>
            <a:endParaRPr lang="en-US" sz="1600" dirty="0"/>
          </a:p>
        </p:txBody>
      </p:sp>
      <p:sp>
        <p:nvSpPr>
          <p:cNvPr id="10" name="A1|rise|forma0"/>
          <p:cNvSpPr txBox="1"/>
          <p:nvPr/>
        </p:nvSpPr>
        <p:spPr>
          <a:xfrm>
            <a:off x="990600" y="2438400"/>
            <a:ext cx="2171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Narrativas sobre pessoas e acontecimentos marcantes que mostram o que a organização valoriza.</a:t>
            </a:r>
            <a:endParaRPr lang="en-US" sz="1200" dirty="0"/>
          </a:p>
        </p:txBody>
      </p:sp>
      <p:sp>
        <p:nvSpPr>
          <p:cNvPr id="11" name="A1|rise|forma0"/>
          <p:cNvSpPr/>
          <p:nvPr/>
        </p:nvSpPr>
        <p:spPr>
          <a:xfrm>
            <a:off x="914400" y="3505200"/>
            <a:ext cx="2324100" cy="11176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12" name="A1|rise|forma0"/>
          <p:cNvSpPr txBox="1"/>
          <p:nvPr/>
        </p:nvSpPr>
        <p:spPr>
          <a:xfrm>
            <a:off x="1041400" y="3606800"/>
            <a:ext cx="207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13" name="A1|rise|forma0"/>
          <p:cNvSpPr txBox="1"/>
          <p:nvPr/>
        </p:nvSpPr>
        <p:spPr>
          <a:xfrm>
            <a:off x="1041400" y="3835400"/>
            <a:ext cx="20701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[Ex.: a história da fundação, um cliente marcante]</a:t>
            </a:r>
            <a:endParaRPr lang="en-US" sz="1250" dirty="0"/>
          </a:p>
        </p:txBody>
      </p:sp>
      <p:sp>
        <p:nvSpPr>
          <p:cNvPr id="14" name="A2|rise|forma1"/>
          <p:cNvSpPr/>
          <p:nvPr/>
        </p:nvSpPr>
        <p:spPr>
          <a:xfrm>
            <a:off x="3492500" y="1409700"/>
            <a:ext cx="2527300" cy="33274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5" name="A2|rise|forma1"/>
          <p:cNvSpPr/>
          <p:nvPr/>
        </p:nvSpPr>
        <p:spPr>
          <a:xfrm>
            <a:off x="3670300" y="1574800"/>
            <a:ext cx="406400" cy="4064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5822A"/>
            </a:solidFill>
            <a:prstDash val="solid"/>
          </a:ln>
        </p:spPr>
      </p:sp>
      <p:sp>
        <p:nvSpPr>
          <p:cNvPr id="16" name="A2|rise|forma1"/>
          <p:cNvSpPr txBox="1"/>
          <p:nvPr/>
        </p:nvSpPr>
        <p:spPr>
          <a:xfrm>
            <a:off x="3670300" y="15748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A2|rise|forma1"/>
          <p:cNvSpPr txBox="1"/>
          <p:nvPr/>
        </p:nvSpPr>
        <p:spPr>
          <a:xfrm>
            <a:off x="3670300" y="2095500"/>
            <a:ext cx="222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Rituais</a:t>
            </a:r>
            <a:endParaRPr lang="en-US" sz="1600" dirty="0"/>
          </a:p>
        </p:txBody>
      </p:sp>
      <p:sp>
        <p:nvSpPr>
          <p:cNvPr id="18" name="A2|rise|forma1"/>
          <p:cNvSpPr txBox="1"/>
          <p:nvPr/>
        </p:nvSpPr>
        <p:spPr>
          <a:xfrm>
            <a:off x="3670300" y="2438400"/>
            <a:ext cx="2171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Atividades repetidas que reforçam os valores-chave: reuniões, formações, celebrações.</a:t>
            </a:r>
            <a:endParaRPr lang="en-US" sz="1200" dirty="0"/>
          </a:p>
        </p:txBody>
      </p:sp>
      <p:sp>
        <p:nvSpPr>
          <p:cNvPr id="19" name="A2|rise|forma1"/>
          <p:cNvSpPr/>
          <p:nvPr/>
        </p:nvSpPr>
        <p:spPr>
          <a:xfrm>
            <a:off x="3594100" y="3505200"/>
            <a:ext cx="2324100" cy="11176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20" name="A2|rise|forma1"/>
          <p:cNvSpPr txBox="1"/>
          <p:nvPr/>
        </p:nvSpPr>
        <p:spPr>
          <a:xfrm>
            <a:off x="3721100" y="3606800"/>
            <a:ext cx="207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21" name="A2|rise|forma1"/>
          <p:cNvSpPr txBox="1"/>
          <p:nvPr/>
        </p:nvSpPr>
        <p:spPr>
          <a:xfrm>
            <a:off x="3721100" y="3835400"/>
            <a:ext cx="20701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[Ex.: rotina de abertura da loja, formação inicial]</a:t>
            </a:r>
            <a:endParaRPr lang="en-US" sz="1250" dirty="0"/>
          </a:p>
        </p:txBody>
      </p:sp>
      <p:sp>
        <p:nvSpPr>
          <p:cNvPr id="22" name="A3|rise|forma2"/>
          <p:cNvSpPr/>
          <p:nvPr/>
        </p:nvSpPr>
        <p:spPr>
          <a:xfrm>
            <a:off x="6172200" y="1409700"/>
            <a:ext cx="2527300" cy="33274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3" name="A3|rise|forma2"/>
          <p:cNvSpPr/>
          <p:nvPr/>
        </p:nvSpPr>
        <p:spPr>
          <a:xfrm>
            <a:off x="6350000" y="1574800"/>
            <a:ext cx="406400" cy="4064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5822A"/>
            </a:solidFill>
            <a:prstDash val="solid"/>
          </a:ln>
        </p:spPr>
      </p:sp>
      <p:sp>
        <p:nvSpPr>
          <p:cNvPr id="24" name="A3|rise|forma2"/>
          <p:cNvSpPr txBox="1"/>
          <p:nvPr/>
        </p:nvSpPr>
        <p:spPr>
          <a:xfrm>
            <a:off x="6350000" y="15748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A3|rise|forma2"/>
          <p:cNvSpPr txBox="1"/>
          <p:nvPr/>
        </p:nvSpPr>
        <p:spPr>
          <a:xfrm>
            <a:off x="6350000" y="2095500"/>
            <a:ext cx="222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Símbolos materiais</a:t>
            </a:r>
            <a:endParaRPr lang="en-US" sz="1600" dirty="0"/>
          </a:p>
        </p:txBody>
      </p:sp>
      <p:sp>
        <p:nvSpPr>
          <p:cNvPr id="26" name="A3|rise|forma2"/>
          <p:cNvSpPr txBox="1"/>
          <p:nvPr/>
        </p:nvSpPr>
        <p:spPr>
          <a:xfrm>
            <a:off x="6350000" y="2438400"/>
            <a:ext cx="2171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Espaço, decoração, fardas e objetos comunicam o que é importante.</a:t>
            </a:r>
            <a:endParaRPr lang="en-US" sz="1200" dirty="0"/>
          </a:p>
        </p:txBody>
      </p:sp>
      <p:sp>
        <p:nvSpPr>
          <p:cNvPr id="27" name="A3|rise|forma2"/>
          <p:cNvSpPr/>
          <p:nvPr/>
        </p:nvSpPr>
        <p:spPr>
          <a:xfrm>
            <a:off x="6273800" y="3505200"/>
            <a:ext cx="2324100" cy="11176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28" name="A3|rise|forma2"/>
          <p:cNvSpPr txBox="1"/>
          <p:nvPr/>
        </p:nvSpPr>
        <p:spPr>
          <a:xfrm>
            <a:off x="6400800" y="3606800"/>
            <a:ext cx="207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29" name="A3|rise|forma2"/>
          <p:cNvSpPr txBox="1"/>
          <p:nvPr/>
        </p:nvSpPr>
        <p:spPr>
          <a:xfrm>
            <a:off x="6400800" y="3835400"/>
            <a:ext cx="20701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[Ex.: azulejos, farda, balcão com produção à vista]</a:t>
            </a:r>
            <a:endParaRPr lang="en-US" sz="1250" dirty="0"/>
          </a:p>
        </p:txBody>
      </p:sp>
      <p:sp>
        <p:nvSpPr>
          <p:cNvPr id="30" name="A4|rise|forma3"/>
          <p:cNvSpPr/>
          <p:nvPr/>
        </p:nvSpPr>
        <p:spPr>
          <a:xfrm>
            <a:off x="8851900" y="1409700"/>
            <a:ext cx="2527300" cy="33274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1" name="A4|rise|forma3"/>
          <p:cNvSpPr/>
          <p:nvPr/>
        </p:nvSpPr>
        <p:spPr>
          <a:xfrm>
            <a:off x="9029700" y="1574800"/>
            <a:ext cx="406400" cy="4064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5822A"/>
            </a:solidFill>
            <a:prstDash val="solid"/>
          </a:ln>
        </p:spPr>
      </p:sp>
      <p:sp>
        <p:nvSpPr>
          <p:cNvPr id="32" name="A4|rise|forma3"/>
          <p:cNvSpPr txBox="1"/>
          <p:nvPr/>
        </p:nvSpPr>
        <p:spPr>
          <a:xfrm>
            <a:off x="9029700" y="15748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A4|rise|forma3"/>
          <p:cNvSpPr txBox="1"/>
          <p:nvPr/>
        </p:nvSpPr>
        <p:spPr>
          <a:xfrm>
            <a:off x="9029700" y="2095500"/>
            <a:ext cx="222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</a:t>
            </a:r>
            <a:endParaRPr lang="en-US" sz="1600" dirty="0"/>
          </a:p>
        </p:txBody>
      </p:sp>
      <p:sp>
        <p:nvSpPr>
          <p:cNvPr id="34" name="A4|rise|forma3"/>
          <p:cNvSpPr txBox="1"/>
          <p:nvPr/>
        </p:nvSpPr>
        <p:spPr>
          <a:xfrm>
            <a:off x="9029700" y="2438400"/>
            <a:ext cx="2171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Termos e expressões próprias que identificam e unem os membros.</a:t>
            </a:r>
            <a:endParaRPr lang="en-US" sz="1200" dirty="0"/>
          </a:p>
        </p:txBody>
      </p:sp>
      <p:sp>
        <p:nvSpPr>
          <p:cNvPr id="35" name="A4|rise|forma3"/>
          <p:cNvSpPr/>
          <p:nvPr/>
        </p:nvSpPr>
        <p:spPr>
          <a:xfrm>
            <a:off x="8953500" y="3505200"/>
            <a:ext cx="2324100" cy="11176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36" name="A4|rise|forma3"/>
          <p:cNvSpPr txBox="1"/>
          <p:nvPr/>
        </p:nvSpPr>
        <p:spPr>
          <a:xfrm>
            <a:off x="9080500" y="3606800"/>
            <a:ext cx="207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37" name="A4|rise|forma3"/>
          <p:cNvSpPr txBox="1"/>
          <p:nvPr/>
        </p:nvSpPr>
        <p:spPr>
          <a:xfrm>
            <a:off x="9080500" y="3835400"/>
            <a:ext cx="20701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[Ex.: expressões usadas pela equipa no dia a dia]</a:t>
            </a:r>
            <a:endParaRPr lang="en-US" sz="1250" dirty="0"/>
          </a:p>
        </p:txBody>
      </p:sp>
      <p:sp>
        <p:nvSpPr>
          <p:cNvPr id="38" name="A5|rise|forte"/>
          <p:cNvSpPr/>
          <p:nvPr/>
        </p:nvSpPr>
        <p:spPr>
          <a:xfrm>
            <a:off x="812800" y="4889500"/>
            <a:ext cx="5080000" cy="9525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39" name="A5|rise|forte"/>
          <p:cNvSpPr txBox="1"/>
          <p:nvPr/>
        </p:nvSpPr>
        <p:spPr>
          <a:xfrm>
            <a:off x="965200" y="5003800"/>
            <a:ext cx="482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CULTURA FORTE OU FRACA?</a:t>
            </a:r>
            <a:endParaRPr lang="en-US" sz="1100" dirty="0"/>
          </a:p>
        </p:txBody>
      </p:sp>
      <p:sp>
        <p:nvSpPr>
          <p:cNvPr id="40" name="A5|rise|forte"/>
          <p:cNvSpPr txBox="1"/>
          <p:nvPr/>
        </p:nvSpPr>
        <p:spPr>
          <a:xfrm>
            <a:off x="965200" y="5232400"/>
            <a:ext cx="482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Forte = valores-chave intensamente partilhados e aceites.</a:t>
            </a:r>
            <a:endParaRPr lang="en-US" sz="1200" dirty="0"/>
          </a:p>
        </p:txBody>
      </p:sp>
      <p:sp>
        <p:nvSpPr>
          <p:cNvPr id="41" name="A5|rise|forte"/>
          <p:cNvSpPr txBox="1"/>
          <p:nvPr/>
        </p:nvSpPr>
        <p:spPr>
          <a:xfrm>
            <a:off x="965200" y="5486400"/>
            <a:ext cx="482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[Posição do grupo sobre a Nata Lisboa e porquê]</a:t>
            </a:r>
            <a:endParaRPr lang="en-US" sz="1250" dirty="0"/>
          </a:p>
        </p:txBody>
      </p:sp>
      <p:sp>
        <p:nvSpPr>
          <p:cNvPr id="42" name="K1|rise|citacao"/>
          <p:cNvSpPr txBox="1"/>
          <p:nvPr/>
        </p:nvSpPr>
        <p:spPr>
          <a:xfrm rot="-36000">
            <a:off x="6096000" y="4914900"/>
            <a:ext cx="5283200" cy="9271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“[Excerto sobre a integração de novos colaboradores.]”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CITAÇÃO · MÔNICA CARDOSO, GERENTE OPERACIONAL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5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5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42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1" dur="5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8" dur="5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GESTORES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NÍVEIS DE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</a:t>
            </a:r>
            <a:endParaRPr lang="en-US" sz="3600" dirty="0"/>
          </a:p>
        </p:txBody>
      </p:sp>
      <p:pic>
        <p:nvPicPr>
          <p:cNvPr id="6" name="A1|zoom|piramide" descr="Pirâmide com os três níveis de gestão: topo, intermédia e primeira linh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524000"/>
            <a:ext cx="4064000" cy="3429000"/>
          </a:xfrm>
          <a:prstGeom prst="rect">
            <a:avLst/>
          </a:prstGeom>
        </p:spPr>
      </p:pic>
      <p:sp>
        <p:nvSpPr>
          <p:cNvPr id="7" name="A1|zoom|piramide"/>
          <p:cNvSpPr txBox="1"/>
          <p:nvPr/>
        </p:nvSpPr>
        <p:spPr>
          <a:xfrm>
            <a:off x="2400300" y="2095500"/>
            <a:ext cx="88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</a:t>
            </a:r>
            <a:endParaRPr lang="en-US" sz="1400" dirty="0"/>
          </a:p>
        </p:txBody>
      </p:sp>
      <p:sp>
        <p:nvSpPr>
          <p:cNvPr id="8" name="A1|zoom|piramide"/>
          <p:cNvSpPr txBox="1"/>
          <p:nvPr/>
        </p:nvSpPr>
        <p:spPr>
          <a:xfrm>
            <a:off x="1574800" y="29845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INTERMÉDIA</a:t>
            </a:r>
            <a:endParaRPr lang="en-US" sz="1500" dirty="0"/>
          </a:p>
        </p:txBody>
      </p:sp>
      <p:sp>
        <p:nvSpPr>
          <p:cNvPr id="9" name="A1|zoom|piramide"/>
          <p:cNvSpPr txBox="1"/>
          <p:nvPr/>
        </p:nvSpPr>
        <p:spPr>
          <a:xfrm>
            <a:off x="1257300" y="41021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LINHA</a:t>
            </a:r>
            <a:endParaRPr lang="en-US" sz="1500" dirty="0"/>
          </a:p>
        </p:txBody>
      </p:sp>
      <p:sp>
        <p:nvSpPr>
          <p:cNvPr id="10" name="A1|zoom|piramide"/>
          <p:cNvSpPr txBox="1"/>
          <p:nvPr/>
        </p:nvSpPr>
        <p:spPr>
          <a:xfrm>
            <a:off x="812800" y="5080000"/>
            <a:ext cx="406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OPERACIONAIS (NÃO GESTORES): </a:t>
            </a:r>
            <a:pPr algn="ctr" indent="0" marL="0">
              <a:buNone/>
            </a:pPr>
            <a:r>
              <a:rPr lang="en-US" sz="1100" i="1" dirty="0">
                <a:solidFill>
                  <a:srgbClr val="F9C0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[n.º aprox.]</a:t>
            </a:r>
            <a:endParaRPr lang="en-US" sz="1100" dirty="0"/>
          </a:p>
        </p:txBody>
      </p:sp>
      <p:sp>
        <p:nvSpPr>
          <p:cNvPr id="11" name="A2|rise|nivel0"/>
          <p:cNvSpPr/>
          <p:nvPr/>
        </p:nvSpPr>
        <p:spPr>
          <a:xfrm>
            <a:off x="5334000" y="1524000"/>
            <a:ext cx="6045200" cy="10668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2" name="A2|rise|nivel0"/>
          <p:cNvSpPr txBox="1"/>
          <p:nvPr/>
        </p:nvSpPr>
        <p:spPr>
          <a:xfrm>
            <a:off x="5511800" y="16383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GESTÃO DE TOPO</a:t>
            </a:r>
            <a:endParaRPr lang="en-US" sz="1100" dirty="0"/>
          </a:p>
        </p:txBody>
      </p:sp>
      <p:sp>
        <p:nvSpPr>
          <p:cNvPr id="13" name="A2|rise|nivel0"/>
          <p:cNvSpPr txBox="1"/>
          <p:nvPr/>
        </p:nvSpPr>
        <p:spPr>
          <a:xfrm>
            <a:off x="5511800" y="18669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estratégicas: objetivos e políticas para toda a organização.</a:t>
            </a:r>
            <a:endParaRPr lang="en-US" sz="1300" dirty="0"/>
          </a:p>
        </p:txBody>
      </p:sp>
      <p:sp>
        <p:nvSpPr>
          <p:cNvPr id="14" name="A2|rise|nivel0"/>
          <p:cNvSpPr txBox="1"/>
          <p:nvPr/>
        </p:nvSpPr>
        <p:spPr>
          <a:xfrm>
            <a:off x="5511800" y="2184400"/>
            <a:ext cx="571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[Quem são na Nata Lisboa e que decisões tomam]</a:t>
            </a:r>
            <a:endParaRPr lang="en-US" sz="1300" dirty="0"/>
          </a:p>
        </p:txBody>
      </p:sp>
      <p:sp>
        <p:nvSpPr>
          <p:cNvPr id="15" name="A3|rise|nivel1"/>
          <p:cNvSpPr/>
          <p:nvPr/>
        </p:nvSpPr>
        <p:spPr>
          <a:xfrm>
            <a:off x="5334000" y="2705100"/>
            <a:ext cx="6045200" cy="1066800"/>
          </a:xfrm>
          <a:prstGeom prst="rect">
            <a:avLst/>
          </a:prstGeom>
          <a:solidFill>
            <a:srgbClr val="1A3C80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6" name="A3|rise|nivel1"/>
          <p:cNvSpPr txBox="1"/>
          <p:nvPr/>
        </p:nvSpPr>
        <p:spPr>
          <a:xfrm>
            <a:off x="5511800" y="28194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GESTÃO INTERMÉDIA</a:t>
            </a:r>
            <a:endParaRPr lang="en-US" sz="1100" dirty="0"/>
          </a:p>
        </p:txBody>
      </p:sp>
      <p:sp>
        <p:nvSpPr>
          <p:cNvPr id="17" name="A3|rise|nivel1"/>
          <p:cNvSpPr txBox="1"/>
          <p:nvPr/>
        </p:nvSpPr>
        <p:spPr>
          <a:xfrm>
            <a:off x="5511800" y="30480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Traduzem a estratégia em planos e coordenam outros gestores.</a:t>
            </a:r>
            <a:endParaRPr lang="en-US" sz="1300" dirty="0"/>
          </a:p>
        </p:txBody>
      </p:sp>
      <p:sp>
        <p:nvSpPr>
          <p:cNvPr id="18" name="A3|rise|nivel1"/>
          <p:cNvSpPr txBox="1"/>
          <p:nvPr/>
        </p:nvSpPr>
        <p:spPr>
          <a:xfrm>
            <a:off x="5511800" y="3365500"/>
            <a:ext cx="571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Mônica Cardoso</a:t>
            </a:r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Gerente Operacional </a:t>
            </a:r>
            <a:pPr algn="l" indent="0" marL="0">
              <a:buNone/>
            </a:pPr>
            <a:r>
              <a:rPr lang="en-US" sz="13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[confirmar nível e decisões que toma]</a:t>
            </a:r>
            <a:endParaRPr lang="en-US" sz="1300" dirty="0"/>
          </a:p>
        </p:txBody>
      </p:sp>
      <p:sp>
        <p:nvSpPr>
          <p:cNvPr id="19" name="A4|rise|nivel2"/>
          <p:cNvSpPr/>
          <p:nvPr/>
        </p:nvSpPr>
        <p:spPr>
          <a:xfrm>
            <a:off x="5334000" y="3886200"/>
            <a:ext cx="6045200" cy="10668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0" name="A4|rise|nivel2"/>
          <p:cNvSpPr txBox="1"/>
          <p:nvPr/>
        </p:nvSpPr>
        <p:spPr>
          <a:xfrm>
            <a:off x="5511800" y="40005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PRIMEIRA LINHA</a:t>
            </a:r>
            <a:endParaRPr lang="en-US" sz="1100" dirty="0"/>
          </a:p>
        </p:txBody>
      </p:sp>
      <p:sp>
        <p:nvSpPr>
          <p:cNvPr id="21" name="A4|rise|nivel2"/>
          <p:cNvSpPr txBox="1"/>
          <p:nvPr/>
        </p:nvSpPr>
        <p:spPr>
          <a:xfrm>
            <a:off x="5511800" y="42291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Dirigem o trabalho diário dos colaboradores operacionais.</a:t>
            </a:r>
            <a:endParaRPr lang="en-US" sz="1300" dirty="0"/>
          </a:p>
        </p:txBody>
      </p:sp>
      <p:sp>
        <p:nvSpPr>
          <p:cNvPr id="22" name="A4|rise|nivel2"/>
          <p:cNvSpPr txBox="1"/>
          <p:nvPr/>
        </p:nvSpPr>
        <p:spPr>
          <a:xfrm>
            <a:off x="5511800" y="4546600"/>
            <a:ext cx="571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[Ex.: responsáveis de loja ou de turno]</a:t>
            </a:r>
            <a:endParaRPr lang="en-US" sz="1300" dirty="0"/>
          </a:p>
        </p:txBody>
      </p:sp>
      <p:sp>
        <p:nvSpPr>
          <p:cNvPr id="23" name="A5|fade|estrutura"/>
          <p:cNvSpPr txBox="1"/>
          <p:nvPr/>
        </p:nvSpPr>
        <p:spPr>
          <a:xfrm>
            <a:off x="5334000" y="5156200"/>
            <a:ext cx="6045200" cy="444500"/>
          </a:xfrm>
          <a:prstGeom prst="rect">
            <a:avLst/>
          </a:prstGeom>
          <a:noFill/>
          <a:ln w="12700">
            <a:solidFill>
              <a:srgbClr val="7F96C2"/>
            </a:solidFill>
            <a:prstDash val="dash"/>
          </a:ln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Estrutura: </a:t>
            </a:r>
            <a:pPr algn="l" indent="0" marL="0">
              <a:buNone/>
            </a:pPr>
            <a:r>
              <a:rPr lang="en-US" sz="13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[Tradicional (piramidal) ou outra? Justificar]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GESTORES · MÔNICA CARDOSO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FUNÇÕES, PAPÉIS,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COMPETÊNCIAS</a:t>
            </a:r>
            <a:endParaRPr lang="en-US" sz="3600" dirty="0"/>
          </a:p>
        </p:txBody>
      </p:sp>
      <p:sp>
        <p:nvSpPr>
          <p:cNvPr id="6" name="A1|rise|col0"/>
          <p:cNvSpPr/>
          <p:nvPr/>
        </p:nvSpPr>
        <p:spPr>
          <a:xfrm>
            <a:off x="812800" y="1409700"/>
            <a:ext cx="3416300" cy="3556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7" name="A1|rise|col0"/>
          <p:cNvSpPr txBox="1"/>
          <p:nvPr/>
        </p:nvSpPr>
        <p:spPr>
          <a:xfrm>
            <a:off x="990600" y="1549400"/>
            <a:ext cx="306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FUNÇÕES · FAYOL</a:t>
            </a:r>
            <a:endParaRPr lang="en-US" sz="1100" dirty="0"/>
          </a:p>
        </p:txBody>
      </p:sp>
      <p:sp>
        <p:nvSpPr>
          <p:cNvPr id="8" name="A1|rise|col0"/>
          <p:cNvSpPr txBox="1"/>
          <p:nvPr/>
        </p:nvSpPr>
        <p:spPr>
          <a:xfrm>
            <a:off x="990600" y="1778000"/>
            <a:ext cx="306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</a:t>
            </a:r>
            <a:endParaRPr lang="en-US" sz="1800" dirty="0"/>
          </a:p>
        </p:txBody>
      </p:sp>
      <p:sp>
        <p:nvSpPr>
          <p:cNvPr id="9" name="A1|rise|col0"/>
          <p:cNvSpPr txBox="1"/>
          <p:nvPr/>
        </p:nvSpPr>
        <p:spPr>
          <a:xfrm>
            <a:off x="990600" y="2171700"/>
            <a:ext cx="30607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Planear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definir objetivos e o caminho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distribuir tarefas e recursos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Liderar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motivar e orientar pessoas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Controlar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medir e corrigir o desempenho</a:t>
            </a:r>
            <a:endParaRPr lang="en-US" sz="1200" dirty="0"/>
          </a:p>
        </p:txBody>
      </p:sp>
      <p:sp>
        <p:nvSpPr>
          <p:cNvPr id="10" name="A1|rise|col0"/>
          <p:cNvSpPr/>
          <p:nvPr/>
        </p:nvSpPr>
        <p:spPr>
          <a:xfrm>
            <a:off x="939800" y="3873500"/>
            <a:ext cx="3162300" cy="9652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11" name="A1|rise|col0"/>
          <p:cNvSpPr txBox="1"/>
          <p:nvPr/>
        </p:nvSpPr>
        <p:spPr>
          <a:xfrm>
            <a:off x="1066800" y="3975100"/>
            <a:ext cx="290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12" name="A1|rise|col0"/>
          <p:cNvSpPr txBox="1"/>
          <p:nvPr/>
        </p:nvSpPr>
        <p:spPr>
          <a:xfrm>
            <a:off x="1066800" y="4203700"/>
            <a:ext cx="2908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[Exemplo de cada função no dia a dia da Mônica]</a:t>
            </a:r>
            <a:endParaRPr lang="en-US" sz="1250" dirty="0"/>
          </a:p>
        </p:txBody>
      </p:sp>
      <p:sp>
        <p:nvSpPr>
          <p:cNvPr id="13" name="A2|rise|col1"/>
          <p:cNvSpPr/>
          <p:nvPr/>
        </p:nvSpPr>
        <p:spPr>
          <a:xfrm>
            <a:off x="4330700" y="1409700"/>
            <a:ext cx="3416300" cy="3556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4" name="A2|rise|col1"/>
          <p:cNvSpPr txBox="1"/>
          <p:nvPr/>
        </p:nvSpPr>
        <p:spPr>
          <a:xfrm>
            <a:off x="4508500" y="1549400"/>
            <a:ext cx="306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PAPÉIS · MINTZBERG</a:t>
            </a:r>
            <a:endParaRPr lang="en-US" sz="1100" dirty="0"/>
          </a:p>
        </p:txBody>
      </p:sp>
      <p:sp>
        <p:nvSpPr>
          <p:cNvPr id="15" name="A2|rise|col1"/>
          <p:cNvSpPr txBox="1"/>
          <p:nvPr/>
        </p:nvSpPr>
        <p:spPr>
          <a:xfrm>
            <a:off x="4508500" y="1778000"/>
            <a:ext cx="306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atua</a:t>
            </a:r>
            <a:endParaRPr lang="en-US" sz="1800" dirty="0"/>
          </a:p>
        </p:txBody>
      </p:sp>
      <p:sp>
        <p:nvSpPr>
          <p:cNvPr id="16" name="A2|rise|col1"/>
          <p:cNvSpPr txBox="1"/>
          <p:nvPr/>
        </p:nvSpPr>
        <p:spPr>
          <a:xfrm>
            <a:off x="4508500" y="2171700"/>
            <a:ext cx="30607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Interpessoais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figura de proa, líder, ligação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Informacionais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monitor, disseminador, porta-voz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Decisionais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empreendedor, gestor de perturbações, distribuidor de recursos, negociador</a:t>
            </a:r>
            <a:endParaRPr lang="en-US" sz="1200" dirty="0"/>
          </a:p>
        </p:txBody>
      </p:sp>
      <p:sp>
        <p:nvSpPr>
          <p:cNvPr id="17" name="A2|rise|col1"/>
          <p:cNvSpPr/>
          <p:nvPr/>
        </p:nvSpPr>
        <p:spPr>
          <a:xfrm>
            <a:off x="4457700" y="3873500"/>
            <a:ext cx="3162300" cy="9652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18" name="A2|rise|col1"/>
          <p:cNvSpPr txBox="1"/>
          <p:nvPr/>
        </p:nvSpPr>
        <p:spPr>
          <a:xfrm>
            <a:off x="4584700" y="3975100"/>
            <a:ext cx="290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19" name="A2|rise|col1"/>
          <p:cNvSpPr txBox="1"/>
          <p:nvPr/>
        </p:nvSpPr>
        <p:spPr>
          <a:xfrm>
            <a:off x="4584700" y="4203700"/>
            <a:ext cx="2908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[Papéis mais visíveis + exemplo]</a:t>
            </a:r>
            <a:endParaRPr lang="en-US" sz="1250" dirty="0"/>
          </a:p>
        </p:txBody>
      </p:sp>
      <p:sp>
        <p:nvSpPr>
          <p:cNvPr id="20" name="A3|rise|col2"/>
          <p:cNvSpPr/>
          <p:nvPr/>
        </p:nvSpPr>
        <p:spPr>
          <a:xfrm>
            <a:off x="7848600" y="1409700"/>
            <a:ext cx="3416300" cy="3556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1" name="A3|rise|col2"/>
          <p:cNvSpPr txBox="1"/>
          <p:nvPr/>
        </p:nvSpPr>
        <p:spPr>
          <a:xfrm>
            <a:off x="8026400" y="1549400"/>
            <a:ext cx="306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COMPETÊNCIAS · KATZ</a:t>
            </a:r>
            <a:endParaRPr lang="en-US" sz="1100" dirty="0"/>
          </a:p>
        </p:txBody>
      </p:sp>
      <p:sp>
        <p:nvSpPr>
          <p:cNvPr id="22" name="A3|rise|col2"/>
          <p:cNvSpPr txBox="1"/>
          <p:nvPr/>
        </p:nvSpPr>
        <p:spPr>
          <a:xfrm>
            <a:off x="8026400" y="1778000"/>
            <a:ext cx="306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mais usa</a:t>
            </a:r>
            <a:endParaRPr lang="en-US" sz="1800" dirty="0"/>
          </a:p>
        </p:txBody>
      </p:sp>
      <p:sp>
        <p:nvSpPr>
          <p:cNvPr id="23" name="A3|rise|col2"/>
          <p:cNvSpPr txBox="1"/>
          <p:nvPr/>
        </p:nvSpPr>
        <p:spPr>
          <a:xfrm>
            <a:off x="8026400" y="2171700"/>
            <a:ext cx="30607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saber fazer específico da área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Humanas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trabalhar com e através de pessoas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Conceptuais</a:t>
            </a:r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ver a organização como um todo</a:t>
            </a:r>
            <a:endParaRPr lang="en-US" sz="1200" dirty="0"/>
          </a:p>
        </p:txBody>
      </p:sp>
      <p:sp>
        <p:nvSpPr>
          <p:cNvPr id="24" name="A3|rise|col2"/>
          <p:cNvSpPr/>
          <p:nvPr/>
        </p:nvSpPr>
        <p:spPr>
          <a:xfrm>
            <a:off x="7975600" y="3873500"/>
            <a:ext cx="3162300" cy="9652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25" name="A3|rise|col2"/>
          <p:cNvSpPr txBox="1"/>
          <p:nvPr/>
        </p:nvSpPr>
        <p:spPr>
          <a:xfrm>
            <a:off x="8102600" y="3975100"/>
            <a:ext cx="290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26" name="A3|rise|col2"/>
          <p:cNvSpPr txBox="1"/>
          <p:nvPr/>
        </p:nvSpPr>
        <p:spPr>
          <a:xfrm>
            <a:off x="8102600" y="4203700"/>
            <a:ext cx="2908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[Competências mais usadas + porquê]</a:t>
            </a:r>
            <a:endParaRPr lang="en-US" sz="1250" dirty="0"/>
          </a:p>
        </p:txBody>
      </p:sp>
      <p:sp>
        <p:nvSpPr>
          <p:cNvPr id="27" name="K1|rise|citacao"/>
          <p:cNvSpPr txBox="1"/>
          <p:nvPr/>
        </p:nvSpPr>
        <p:spPr>
          <a:xfrm rot="-36000">
            <a:off x="812800" y="5118100"/>
            <a:ext cx="10566400" cy="7112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“[Excerto em que a Mônica descreve o seu dia a dia como gerente operacional.]”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CITAÇÃO · MÔNICA CARDOSO, GERENTE OPERACIONAL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DIVERSIDADE · GLOBALIZAÇÃO · TECNOLOGIA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</a:t>
            </a:r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GESTÃO</a:t>
            </a:r>
            <a:endParaRPr lang="en-US" sz="3600" dirty="0"/>
          </a:p>
        </p:txBody>
      </p:sp>
      <p:sp>
        <p:nvSpPr>
          <p:cNvPr id="6" name="A1|rise|desafio0"/>
          <p:cNvSpPr/>
          <p:nvPr/>
        </p:nvSpPr>
        <p:spPr>
          <a:xfrm>
            <a:off x="812800" y="1409700"/>
            <a:ext cx="3416300" cy="3556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7" name="A1|rise|desafio0"/>
          <p:cNvSpPr/>
          <p:nvPr/>
        </p:nvSpPr>
        <p:spPr>
          <a:xfrm>
            <a:off x="990600" y="1600200"/>
            <a:ext cx="279400" cy="279400"/>
          </a:xfrm>
          <a:prstGeom prst="ellipse">
            <a:avLst/>
          </a:prstGeom>
          <a:solidFill>
            <a:srgbClr val="F5822A"/>
          </a:solidFill>
          <a:ln/>
        </p:spPr>
      </p:sp>
      <p:sp>
        <p:nvSpPr>
          <p:cNvPr id="8" name="A1|rise|desafio0"/>
          <p:cNvSpPr/>
          <p:nvPr/>
        </p:nvSpPr>
        <p:spPr>
          <a:xfrm>
            <a:off x="1155700" y="1562100"/>
            <a:ext cx="279400" cy="279400"/>
          </a:xfrm>
          <a:prstGeom prst="ellipse">
            <a:avLst/>
          </a:prstGeom>
          <a:solidFill>
            <a:srgbClr val="8FB0EE"/>
          </a:solidFill>
          <a:ln/>
        </p:spPr>
      </p:sp>
      <p:sp>
        <p:nvSpPr>
          <p:cNvPr id="9" name="A1|rise|desafio0"/>
          <p:cNvSpPr/>
          <p:nvPr/>
        </p:nvSpPr>
        <p:spPr>
          <a:xfrm>
            <a:off x="1079500" y="1727200"/>
            <a:ext cx="279400" cy="279400"/>
          </a:xfrm>
          <a:prstGeom prst="ellipse">
            <a:avLst/>
          </a:prstGeom>
          <a:solidFill>
            <a:srgbClr val="06142F"/>
          </a:solidFill>
          <a:ln w="12700">
            <a:solidFill>
              <a:srgbClr val="8FB0EE"/>
            </a:solidFill>
            <a:prstDash val="solid"/>
          </a:ln>
        </p:spPr>
      </p:sp>
      <p:sp>
        <p:nvSpPr>
          <p:cNvPr id="10" name="A1|rise|desafio0"/>
          <p:cNvSpPr txBox="1"/>
          <p:nvPr/>
        </p:nvSpPr>
        <p:spPr>
          <a:xfrm>
            <a:off x="990600" y="2108200"/>
            <a:ext cx="306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da diversidade</a:t>
            </a:r>
            <a:endParaRPr lang="en-US" sz="1600" dirty="0"/>
          </a:p>
        </p:txBody>
      </p:sp>
      <p:sp>
        <p:nvSpPr>
          <p:cNvPr id="11" name="A1|rise|desafio0"/>
          <p:cNvSpPr txBox="1"/>
          <p:nvPr/>
        </p:nvSpPr>
        <p:spPr>
          <a:xfrm>
            <a:off x="990600" y="2451100"/>
            <a:ext cx="30607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Diferenças visíveis (idade, género, origem) e profundas (valores, personalidade). Boas práticas: recrutamento inclusivo, mentoria, formação e horários que conciliem trabalho e família.</a:t>
            </a:r>
            <a:endParaRPr lang="en-US" sz="1200" dirty="0"/>
          </a:p>
        </p:txBody>
      </p:sp>
      <p:sp>
        <p:nvSpPr>
          <p:cNvPr id="12" name="A1|rise|desafio0"/>
          <p:cNvSpPr/>
          <p:nvPr/>
        </p:nvSpPr>
        <p:spPr>
          <a:xfrm>
            <a:off x="939800" y="3873500"/>
            <a:ext cx="3162300" cy="9652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13" name="A1|rise|desafio0"/>
          <p:cNvSpPr txBox="1"/>
          <p:nvPr/>
        </p:nvSpPr>
        <p:spPr>
          <a:xfrm>
            <a:off x="1066800" y="3975100"/>
            <a:ext cx="290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14" name="A1|rise|desafio0"/>
          <p:cNvSpPr txBox="1"/>
          <p:nvPr/>
        </p:nvSpPr>
        <p:spPr>
          <a:xfrm>
            <a:off x="1066800" y="4203700"/>
            <a:ext cx="2908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[Práticas da Nata Lisboa na gestão da equipa]</a:t>
            </a:r>
            <a:endParaRPr lang="en-US" sz="1250" dirty="0"/>
          </a:p>
        </p:txBody>
      </p:sp>
      <p:sp>
        <p:nvSpPr>
          <p:cNvPr id="15" name="A2|rise|desafio1"/>
          <p:cNvSpPr/>
          <p:nvPr/>
        </p:nvSpPr>
        <p:spPr>
          <a:xfrm>
            <a:off x="4330700" y="1409700"/>
            <a:ext cx="3416300" cy="3556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6" name="A2|rise|desafio1"/>
          <p:cNvSpPr/>
          <p:nvPr/>
        </p:nvSpPr>
        <p:spPr>
          <a:xfrm>
            <a:off x="4508500" y="1562100"/>
            <a:ext cx="431800" cy="431800"/>
          </a:xfrm>
          <a:prstGeom prst="ellipse">
            <a:avLst/>
          </a:prstGeom>
          <a:solidFill>
            <a:srgbClr val="8FB0EE"/>
          </a:solidFill>
          <a:ln/>
        </p:spPr>
      </p:sp>
      <p:sp>
        <p:nvSpPr>
          <p:cNvPr id="17" name="A2|rise|desafio1"/>
          <p:cNvSpPr/>
          <p:nvPr/>
        </p:nvSpPr>
        <p:spPr>
          <a:xfrm>
            <a:off x="4635500" y="1562100"/>
            <a:ext cx="177800" cy="4318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0B1F4D"/>
            </a:solidFill>
            <a:prstDash val="solid"/>
          </a:ln>
        </p:spPr>
      </p:sp>
      <p:sp>
        <p:nvSpPr>
          <p:cNvPr id="18" name="A2|rise|desafio1"/>
          <p:cNvSpPr/>
          <p:nvPr/>
        </p:nvSpPr>
        <p:spPr>
          <a:xfrm>
            <a:off x="4508500" y="1778000"/>
            <a:ext cx="43180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0B1F4D"/>
            </a:solidFill>
            <a:prstDash val="solid"/>
          </a:ln>
        </p:spPr>
      </p:sp>
      <p:sp>
        <p:nvSpPr>
          <p:cNvPr id="19" name="A2|rise|desafio1"/>
          <p:cNvSpPr txBox="1"/>
          <p:nvPr/>
        </p:nvSpPr>
        <p:spPr>
          <a:xfrm>
            <a:off x="4508500" y="2108200"/>
            <a:ext cx="306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Globalização</a:t>
            </a:r>
            <a:endParaRPr lang="en-US" sz="1600" dirty="0"/>
          </a:p>
        </p:txBody>
      </p:sp>
      <p:sp>
        <p:nvSpPr>
          <p:cNvPr id="20" name="A2|rise|desafio1"/>
          <p:cNvSpPr txBox="1"/>
          <p:nvPr/>
        </p:nvSpPr>
        <p:spPr>
          <a:xfrm>
            <a:off x="4508500" y="2451100"/>
            <a:ext cx="30607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Mercados, concorrentes e fornecedores sem fronteiras. Atitude dos gestores: etnocêntrica, policêntrica ou geocêntrica. Exige adaptação a culturas e mercados diferentes.</a:t>
            </a:r>
            <a:endParaRPr lang="en-US" sz="1200" dirty="0"/>
          </a:p>
        </p:txBody>
      </p:sp>
      <p:sp>
        <p:nvSpPr>
          <p:cNvPr id="21" name="A2|rise|desafio1"/>
          <p:cNvSpPr/>
          <p:nvPr/>
        </p:nvSpPr>
        <p:spPr>
          <a:xfrm>
            <a:off x="4457700" y="3873500"/>
            <a:ext cx="3162300" cy="9652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22" name="A2|rise|desafio1"/>
          <p:cNvSpPr txBox="1"/>
          <p:nvPr/>
        </p:nvSpPr>
        <p:spPr>
          <a:xfrm>
            <a:off x="4584700" y="3975100"/>
            <a:ext cx="290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23" name="A2|rise|desafio1"/>
          <p:cNvSpPr txBox="1"/>
          <p:nvPr/>
        </p:nvSpPr>
        <p:spPr>
          <a:xfrm>
            <a:off x="4584700" y="4203700"/>
            <a:ext cx="2908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[Desafio / oportunidade: turismo, mercados externos…]</a:t>
            </a:r>
            <a:endParaRPr lang="en-US" sz="1250" dirty="0"/>
          </a:p>
        </p:txBody>
      </p:sp>
      <p:sp>
        <p:nvSpPr>
          <p:cNvPr id="24" name="A3|rise|desafio2"/>
          <p:cNvSpPr/>
          <p:nvPr/>
        </p:nvSpPr>
        <p:spPr>
          <a:xfrm>
            <a:off x="7848600" y="1409700"/>
            <a:ext cx="3416300" cy="3556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25" name="A3|rise|desafio2"/>
          <p:cNvSpPr/>
          <p:nvPr/>
        </p:nvSpPr>
        <p:spPr>
          <a:xfrm>
            <a:off x="8064500" y="1600200"/>
            <a:ext cx="355600" cy="355600"/>
          </a:xfrm>
          <a:prstGeom prst="roundRect">
            <a:avLst>
              <a:gd name="adj" fmla="val 30857"/>
            </a:avLst>
          </a:prstGeom>
          <a:solidFill>
            <a:srgbClr val="8FB0EE"/>
          </a:solidFill>
          <a:ln/>
        </p:spPr>
      </p:sp>
      <p:sp>
        <p:nvSpPr>
          <p:cNvPr id="26" name="A3|rise|desafio2"/>
          <p:cNvSpPr/>
          <p:nvPr/>
        </p:nvSpPr>
        <p:spPr>
          <a:xfrm>
            <a:off x="8153400" y="1689100"/>
            <a:ext cx="177800" cy="17780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27" name="A3|rise|desafio2"/>
          <p:cNvSpPr/>
          <p:nvPr/>
        </p:nvSpPr>
        <p:spPr>
          <a:xfrm>
            <a:off x="8128000" y="1562100"/>
            <a:ext cx="0" cy="3810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B0EE"/>
            </a:solidFill>
            <a:prstDash val="solid"/>
          </a:ln>
        </p:spPr>
      </p:sp>
      <p:sp>
        <p:nvSpPr>
          <p:cNvPr id="28" name="A3|rise|desafio2"/>
          <p:cNvSpPr/>
          <p:nvPr/>
        </p:nvSpPr>
        <p:spPr>
          <a:xfrm>
            <a:off x="8128000" y="1955800"/>
            <a:ext cx="0" cy="3810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B0EE"/>
            </a:solidFill>
            <a:prstDash val="solid"/>
          </a:ln>
        </p:spPr>
      </p:sp>
      <p:sp>
        <p:nvSpPr>
          <p:cNvPr id="29" name="A3|rise|desafio2"/>
          <p:cNvSpPr/>
          <p:nvPr/>
        </p:nvSpPr>
        <p:spPr>
          <a:xfrm>
            <a:off x="8216900" y="1562100"/>
            <a:ext cx="0" cy="3810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B0EE"/>
            </a:solidFill>
            <a:prstDash val="solid"/>
          </a:ln>
        </p:spPr>
      </p:sp>
      <p:sp>
        <p:nvSpPr>
          <p:cNvPr id="30" name="A3|rise|desafio2"/>
          <p:cNvSpPr/>
          <p:nvPr/>
        </p:nvSpPr>
        <p:spPr>
          <a:xfrm>
            <a:off x="8216900" y="1955800"/>
            <a:ext cx="0" cy="3810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B0EE"/>
            </a:solidFill>
            <a:prstDash val="solid"/>
          </a:ln>
        </p:spPr>
      </p:sp>
      <p:sp>
        <p:nvSpPr>
          <p:cNvPr id="31" name="A3|rise|desafio2"/>
          <p:cNvSpPr/>
          <p:nvPr/>
        </p:nvSpPr>
        <p:spPr>
          <a:xfrm>
            <a:off x="8305800" y="1562100"/>
            <a:ext cx="0" cy="3810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B0EE"/>
            </a:solidFill>
            <a:prstDash val="solid"/>
          </a:ln>
        </p:spPr>
      </p:sp>
      <p:sp>
        <p:nvSpPr>
          <p:cNvPr id="32" name="A3|rise|desafio2"/>
          <p:cNvSpPr/>
          <p:nvPr/>
        </p:nvSpPr>
        <p:spPr>
          <a:xfrm>
            <a:off x="8305800" y="1955800"/>
            <a:ext cx="0" cy="3810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B0EE"/>
            </a:solidFill>
            <a:prstDash val="solid"/>
          </a:ln>
        </p:spPr>
      </p:sp>
      <p:sp>
        <p:nvSpPr>
          <p:cNvPr id="33" name="A3|rise|desafio2"/>
          <p:cNvSpPr txBox="1"/>
          <p:nvPr/>
        </p:nvSpPr>
        <p:spPr>
          <a:xfrm>
            <a:off x="8026400" y="2108200"/>
            <a:ext cx="3060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tecnológica</a:t>
            </a:r>
            <a:endParaRPr lang="en-US" sz="1600" dirty="0"/>
          </a:p>
        </p:txBody>
      </p:sp>
      <p:sp>
        <p:nvSpPr>
          <p:cNvPr id="34" name="A3|rise|desafio2"/>
          <p:cNvSpPr txBox="1"/>
          <p:nvPr/>
        </p:nvSpPr>
        <p:spPr>
          <a:xfrm>
            <a:off x="8026400" y="2451100"/>
            <a:ext cx="30607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Digitalização, automação e inteligência artificial mudam processos, competências e a relação com o cliente: encomendas online, entregas, pagamentos, redes sociais.</a:t>
            </a:r>
            <a:endParaRPr lang="en-US" sz="1200" dirty="0"/>
          </a:p>
        </p:txBody>
      </p:sp>
      <p:sp>
        <p:nvSpPr>
          <p:cNvPr id="35" name="A3|rise|desafio2"/>
          <p:cNvSpPr/>
          <p:nvPr/>
        </p:nvSpPr>
        <p:spPr>
          <a:xfrm>
            <a:off x="7975600" y="3873500"/>
            <a:ext cx="3162300" cy="965200"/>
          </a:xfrm>
          <a:prstGeom prst="rect">
            <a:avLst/>
          </a:prstGeom>
          <a:solidFill>
            <a:srgbClr val="F5822A">
              <a:alpha val="7000"/>
            </a:srgbClr>
          </a:solidFill>
          <a:ln w="15875">
            <a:solidFill>
              <a:srgbClr val="F5822A"/>
            </a:solidFill>
            <a:prstDash val="dash"/>
          </a:ln>
        </p:spPr>
      </p:sp>
      <p:sp>
        <p:nvSpPr>
          <p:cNvPr id="36" name="A3|rise|desafio2"/>
          <p:cNvSpPr txBox="1"/>
          <p:nvPr/>
        </p:nvSpPr>
        <p:spPr>
          <a:xfrm>
            <a:off x="8102600" y="3975100"/>
            <a:ext cx="290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A2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NATA LISBOA</a:t>
            </a:r>
            <a:endParaRPr lang="en-US" sz="1100" dirty="0"/>
          </a:p>
        </p:txBody>
      </p:sp>
      <p:sp>
        <p:nvSpPr>
          <p:cNvPr id="37" name="A3|rise|desafio2"/>
          <p:cNvSpPr txBox="1"/>
          <p:nvPr/>
        </p:nvSpPr>
        <p:spPr>
          <a:xfrm>
            <a:off x="8102600" y="4203700"/>
            <a:ext cx="2908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[Desafio / resposta da Nata Lisboa]</a:t>
            </a:r>
            <a:endParaRPr lang="en-US" sz="1250" dirty="0"/>
          </a:p>
        </p:txBody>
      </p:sp>
      <p:sp>
        <p:nvSpPr>
          <p:cNvPr id="38" name="K1|rise|citacao"/>
          <p:cNvSpPr txBox="1"/>
          <p:nvPr/>
        </p:nvSpPr>
        <p:spPr>
          <a:xfrm rot="-36000">
            <a:off x="812800" y="5118100"/>
            <a:ext cx="10566400" cy="7112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“[Excerto da entrevista sobre diversidade, expansão ou tecnologia.]”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CITAÇÃO · MÔNICA CARDOSO, GERENTE OPERACIONAL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FECHO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CONCLUSÕES DO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</a:t>
            </a:r>
            <a:endParaRPr lang="en-US" sz="3600" dirty="0"/>
          </a:p>
        </p:txBody>
      </p:sp>
      <p:sp>
        <p:nvSpPr>
          <p:cNvPr id="6" name="A1|rise|conc1"/>
          <p:cNvSpPr/>
          <p:nvPr/>
        </p:nvSpPr>
        <p:spPr>
          <a:xfrm>
            <a:off x="812800" y="1498600"/>
            <a:ext cx="3416300" cy="17145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7" name="A1|rise|conc1"/>
          <p:cNvSpPr txBox="1"/>
          <p:nvPr/>
        </p:nvSpPr>
        <p:spPr>
          <a:xfrm>
            <a:off x="990600" y="16129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A1|rise|conc1"/>
          <p:cNvSpPr txBox="1"/>
          <p:nvPr/>
        </p:nvSpPr>
        <p:spPr>
          <a:xfrm>
            <a:off x="990600" y="2349500"/>
            <a:ext cx="30607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[Principal conclusão]</a:t>
            </a:r>
            <a:endParaRPr lang="en-US" sz="1400" dirty="0"/>
          </a:p>
        </p:txBody>
      </p:sp>
      <p:sp>
        <p:nvSpPr>
          <p:cNvPr id="9" name="A2|rise|conc2"/>
          <p:cNvSpPr/>
          <p:nvPr/>
        </p:nvSpPr>
        <p:spPr>
          <a:xfrm>
            <a:off x="4330700" y="1498600"/>
            <a:ext cx="3416300" cy="17145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0" name="A2|rise|conc2"/>
          <p:cNvSpPr txBox="1"/>
          <p:nvPr/>
        </p:nvSpPr>
        <p:spPr>
          <a:xfrm>
            <a:off x="4508500" y="16129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A2|rise|conc2"/>
          <p:cNvSpPr txBox="1"/>
          <p:nvPr/>
        </p:nvSpPr>
        <p:spPr>
          <a:xfrm>
            <a:off x="4508500" y="2349500"/>
            <a:ext cx="30607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[Segunda conclusão]</a:t>
            </a:r>
            <a:endParaRPr lang="en-US" sz="1400" dirty="0"/>
          </a:p>
        </p:txBody>
      </p:sp>
      <p:sp>
        <p:nvSpPr>
          <p:cNvPr id="12" name="A3|rise|conc3"/>
          <p:cNvSpPr/>
          <p:nvPr/>
        </p:nvSpPr>
        <p:spPr>
          <a:xfrm>
            <a:off x="7848600" y="1498600"/>
            <a:ext cx="3416300" cy="17145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3" name="A3|rise|conc3"/>
          <p:cNvSpPr txBox="1"/>
          <p:nvPr/>
        </p:nvSpPr>
        <p:spPr>
          <a:xfrm>
            <a:off x="8026400" y="16129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A3|rise|conc3"/>
          <p:cNvSpPr txBox="1"/>
          <p:nvPr/>
        </p:nvSpPr>
        <p:spPr>
          <a:xfrm>
            <a:off x="8026400" y="2349500"/>
            <a:ext cx="30607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mais nos surpreendeu]</a:t>
            </a:r>
            <a:endParaRPr lang="en-US" sz="1400" dirty="0"/>
          </a:p>
        </p:txBody>
      </p:sp>
      <p:sp>
        <p:nvSpPr>
          <p:cNvPr id="15" name="A4|rise|teoria"/>
          <p:cNvSpPr/>
          <p:nvPr/>
        </p:nvSpPr>
        <p:spPr>
          <a:xfrm>
            <a:off x="812800" y="3429000"/>
            <a:ext cx="6985000" cy="1905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16" name="A4|rise|teoria"/>
          <p:cNvSpPr txBox="1"/>
          <p:nvPr/>
        </p:nvSpPr>
        <p:spPr>
          <a:xfrm>
            <a:off x="990600" y="3581400"/>
            <a:ext cx="660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TEORIA × PRÁTICA</a:t>
            </a:r>
            <a:endParaRPr lang="en-US" sz="1100" dirty="0"/>
          </a:p>
        </p:txBody>
      </p:sp>
      <p:sp>
        <p:nvSpPr>
          <p:cNvPr id="17" name="A4|rise|teoria"/>
          <p:cNvSpPr txBox="1"/>
          <p:nvPr/>
        </p:nvSpPr>
        <p:spPr>
          <a:xfrm>
            <a:off x="990600" y="3848100"/>
            <a:ext cx="660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Nata Lisboa confirma a teoria e onde se afasta dela.</a:t>
            </a:r>
            <a:endParaRPr lang="en-US" sz="1300" dirty="0"/>
          </a:p>
        </p:txBody>
      </p:sp>
      <p:sp>
        <p:nvSpPr>
          <p:cNvPr id="18" name="A4|rise|teoria"/>
          <p:cNvSpPr txBox="1"/>
          <p:nvPr/>
        </p:nvSpPr>
        <p:spPr>
          <a:xfrm>
            <a:off x="990600" y="41910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 que a entrevista à Mônica Cardoso nos mostrou sobre a teoria da UC.]</a:t>
            </a:r>
            <a:endParaRPr lang="en-US" sz="1400" dirty="0"/>
          </a:p>
        </p:txBody>
      </p:sp>
      <p:sp>
        <p:nvSpPr>
          <p:cNvPr id="19" name="K1|rise|citacao"/>
          <p:cNvSpPr txBox="1"/>
          <p:nvPr/>
        </p:nvSpPr>
        <p:spPr>
          <a:xfrm rot="-36000">
            <a:off x="8001000" y="3429000"/>
            <a:ext cx="3378200" cy="1905000"/>
          </a:xfrm>
          <a:prstGeom prst="rect">
            <a:avLst/>
          </a:prstGeom>
          <a:solidFill>
            <a:srgbClr val="F3EBDC"/>
          </a:solidFill>
          <a:ln/>
          <a:effectLst>
            <a:outerShdw sx="100000" sy="100000" kx="0" ky="0" algn="bl" rotWithShape="0" blurRad="177800" dist="76200" dir="5400000">
              <a:srgbClr val="030A1E">
                <a:alpha val="45000"/>
              </a:srgbClr>
            </a:outerShdw>
          </a:effectLst>
        </p:spPr>
        <p:txBody>
          <a:bodyPr wrap="square" lIns="114300" tIns="114300" rIns="114300" bIns="1143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A341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“[Frase final da entrevista para fechar a apresentação.]”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spc="200" kern="0" dirty="0">
                <a:solidFill>
                  <a:srgbClr val="6B5D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CITAÇÃO · MÔNICA CARDOSO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457200"/>
            <a:ext cx="711200" cy="7112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9D6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12800" y="457200"/>
            <a:ext cx="7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582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27200" y="444500"/>
            <a:ext cx="952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APA 7.ª EDIÇÃO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727200" y="6350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E </a:t>
            </a:r>
            <a:pPr algn="l" indent="0" marL="0">
              <a:buNone/>
            </a:pPr>
            <a:r>
              <a:rPr lang="en-US" sz="36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IA</a:t>
            </a:r>
            <a:endParaRPr lang="en-US" sz="3600" dirty="0"/>
          </a:p>
        </p:txBody>
      </p:sp>
      <p:sp>
        <p:nvSpPr>
          <p:cNvPr id="6" name="A1|fade|refs"/>
          <p:cNvSpPr txBox="1"/>
          <p:nvPr/>
        </p:nvSpPr>
        <p:spPr>
          <a:xfrm>
            <a:off x="812800" y="1409700"/>
            <a:ext cx="6731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Duncan, R. B. (1972). Characteristics of organizational environments and perceived environmental uncertainty.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Science Quarterly, 17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(3), 313–327.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Hofstede, G., Neuijen, B., Ohayv, D. D., &amp; Sanders, G. (1990). Measuring organizational cultures.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Science Quarterly, 35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(2), 286–316.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Katz, D., &amp; Kahn, R. L. (1978).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social psychology of organizations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(2.ª ed.). Wiley.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Katz, R. L. (1974). Skills of an effective administrator.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 Business Review, 52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(5), 90–102.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Mintzberg, H. (1973).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nature of managerial work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Harper &amp; Row.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Robbins, S. P., &amp; Coulter, M.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[(ano)]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[(n.º ed.) — confirmar a edição usada na UC]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Pearson.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PDFs das aulas de Gestão das Organizações (2026/2027). ISCA-UA.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Nata Lisboa.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[(data de acesso). Título da página. URL]</a:t>
            </a:r>
            <a:endParaRPr lang="en-US" sz="11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58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Cardoso, M. (2026). </a:t>
            </a:r>
            <a:pPr algn="l"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[Entrevista realizada pelo grupo, dia/mês]</a:t>
            </a:r>
            <a:pPr algn="l"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A2|rise|ia"/>
          <p:cNvSpPr/>
          <p:nvPr/>
        </p:nvSpPr>
        <p:spPr>
          <a:xfrm>
            <a:off x="7874000" y="1409700"/>
            <a:ext cx="3505200" cy="1905000"/>
          </a:xfrm>
          <a:prstGeom prst="rect">
            <a:avLst/>
          </a:prstGeom>
          <a:solidFill>
            <a:srgbClr val="102A63"/>
          </a:solidFill>
          <a:ln w="15875">
            <a:solidFill>
              <a:srgbClr val="2C4C8C"/>
            </a:solidFill>
            <a:prstDash val="solid"/>
          </a:ln>
        </p:spPr>
      </p:sp>
      <p:sp>
        <p:nvSpPr>
          <p:cNvPr id="8" name="A2|rise|ia"/>
          <p:cNvSpPr txBox="1"/>
          <p:nvPr/>
        </p:nvSpPr>
        <p:spPr>
          <a:xfrm>
            <a:off x="8051800" y="15621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F58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DECLARAÇÃO DE USO DE IA</a:t>
            </a:r>
            <a:endParaRPr lang="en-US" sz="1100" dirty="0"/>
          </a:p>
        </p:txBody>
      </p:sp>
      <p:sp>
        <p:nvSpPr>
          <p:cNvPr id="9" name="A2|rise|ia"/>
          <p:cNvSpPr txBox="1"/>
          <p:nvPr/>
        </p:nvSpPr>
        <p:spPr>
          <a:xfrm>
            <a:off x="8051800" y="1854200"/>
            <a:ext cx="317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Ferramenta: </a:t>
            </a:r>
            <a:pPr algn="l"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[nome]</a:t>
            </a:r>
            <a:endParaRPr lang="en-US" sz="1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Tarefa: </a:t>
            </a:r>
            <a:pPr algn="l" indent="0" marL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[ex.: estrutura e design dos slides]</a:t>
            </a:r>
            <a:endParaRPr lang="en-US" sz="1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Grupo: </a:t>
            </a:r>
            <a:pPr algn="l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e análise revistos por todos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500" y="62865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rgbClr val="F5822A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|zoom|aro"/>
          <p:cNvSpPr/>
          <p:nvPr/>
        </p:nvSpPr>
        <p:spPr>
          <a:xfrm>
            <a:off x="7302500" y="1079500"/>
            <a:ext cx="4699000" cy="46990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3E5C99"/>
            </a:solidFill>
            <a:prstDash val="solid"/>
          </a:ln>
        </p:spPr>
      </p:sp>
      <p:sp>
        <p:nvSpPr>
          <p:cNvPr id="3" name="A1|zoom|aro2"/>
          <p:cNvSpPr/>
          <p:nvPr/>
        </p:nvSpPr>
        <p:spPr>
          <a:xfrm>
            <a:off x="7937500" y="1714500"/>
            <a:ext cx="3429000" cy="342900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3E5C99"/>
            </a:solidFill>
            <a:prstDash val="dash"/>
          </a:ln>
        </p:spPr>
      </p:sp>
      <p:sp>
        <p:nvSpPr>
          <p:cNvPr id="4" name="A2|zoom|ponto"/>
          <p:cNvSpPr/>
          <p:nvPr/>
        </p:nvSpPr>
        <p:spPr>
          <a:xfrm>
            <a:off x="9563100" y="1625600"/>
            <a:ext cx="177800" cy="177800"/>
          </a:xfrm>
          <a:prstGeom prst="ellipse">
            <a:avLst/>
          </a:prstGeom>
          <a:solidFill>
            <a:srgbClr val="F582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12800" y="11176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7F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 1:1 · PLANTA GERAL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12800" y="1409700"/>
            <a:ext cx="6096000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4E6CA8"/>
            </a:solidFill>
            <a:prstDash val="solid"/>
          </a:ln>
        </p:spPr>
      </p:sp>
      <p:sp>
        <p:nvSpPr>
          <p:cNvPr id="7" name="A2|fade|kicker"/>
          <p:cNvSpPr txBox="1"/>
          <p:nvPr/>
        </p:nvSpPr>
        <p:spPr>
          <a:xfrm>
            <a:off x="812800" y="19050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9FB4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GESTÃO DAS ORGANIZAÇÕES · 89135</a:t>
            </a:r>
            <a:endParaRPr lang="en-US" sz="1300" dirty="0"/>
          </a:p>
        </p:txBody>
      </p:sp>
      <p:sp>
        <p:nvSpPr>
          <p:cNvPr id="8" name="A3|rise|obrigado"/>
          <p:cNvSpPr txBox="1"/>
          <p:nvPr/>
        </p:nvSpPr>
        <p:spPr>
          <a:xfrm>
            <a:off x="812800" y="22225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EEF3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8400" dirty="0"/>
          </a:p>
        </p:txBody>
      </p:sp>
      <p:sp>
        <p:nvSpPr>
          <p:cNvPr id="9" name="A4|fade|perguntas"/>
          <p:cNvSpPr txBox="1"/>
          <p:nvPr/>
        </p:nvSpPr>
        <p:spPr>
          <a:xfrm>
            <a:off x="812800" y="3746500"/>
            <a:ext cx="635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9FB4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  ·  Nata Lisboa</a:t>
            </a:r>
            <a:endParaRPr lang="en-US" sz="1700" dirty="0"/>
          </a:p>
        </p:txBody>
      </p:sp>
      <p:sp>
        <p:nvSpPr>
          <p:cNvPr id="10" name="A5|fade|agradecimento"/>
          <p:cNvSpPr txBox="1"/>
          <p:nvPr/>
        </p:nvSpPr>
        <p:spPr>
          <a:xfrm>
            <a:off x="812800" y="41910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9C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agradecimento especial a Mônica Cardoso pela disponibilidade.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Nata Lisboa — Gestão das Organizações (89135)</dc:title>
  <dc:subject>Caracterização de uma organização</dc:subject>
  <dc:creator>PptxGenJS</dc:creator>
  <cp:lastModifiedBy>PptxGenJS</cp:lastModifiedBy>
  <cp:revision>1</cp:revision>
  <dcterms:created xsi:type="dcterms:W3CDTF">2026-10-05T07:36:33Z</dcterms:created>
  <dcterms:modified xsi:type="dcterms:W3CDTF">2026-10-05T07:36:33Z</dcterms:modified>
</cp:coreProperties>
</file>